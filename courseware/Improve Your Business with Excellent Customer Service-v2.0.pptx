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692640" y="658368"/>
            <a:ext cx="178308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768096"/>
            <a:ext cx="1783080" cy="457200"/>
          </a:xfrm>
          <a:prstGeom prst="rect">
            <a:avLst/>
          </a:prstGeom>
          <a:noFill/>
        </p:spPr>
        <p:txBody>
          <a:bodyPr wrap="square" anchor="t">
            <a:spAutoFit/>
          </a:bodyPr>
          <a:lstStyle/>
          <a:p>
            <a:pPr algn="ctr">
              <a:spcAft>
                <a:spcPts val="400"/>
              </a:spcAft>
            </a:pPr>
            <a:r>
              <a:rPr sz="2200" b="1">
                <a:solidFill>
                  <a:srgbClr val="FFFFFF"/>
                </a:solidFill>
                <a:latin typeface="Arial"/>
              </a:rPr>
              <a:t>WSQ</a:t>
            </a:r>
          </a:p>
        </p:txBody>
      </p:sp>
      <p:sp>
        <p:nvSpPr>
          <p:cNvPr id="8" name="TextBox 7"/>
          <p:cNvSpPr txBox="1"/>
          <p:nvPr/>
        </p:nvSpPr>
        <p:spPr>
          <a:xfrm>
            <a:off x="9692640" y="1207008"/>
            <a:ext cx="1783080" cy="365760"/>
          </a:xfrm>
          <a:prstGeom prst="rect">
            <a:avLst/>
          </a:prstGeom>
          <a:noFill/>
        </p:spPr>
        <p:txBody>
          <a:bodyPr wrap="square" anchor="t">
            <a:spAutoFit/>
          </a:bodyPr>
          <a:lstStyle/>
          <a:p>
            <a:pPr algn="ctr">
              <a:spcAft>
                <a:spcPts val="400"/>
              </a:spcAft>
            </a:pPr>
            <a:r>
              <a:rPr sz="800" b="1">
                <a:solidFill>
                  <a:srgbClr val="FFFFFF"/>
                </a:solidFill>
                <a:latin typeface="Arial"/>
              </a:rPr>
              <a:t>CUSTOMER SERVICE</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0" name="TextBox 9"/>
          <p:cNvSpPr txBox="1"/>
          <p:nvPr/>
        </p:nvSpPr>
        <p:spPr>
          <a:xfrm>
            <a:off x="822960" y="2606040"/>
            <a:ext cx="10972800" cy="1737360"/>
          </a:xfrm>
          <a:prstGeom prst="rect">
            <a:avLst/>
          </a:prstGeom>
          <a:noFill/>
        </p:spPr>
        <p:txBody>
          <a:bodyPr wrap="square" anchor="t">
            <a:spAutoFit/>
          </a:bodyPr>
          <a:lstStyle/>
          <a:p>
            <a:pPr algn="l">
              <a:spcAft>
                <a:spcPts val="400"/>
              </a:spcAft>
            </a:pPr>
            <a:r>
              <a:rPr sz="3800" b="1">
                <a:solidFill>
                  <a:srgbClr val="161B26"/>
                </a:solidFill>
                <a:latin typeface="Arial"/>
              </a:rPr>
              <a:t>Improve Your Business with Excellent Customer Service</a:t>
            </a:r>
          </a:p>
        </p:txBody>
      </p:sp>
      <p:sp>
        <p:nvSpPr>
          <p:cNvPr id="11" name="Rectangle 10"/>
          <p:cNvSpPr/>
          <p:nvPr/>
        </p:nvSpPr>
        <p:spPr>
          <a:xfrm>
            <a:off x="841248" y="406908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389120"/>
            <a:ext cx="10972800" cy="137160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TGS-2025056191  ·  1-Day Hands-On Training</a:t>
            </a:r>
          </a:p>
          <a:p>
            <a:pPr algn="l">
              <a:spcAft>
                <a:spcPts val="600"/>
              </a:spcAft>
            </a:pPr>
            <a:r>
              <a:rPr sz="1400" b="0">
                <a:solidFill>
                  <a:srgbClr val="5B6372"/>
                </a:solidFill>
                <a:latin typeface="Arial"/>
              </a:rPr>
              <a:t>Skills Framework TSC: Customer Service Innovation Management (EPW-CEX-3034-1.1)</a:t>
            </a:r>
          </a:p>
          <a:p>
            <a:pPr algn="l">
              <a:spcAft>
                <a:spcPts val="600"/>
              </a:spcAft>
            </a:pPr>
            <a:r>
              <a:rPr sz="1400" b="0">
                <a:solidFill>
                  <a:srgbClr val="5B6372"/>
                </a:solidFill>
                <a:latin typeface="Arial"/>
              </a:rPr>
              <a:t>Conducted by Tertiary Infotech Academy Pte Ltd  ·  UEN 201200696W</a:t>
            </a:r>
          </a:p>
        </p:txBody>
      </p:sp>
      <p:sp>
        <p:nvSpPr>
          <p:cNvPr id="13" name="TextBox 12"/>
          <p:cNvSpPr txBox="1"/>
          <p:nvPr/>
        </p:nvSpPr>
        <p:spPr>
          <a:xfrm>
            <a:off x="822960" y="589788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v2.0  ·  17 August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fast"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1216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6959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695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Three scans, every course day</a:t>
            </a:r>
          </a:p>
          <a:p>
            <a:pPr algn="l">
              <a:spcAft>
                <a:spcPts val="300"/>
              </a:spcAft>
            </a:pPr>
            <a:r>
              <a:rPr sz="1100" b="0">
                <a:solidFill>
                  <a:srgbClr val="5B6372"/>
                </a:solidFill>
                <a:latin typeface="Arial"/>
              </a:rPr>
              <a:t>AM at the start, PM after lunch, and again before the assessment.</a:t>
            </a:r>
          </a:p>
        </p:txBody>
      </p:sp>
      <p:sp>
        <p:nvSpPr>
          <p:cNvPr id="12" name="Rectangle 11"/>
          <p:cNvSpPr/>
          <p:nvPr/>
        </p:nvSpPr>
        <p:spPr>
          <a:xfrm>
            <a:off x="6231636" y="1783080"/>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1216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06959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0695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The trainer shows the QR</a:t>
            </a:r>
          </a:p>
          <a:p>
            <a:pPr algn="l">
              <a:spcAft>
                <a:spcPts val="300"/>
              </a:spcAft>
            </a:pPr>
            <a:r>
              <a:rPr sz="1100" b="0">
                <a:solidFill>
                  <a:srgbClr val="5B6372"/>
                </a:solidFill>
                <a:latin typeface="Arial"/>
              </a:rPr>
              <a:t>Generated live from the SSG TRAQOM portal — it changes each session.</a:t>
            </a:r>
          </a:p>
        </p:txBody>
      </p:sp>
      <p:sp>
        <p:nvSpPr>
          <p:cNvPr id="17" name="Rectangle 16"/>
          <p:cNvSpPr/>
          <p:nvPr/>
        </p:nvSpPr>
        <p:spPr>
          <a:xfrm>
            <a:off x="777240" y="3142488"/>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142488"/>
            <a:ext cx="91440" cy="11216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42900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42900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70504"/>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Scan with your phone camera</a:t>
            </a:r>
          </a:p>
          <a:p>
            <a:pPr algn="l">
              <a:spcAft>
                <a:spcPts val="300"/>
              </a:spcAft>
            </a:pPr>
            <a:r>
              <a:rPr sz="1100" b="0">
                <a:solidFill>
                  <a:srgbClr val="5B6372"/>
                </a:solidFill>
                <a:latin typeface="Arial"/>
              </a:rPr>
              <a:t>Open the camera, point at the QR, tap the link and submit.</a:t>
            </a:r>
          </a:p>
        </p:txBody>
      </p:sp>
      <p:sp>
        <p:nvSpPr>
          <p:cNvPr id="22" name="Rectangle 21"/>
          <p:cNvSpPr/>
          <p:nvPr/>
        </p:nvSpPr>
        <p:spPr>
          <a:xfrm>
            <a:off x="6231636" y="3142488"/>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142488"/>
            <a:ext cx="91440" cy="11216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42900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42900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270504"/>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Use your registered details</a:t>
            </a:r>
          </a:p>
          <a:p>
            <a:pPr algn="l">
              <a:spcAft>
                <a:spcPts val="300"/>
              </a:spcAft>
            </a:pPr>
            <a:r>
              <a:rPr sz="1100" b="0">
                <a:solidFill>
                  <a:srgbClr val="5B6372"/>
                </a:solidFill>
                <a:latin typeface="Arial"/>
              </a:rPr>
              <a:t>The NRIC/FIN you enrolled with, or the record will not match.</a:t>
            </a:r>
          </a:p>
        </p:txBody>
      </p:sp>
      <p:sp>
        <p:nvSpPr>
          <p:cNvPr id="27" name="Rectangle 26"/>
          <p:cNvSpPr/>
          <p:nvPr/>
        </p:nvSpPr>
        <p:spPr>
          <a:xfrm>
            <a:off x="777240" y="4501896"/>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501896"/>
            <a:ext cx="91440" cy="11216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78840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7884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629912"/>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75% attendance minimum</a:t>
            </a:r>
          </a:p>
          <a:p>
            <a:pPr algn="l">
              <a:spcAft>
                <a:spcPts val="300"/>
              </a:spcAft>
            </a:pPr>
            <a:r>
              <a:rPr sz="1100" b="0">
                <a:solidFill>
                  <a:srgbClr val="5B6372"/>
                </a:solidFill>
                <a:latin typeface="Arial"/>
              </a:rPr>
              <a:t>Below this you are not eligible for the assessment or for funding.</a:t>
            </a:r>
          </a:p>
        </p:txBody>
      </p:sp>
      <p:sp>
        <p:nvSpPr>
          <p:cNvPr id="32" name="Rectangle 31"/>
          <p:cNvSpPr/>
          <p:nvPr/>
        </p:nvSpPr>
        <p:spPr>
          <a:xfrm>
            <a:off x="6231636" y="4501896"/>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501896"/>
            <a:ext cx="91440" cy="11216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78840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7884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629912"/>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Tell the trainer immediately</a:t>
            </a:r>
          </a:p>
          <a:p>
            <a:pPr algn="l">
              <a:spcAft>
                <a:spcPts val="300"/>
              </a:spcAft>
            </a:pPr>
            <a:r>
              <a:rPr sz="1100" b="0">
                <a:solidFill>
                  <a:srgbClr val="5B6372"/>
                </a:solidFill>
                <a:latin typeface="Arial"/>
              </a:rPr>
              <a:t>If your scan fails or you arrive late — it cannot be fixed after the day.</a:t>
            </a:r>
          </a:p>
        </p:txBody>
      </p:sp>
      <p:sp>
        <p:nvSpPr>
          <p:cNvPr id="37" name="Rectangle 36"/>
          <p:cNvSpPr/>
          <p:nvPr/>
        </p:nvSpPr>
        <p:spPr>
          <a:xfrm>
            <a:off x="777240" y="5779008"/>
            <a:ext cx="10634472"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779008"/>
            <a:ext cx="10195560" cy="603504"/>
          </a:xfrm>
          <a:prstGeom prst="rect">
            <a:avLst/>
          </a:prstGeom>
          <a:noFill/>
        </p:spPr>
        <p:txBody>
          <a:bodyPr wrap="square" anchor="ctr">
            <a:spAutoFit/>
          </a:bodyPr>
          <a:lstStyle/>
          <a:p>
            <a:pPr algn="l">
              <a:spcAft>
                <a:spcPts val="400"/>
              </a:spcAft>
            </a:pPr>
            <a:r>
              <a:rPr sz="1250" b="0">
                <a:solidFill>
                  <a:srgbClr val="161B26"/>
                </a:solidFill>
                <a:latin typeface="Arial"/>
              </a:rPr>
              <a:t>Digital attendance is a mandatory SSG funding requirement — it is not the same thing as the TRAQOM feedback survey.</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BACKGROUND</a:t>
            </a:r>
          </a:p>
          <a:p>
            <a:pPr algn="l">
              <a:spcAft>
                <a:spcPts val="300"/>
              </a:spcAft>
            </a:pPr>
            <a:r>
              <a:rPr sz="1400" b="0">
                <a:solidFill>
                  <a:srgbClr val="161B26"/>
                </a:solidFill>
                <a:latin typeface="Arial"/>
              </a:rPr>
              <a:t>PhD — 20+ years of industry and training experience across service quality, business operations and technology.</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customer service, service branding, business improvement and digital skills.</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Your name and organisation</a:t>
            </a:r>
          </a:p>
          <a:p>
            <a:pPr algn="l">
              <a:spcAft>
                <a:spcPts val="300"/>
              </a:spcAft>
            </a:pPr>
            <a:r>
              <a:rPr sz="1100" b="0">
                <a:solidFill>
                  <a:srgbClr val="5B6372"/>
                </a:solidFill>
                <a:latin typeface="Arial"/>
              </a:rPr>
              <a:t>And the role you play day to day.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Who your customers are</a:t>
            </a:r>
          </a:p>
          <a:p>
            <a:pPr algn="l">
              <a:spcAft>
                <a:spcPts val="300"/>
              </a:spcAft>
            </a:pPr>
            <a:r>
              <a:rPr sz="1100" b="0">
                <a:solidFill>
                  <a:srgbClr val="5B6372"/>
                </a:solidFill>
                <a:latin typeface="Arial"/>
              </a:rPr>
              <a:t>External, internal, or both — most people have both.</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 recent interaction that went badly</a:t>
            </a:r>
          </a:p>
          <a:p>
            <a:pPr algn="l">
              <a:spcAft>
                <a:spcPts val="300"/>
              </a:spcAft>
            </a:pPr>
            <a:r>
              <a:rPr sz="1100" b="0">
                <a:solidFill>
                  <a:srgbClr val="5B6372"/>
                </a:solidFill>
                <a:latin typeface="Arial"/>
              </a:rPr>
              <a:t>What happened, and what you think caused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One that went well</a:t>
            </a:r>
          </a:p>
          <a:p>
            <a:pPr algn="l">
              <a:spcAft>
                <a:spcPts val="300"/>
              </a:spcAft>
            </a:pPr>
            <a:r>
              <a:rPr sz="1100" b="0">
                <a:solidFill>
                  <a:srgbClr val="5B6372"/>
                </a:solidFill>
                <a:latin typeface="Arial"/>
              </a:rPr>
              <a:t>What made the difference on that occasion?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Your channels</a:t>
            </a:r>
          </a:p>
          <a:p>
            <a:pPr algn="l">
              <a:spcAft>
                <a:spcPts val="300"/>
              </a:spcAft>
            </a:pPr>
            <a:r>
              <a:rPr sz="1100" b="0">
                <a:solidFill>
                  <a:srgbClr val="5B6372"/>
                </a:solidFill>
                <a:latin typeface="Arial"/>
              </a:rPr>
              <a:t>Counter, phone, email, chat — where do you spend most of your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What you want from today</a:t>
            </a:r>
          </a:p>
          <a:p>
            <a:pPr algn="l">
              <a:spcAft>
                <a:spcPts val="300"/>
              </a:spcAft>
            </a:pPr>
            <a:r>
              <a:rPr sz="1100" b="0">
                <a:solidFill>
                  <a:srgbClr val="5B6372"/>
                </a:solidFill>
                <a:latin typeface="Arial"/>
              </a:rPr>
              <a:t>One thing you want to do differently tomorrow.</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funding.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 · LMS/TMS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577840"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5577840" cy="475488"/>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1984248"/>
            <a:ext cx="164592" cy="16459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97864" y="1984248"/>
            <a:ext cx="164592" cy="1645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53896" y="1984248"/>
            <a:ext cx="164592" cy="1645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74520" y="1920240"/>
            <a:ext cx="4206240" cy="31089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11680" y="1920240"/>
            <a:ext cx="3931920" cy="310896"/>
          </a:xfrm>
          <a:prstGeom prst="rect">
            <a:avLst/>
          </a:prstGeom>
          <a:noFill/>
        </p:spPr>
        <p:txBody>
          <a:bodyPr wrap="square" anchor="ctr">
            <a:spAutoFit/>
          </a:bodyPr>
          <a:lstStyle/>
          <a:p>
            <a:pPr algn="l">
              <a:spcAft>
                <a:spcPts val="400"/>
              </a:spcAft>
            </a:pPr>
            <a:r>
              <a:rPr sz="1300" b="1">
                <a:solidFill>
                  <a:srgbClr val="1F6FEB"/>
                </a:solidFill>
                <a:latin typeface="Arial"/>
              </a:rPr>
              <a:t>https://lms-tms.tertiaryinfotech.com</a:t>
            </a:r>
          </a:p>
        </p:txBody>
      </p:sp>
      <p:sp>
        <p:nvSpPr>
          <p:cNvPr id="14" name="Rectangle 13"/>
          <p:cNvSpPr/>
          <p:nvPr/>
        </p:nvSpPr>
        <p:spPr>
          <a:xfrm>
            <a:off x="1005840" y="2514600"/>
            <a:ext cx="5120640" cy="685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2514600"/>
            <a:ext cx="4754880" cy="685800"/>
          </a:xfrm>
          <a:prstGeom prst="rect">
            <a:avLst/>
          </a:prstGeom>
          <a:noFill/>
        </p:spPr>
        <p:txBody>
          <a:bodyPr wrap="square" anchor="ctr">
            <a:spAutoFit/>
          </a:bodyPr>
          <a:lstStyle/>
          <a:p>
            <a:pPr algn="l">
              <a:spcAft>
                <a:spcPts val="200"/>
              </a:spcAft>
            </a:pPr>
            <a:r>
              <a:rPr sz="1500" b="1">
                <a:solidFill>
                  <a:srgbClr val="FFFFFF"/>
                </a:solidFill>
                <a:latin typeface="Arial"/>
              </a:rPr>
              <a:t>Tertiary Infotech LMS/TMS</a:t>
            </a:r>
          </a:p>
          <a:p>
            <a:pPr algn="l">
              <a:spcAft>
                <a:spcPts val="200"/>
              </a:spcAft>
            </a:pPr>
            <a:r>
              <a:rPr sz="1100" b="0">
                <a:solidFill>
                  <a:srgbClr val="B3D4FF"/>
                </a:solidFill>
                <a:latin typeface="Arial"/>
              </a:rPr>
              <a:t>My Courses  ·  Attendance  ·  Assessment</a:t>
            </a:r>
          </a:p>
        </p:txBody>
      </p:sp>
      <p:sp>
        <p:nvSpPr>
          <p:cNvPr id="16" name="Rectangle 15"/>
          <p:cNvSpPr/>
          <p:nvPr/>
        </p:nvSpPr>
        <p:spPr>
          <a:xfrm>
            <a:off x="1005840" y="3364992"/>
            <a:ext cx="5120640" cy="512064"/>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3364992"/>
            <a:ext cx="4754880" cy="512064"/>
          </a:xfrm>
          <a:prstGeom prst="rect">
            <a:avLst/>
          </a:prstGeom>
          <a:noFill/>
        </p:spPr>
        <p:txBody>
          <a:bodyPr wrap="square" anchor="ctr">
            <a:spAutoFit/>
          </a:bodyPr>
          <a:lstStyle/>
          <a:p>
            <a:pPr algn="l">
              <a:spcAft>
                <a:spcPts val="400"/>
              </a:spcAft>
            </a:pPr>
            <a:r>
              <a:rPr sz="1250" b="1">
                <a:solidFill>
                  <a:srgbClr val="1F6FEB"/>
                </a:solidFill>
                <a:latin typeface="Arial"/>
              </a:rPr>
              <a:t>Improve Your Business with Excellent Customer Service</a:t>
            </a:r>
          </a:p>
        </p:txBody>
      </p:sp>
      <p:sp>
        <p:nvSpPr>
          <p:cNvPr id="18" name="Rectangle 17"/>
          <p:cNvSpPr/>
          <p:nvPr/>
        </p:nvSpPr>
        <p:spPr>
          <a:xfrm>
            <a:off x="1005840" y="3986784"/>
            <a:ext cx="5120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20" y="3986784"/>
            <a:ext cx="4754880" cy="512064"/>
          </a:xfrm>
          <a:prstGeom prst="rect">
            <a:avLst/>
          </a:prstGeom>
          <a:noFill/>
        </p:spPr>
        <p:txBody>
          <a:bodyPr wrap="square" anchor="ctr">
            <a:spAutoFit/>
          </a:bodyPr>
          <a:lstStyle/>
          <a:p>
            <a:pPr algn="l">
              <a:spcAft>
                <a:spcPts val="400"/>
              </a:spcAft>
            </a:pPr>
            <a:r>
              <a:rPr sz="1250" b="0">
                <a:solidFill>
                  <a:srgbClr val="161B26"/>
                </a:solidFill>
                <a:latin typeface="Arial"/>
              </a:rPr>
              <a:t>Trainer Slides (PDF)  ⬇</a:t>
            </a:r>
          </a:p>
        </p:txBody>
      </p:sp>
      <p:sp>
        <p:nvSpPr>
          <p:cNvPr id="20" name="Rectangle 19"/>
          <p:cNvSpPr/>
          <p:nvPr/>
        </p:nvSpPr>
        <p:spPr>
          <a:xfrm>
            <a:off x="1005840" y="4608576"/>
            <a:ext cx="5120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88720" y="4608576"/>
            <a:ext cx="4754880" cy="512064"/>
          </a:xfrm>
          <a:prstGeom prst="rect">
            <a:avLst/>
          </a:prstGeom>
          <a:noFill/>
        </p:spPr>
        <p:txBody>
          <a:bodyPr wrap="square" anchor="ctr">
            <a:spAutoFit/>
          </a:bodyPr>
          <a:lstStyle/>
          <a:p>
            <a:pPr algn="l">
              <a:spcAft>
                <a:spcPts val="400"/>
              </a:spcAft>
            </a:pPr>
            <a:r>
              <a:rPr sz="1250" b="0">
                <a:solidFill>
                  <a:srgbClr val="161B26"/>
                </a:solidFill>
                <a:latin typeface="Arial"/>
              </a:rPr>
              <a:t>Learner Guide (PDF)  ⬇</a:t>
            </a:r>
          </a:p>
        </p:txBody>
      </p:sp>
      <p:sp>
        <p:nvSpPr>
          <p:cNvPr id="22" name="Rectangle 21"/>
          <p:cNvSpPr/>
          <p:nvPr/>
        </p:nvSpPr>
        <p:spPr>
          <a:xfrm>
            <a:off x="1005840" y="5230368"/>
            <a:ext cx="5120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88720" y="5230368"/>
            <a:ext cx="4754880" cy="512064"/>
          </a:xfrm>
          <a:prstGeom prst="rect">
            <a:avLst/>
          </a:prstGeom>
          <a:noFill/>
        </p:spPr>
        <p:txBody>
          <a:bodyPr wrap="square" anchor="ctr">
            <a:spAutoFit/>
          </a:bodyPr>
          <a:lstStyle/>
          <a:p>
            <a:pPr algn="l">
              <a:spcAft>
                <a:spcPts val="400"/>
              </a:spcAft>
            </a:pPr>
            <a:r>
              <a:rPr sz="1250" b="0">
                <a:solidFill>
                  <a:srgbClr val="161B26"/>
                </a:solidFill>
                <a:latin typeface="Arial"/>
              </a:rPr>
              <a:t>Assessment Submission  ↗</a:t>
            </a:r>
          </a:p>
        </p:txBody>
      </p:sp>
      <p:sp>
        <p:nvSpPr>
          <p:cNvPr id="24" name="Rectangle 23"/>
          <p:cNvSpPr/>
          <p:nvPr/>
        </p:nvSpPr>
        <p:spPr>
          <a:xfrm>
            <a:off x="6675120" y="1828800"/>
            <a:ext cx="4754880"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675120" y="1828800"/>
            <a:ext cx="82296" cy="90297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858000" y="2051685"/>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0" y="2051685"/>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28" name="TextBox 27"/>
          <p:cNvSpPr txBox="1"/>
          <p:nvPr/>
        </p:nvSpPr>
        <p:spPr>
          <a:xfrm>
            <a:off x="7498080" y="1828800"/>
            <a:ext cx="3749040" cy="902970"/>
          </a:xfrm>
          <a:prstGeom prst="rect">
            <a:avLst/>
          </a:prstGeom>
          <a:noFill/>
        </p:spPr>
        <p:txBody>
          <a:bodyPr wrap="square" anchor="ctr">
            <a:spAutoFit/>
          </a:bodyPr>
          <a:lstStyle/>
          <a:p>
            <a:pPr algn="l">
              <a:spcAft>
                <a:spcPts val="200"/>
              </a:spcAft>
            </a:pPr>
            <a:r>
              <a:rPr sz="1400" b="1">
                <a:solidFill>
                  <a:srgbClr val="1F6FEB"/>
                </a:solidFill>
                <a:latin typeface="Arial"/>
              </a:rPr>
              <a:t>Sign in</a:t>
            </a:r>
          </a:p>
          <a:p>
            <a:pPr algn="l">
              <a:spcAft>
                <a:spcPts val="200"/>
              </a:spcAft>
            </a:pPr>
            <a:r>
              <a:rPr sz="1150" b="0">
                <a:solidFill>
                  <a:srgbClr val="161B26"/>
                </a:solidFill>
                <a:latin typeface="Arial"/>
              </a:rPr>
              <a:t>lms-tms.tertiaryinfotech.com — log in with your registered email (OTP or password).</a:t>
            </a:r>
          </a:p>
        </p:txBody>
      </p:sp>
      <p:sp>
        <p:nvSpPr>
          <p:cNvPr id="29" name="Rectangle 28"/>
          <p:cNvSpPr/>
          <p:nvPr/>
        </p:nvSpPr>
        <p:spPr>
          <a:xfrm>
            <a:off x="6675120" y="2914650"/>
            <a:ext cx="4754880"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675120" y="2914650"/>
            <a:ext cx="82296" cy="90297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858000" y="3137535"/>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0" y="3137535"/>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33" name="TextBox 32"/>
          <p:cNvSpPr txBox="1"/>
          <p:nvPr/>
        </p:nvSpPr>
        <p:spPr>
          <a:xfrm>
            <a:off x="7498080" y="2914650"/>
            <a:ext cx="3749040" cy="902970"/>
          </a:xfrm>
          <a:prstGeom prst="rect">
            <a:avLst/>
          </a:prstGeom>
          <a:noFill/>
        </p:spPr>
        <p:txBody>
          <a:bodyPr wrap="square" anchor="ctr">
            <a:spAutoFit/>
          </a:bodyPr>
          <a:lstStyle/>
          <a:p>
            <a:pPr algn="l">
              <a:spcAft>
                <a:spcPts val="200"/>
              </a:spcAft>
            </a:pPr>
            <a:r>
              <a:rPr sz="1400" b="1">
                <a:solidFill>
                  <a:srgbClr val="10B981"/>
                </a:solidFill>
                <a:latin typeface="Arial"/>
              </a:rPr>
              <a:t>Open your course</a:t>
            </a:r>
          </a:p>
          <a:p>
            <a:pPr algn="l">
              <a:spcAft>
                <a:spcPts val="200"/>
              </a:spcAft>
            </a:pPr>
            <a:r>
              <a:rPr sz="1150" b="0">
                <a:solidFill>
                  <a:srgbClr val="161B26"/>
                </a:solidFill>
                <a:latin typeface="Arial"/>
              </a:rPr>
              <a:t>Select 'Improve Your Business with Excellent Customer Service' under My Courses.</a:t>
            </a:r>
          </a:p>
        </p:txBody>
      </p:sp>
      <p:sp>
        <p:nvSpPr>
          <p:cNvPr id="34" name="Rectangle 33"/>
          <p:cNvSpPr/>
          <p:nvPr/>
        </p:nvSpPr>
        <p:spPr>
          <a:xfrm>
            <a:off x="6675120" y="4000500"/>
            <a:ext cx="4754880"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675120" y="4000500"/>
            <a:ext cx="82296" cy="90297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58000" y="4223385"/>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0" y="4223385"/>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8" name="TextBox 37"/>
          <p:cNvSpPr txBox="1"/>
          <p:nvPr/>
        </p:nvSpPr>
        <p:spPr>
          <a:xfrm>
            <a:off x="7498080" y="4000500"/>
            <a:ext cx="3749040" cy="902970"/>
          </a:xfrm>
          <a:prstGeom prst="rect">
            <a:avLst/>
          </a:prstGeom>
          <a:noFill/>
        </p:spPr>
        <p:txBody>
          <a:bodyPr wrap="square" anchor="ctr">
            <a:spAutoFit/>
          </a:bodyPr>
          <a:lstStyle/>
          <a:p>
            <a:pPr algn="l">
              <a:spcAft>
                <a:spcPts val="200"/>
              </a:spcAft>
            </a:pPr>
            <a:r>
              <a:rPr sz="1400" b="1">
                <a:solidFill>
                  <a:srgbClr val="7C3AED"/>
                </a:solidFill>
                <a:latin typeface="Arial"/>
              </a:rPr>
              <a:t>Download materials</a:t>
            </a:r>
          </a:p>
          <a:p>
            <a:pPr algn="l">
              <a:spcAft>
                <a:spcPts val="200"/>
              </a:spcAft>
            </a:pPr>
            <a:r>
              <a:rPr sz="1150" b="0">
                <a:solidFill>
                  <a:srgbClr val="161B26"/>
                </a:solidFill>
                <a:latin typeface="Arial"/>
              </a:rPr>
              <a:t>Slides and the Learner Guide — your open-book references for the assessment.</a:t>
            </a:r>
          </a:p>
        </p:txBody>
      </p:sp>
      <p:sp>
        <p:nvSpPr>
          <p:cNvPr id="39" name="Rectangle 38"/>
          <p:cNvSpPr/>
          <p:nvPr/>
        </p:nvSpPr>
        <p:spPr>
          <a:xfrm>
            <a:off x="6675120" y="5086350"/>
            <a:ext cx="4754880"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675120" y="5086350"/>
            <a:ext cx="82296" cy="90297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858000" y="5309235"/>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0" y="5309235"/>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43" name="TextBox 42"/>
          <p:cNvSpPr txBox="1"/>
          <p:nvPr/>
        </p:nvSpPr>
        <p:spPr>
          <a:xfrm>
            <a:off x="7498080" y="5086350"/>
            <a:ext cx="3749040" cy="902970"/>
          </a:xfrm>
          <a:prstGeom prst="rect">
            <a:avLst/>
          </a:prstGeom>
          <a:noFill/>
        </p:spPr>
        <p:txBody>
          <a:bodyPr wrap="square" anchor="ctr">
            <a:spAutoFit/>
          </a:bodyPr>
          <a:lstStyle/>
          <a:p>
            <a:pPr algn="l">
              <a:spcAft>
                <a:spcPts val="200"/>
              </a:spcAft>
            </a:pPr>
            <a:r>
              <a:rPr sz="1400" b="1">
                <a:solidFill>
                  <a:srgbClr val="F59E0B"/>
                </a:solidFill>
                <a:latin typeface="Arial"/>
              </a:rPr>
              <a:t>Submit &amp; survey</a:t>
            </a:r>
          </a:p>
          <a:p>
            <a:pPr algn="l">
              <a:spcAft>
                <a:spcPts val="200"/>
              </a:spcAft>
            </a:pPr>
            <a:r>
              <a:rPr sz="1150" b="0">
                <a:solidFill>
                  <a:srgbClr val="161B26"/>
                </a:solidFill>
                <a:latin typeface="Arial"/>
              </a:rPr>
              <a:t>Upload your assessment answers and complete the TRAQOM survey QR here.</a:t>
            </a:r>
          </a:p>
        </p:txBody>
      </p:sp>
      <p:sp>
        <p:nvSpPr>
          <p:cNvPr id="44" name="TextBox 43"/>
          <p:cNvSpPr txBox="1"/>
          <p:nvPr/>
        </p:nvSpPr>
        <p:spPr>
          <a:xfrm>
            <a:off x="777240" y="6035040"/>
            <a:ext cx="10698480" cy="365760"/>
          </a:xfrm>
          <a:prstGeom prst="rect">
            <a:avLst/>
          </a:prstGeom>
          <a:noFill/>
        </p:spPr>
        <p:txBody>
          <a:bodyPr wrap="square" anchor="t">
            <a:spAutoFit/>
          </a:bodyPr>
          <a:lstStyle/>
          <a:p>
            <a:pPr algn="ctr">
              <a:spcAft>
                <a:spcPts val="400"/>
              </a:spcAft>
            </a:pPr>
            <a:r>
              <a:rPr sz="1300" b="0">
                <a:solidFill>
                  <a:srgbClr val="5B6372"/>
                </a:solidFill>
                <a:latin typeface="Arial"/>
              </a:rPr>
              <a:t>All course material is downloaded from the LMS/TMS portal — keep it handy: the final assessment is open book.</a:t>
            </a:r>
          </a:p>
        </p:txBody>
      </p:sp>
      <p:sp>
        <p:nvSpPr>
          <p:cNvPr id="45" name="TextBox 4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46" name="TextBox 4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7" name="TextBox 4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Lesson Plan — 1 Day, 9:00am–6:00pm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Morning — LU1: needs &amp; feedback</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Afternoon — LU1 channels + LU2: improvement</a:t>
            </a:r>
          </a:p>
        </p:txBody>
      </p:sp>
      <p:sp>
        <p:nvSpPr>
          <p:cNvPr id="13" name="TextBox 12"/>
          <p:cNvSpPr txBox="1"/>
          <p:nvPr/>
        </p:nvSpPr>
        <p:spPr>
          <a:xfrm>
            <a:off x="1005840" y="2468880"/>
            <a:ext cx="4754880" cy="2971800"/>
          </a:xfrm>
          <a:prstGeom prst="rect">
            <a:avLst/>
          </a:prstGeom>
          <a:noFill/>
        </p:spPr>
        <p:txBody>
          <a:bodyPr wrap="square">
            <a:spAutoFit/>
          </a:bodyPr>
          <a:lstStyle/>
          <a:p>
            <a:pPr>
              <a:spcAft>
                <a:spcPts val="1000"/>
              </a:spcAft>
            </a:pPr>
            <a:r>
              <a:rPr sz="1500" b="1">
                <a:solidFill>
                  <a:srgbClr val="161B26"/>
                </a:solidFill>
                <a:latin typeface="Arial"/>
              </a:rPr>
              <a:t>•  Morning (AM attendance)</a:t>
            </a:r>
          </a:p>
          <a:p>
            <a:pPr>
              <a:spcAft>
                <a:spcPts val="1000"/>
              </a:spcAft>
            </a:pPr>
            <a:r>
              <a:rPr sz="1300" b="0">
                <a:solidFill>
                  <a:srgbClr val="5B6372"/>
                </a:solidFill>
                <a:latin typeface="Arial"/>
              </a:rPr>
              <a:t>–  Welcome, introductions, learning outcomes</a:t>
            </a:r>
          </a:p>
          <a:p>
            <a:pPr>
              <a:spcAft>
                <a:spcPts val="1000"/>
              </a:spcAft>
            </a:pPr>
            <a:r>
              <a:rPr sz="1300" b="0">
                <a:solidFill>
                  <a:srgbClr val="5B6372"/>
                </a:solidFill>
                <a:latin typeface="Arial"/>
              </a:rPr>
              <a:t>–  Topic 1: Understanding Customers &amp; Service + Activity 1</a:t>
            </a:r>
          </a:p>
          <a:p>
            <a:pPr>
              <a:spcAft>
                <a:spcPts val="1000"/>
              </a:spcAft>
            </a:pPr>
            <a:r>
              <a:rPr sz="1300" b="0">
                <a:solidFill>
                  <a:srgbClr val="5B6372"/>
                </a:solidFill>
                <a:latin typeface="Arial"/>
              </a:rPr>
              <a:t>–  Topic 2: Establishing Your Attitude + Activity 2</a:t>
            </a:r>
          </a:p>
          <a:p>
            <a:pPr>
              <a:spcAft>
                <a:spcPts val="1000"/>
              </a:spcAft>
            </a:pPr>
            <a:r>
              <a:rPr sz="1300" b="0">
                <a:solidFill>
                  <a:srgbClr val="5B6372"/>
                </a:solidFill>
                <a:latin typeface="Arial"/>
              </a:rPr>
              <a:t>–  Tea break (15 min)</a:t>
            </a:r>
          </a:p>
          <a:p>
            <a:pPr>
              <a:spcAft>
                <a:spcPts val="1000"/>
              </a:spcAft>
            </a:pPr>
            <a:r>
              <a:rPr sz="1300" b="0">
                <a:solidFill>
                  <a:srgbClr val="5B6372"/>
                </a:solidFill>
                <a:latin typeface="Arial"/>
              </a:rPr>
              <a:t>–  Topic 3: Identifying Customer Needs + Activity 3</a:t>
            </a:r>
          </a:p>
          <a:p>
            <a:pPr>
              <a:spcAft>
                <a:spcPts val="1000"/>
              </a:spcAft>
            </a:pPr>
            <a:r>
              <a:rPr sz="1300" b="0">
                <a:solidFill>
                  <a:srgbClr val="5B6372"/>
                </a:solidFill>
                <a:latin typeface="Arial"/>
              </a:rPr>
              <a:t>–  Topic 4: In-Person Service + Activity 4</a:t>
            </a:r>
          </a:p>
          <a:p>
            <a:pPr>
              <a:spcAft>
                <a:spcPts val="1000"/>
              </a:spcAft>
            </a:pPr>
            <a:r>
              <a:rPr sz="1300" b="0">
                <a:solidFill>
                  <a:srgbClr val="5B6372"/>
                </a:solidFill>
                <a:latin typeface="Arial"/>
              </a:rPr>
              <a:t>–  Lunch break 1:00–2:00pm</a:t>
            </a:r>
          </a:p>
        </p:txBody>
      </p:sp>
      <p:sp>
        <p:nvSpPr>
          <p:cNvPr id="14" name="TextBox 13"/>
          <p:cNvSpPr txBox="1"/>
          <p:nvPr/>
        </p:nvSpPr>
        <p:spPr>
          <a:xfrm>
            <a:off x="6583680" y="2468880"/>
            <a:ext cx="4617720" cy="2971800"/>
          </a:xfrm>
          <a:prstGeom prst="rect">
            <a:avLst/>
          </a:prstGeom>
          <a:noFill/>
        </p:spPr>
        <p:txBody>
          <a:bodyPr wrap="square">
            <a:spAutoFit/>
          </a:bodyPr>
          <a:lstStyle/>
          <a:p>
            <a:pPr>
              <a:spcAft>
                <a:spcPts val="1000"/>
              </a:spcAft>
            </a:pPr>
            <a:r>
              <a:rPr sz="1500" b="1">
                <a:solidFill>
                  <a:srgbClr val="161B26"/>
                </a:solidFill>
                <a:latin typeface="Arial"/>
              </a:rPr>
              <a:t>•  Afternoon (PM attendance)</a:t>
            </a:r>
          </a:p>
          <a:p>
            <a:pPr>
              <a:spcAft>
                <a:spcPts val="1000"/>
              </a:spcAft>
            </a:pPr>
            <a:r>
              <a:rPr sz="1300" b="0">
                <a:solidFill>
                  <a:srgbClr val="5B6372"/>
                </a:solidFill>
                <a:latin typeface="Arial"/>
              </a:rPr>
              <a:t>–  Topic 5: Phone Service + Activity 5</a:t>
            </a:r>
          </a:p>
          <a:p>
            <a:pPr>
              <a:spcAft>
                <a:spcPts val="1000"/>
              </a:spcAft>
            </a:pPr>
            <a:r>
              <a:rPr sz="1300" b="0">
                <a:solidFill>
                  <a:srgbClr val="5B6372"/>
                </a:solidFill>
                <a:latin typeface="Arial"/>
              </a:rPr>
              <a:t>–  Topic 6: Email &amp; Chat Service + Activity 6</a:t>
            </a:r>
          </a:p>
          <a:p>
            <a:pPr>
              <a:spcAft>
                <a:spcPts val="1000"/>
              </a:spcAft>
            </a:pPr>
            <a:r>
              <a:rPr sz="1300" b="0">
                <a:solidFill>
                  <a:srgbClr val="5B6372"/>
                </a:solidFill>
                <a:latin typeface="Arial"/>
              </a:rPr>
              <a:t>–  Tea break (15 min)</a:t>
            </a:r>
          </a:p>
          <a:p>
            <a:pPr>
              <a:spcAft>
                <a:spcPts val="1000"/>
              </a:spcAft>
            </a:pPr>
            <a:r>
              <a:rPr sz="1300" b="0">
                <a:solidFill>
                  <a:srgbClr val="5B6372"/>
                </a:solidFill>
                <a:latin typeface="Arial"/>
              </a:rPr>
              <a:t>–  Topic 7: Return Business from Feedback + Activity 7</a:t>
            </a:r>
          </a:p>
          <a:p>
            <a:pPr>
              <a:spcAft>
                <a:spcPts val="1000"/>
              </a:spcAft>
            </a:pPr>
            <a:r>
              <a:rPr sz="1300" b="0">
                <a:solidFill>
                  <a:srgbClr val="5B6372"/>
                </a:solidFill>
                <a:latin typeface="Arial"/>
              </a:rPr>
              <a:t>–  Topic 8: Recovering Difficult Customers + Activity 8</a:t>
            </a:r>
          </a:p>
          <a:p>
            <a:pPr>
              <a:spcAft>
                <a:spcPts val="1000"/>
              </a:spcAft>
            </a:pPr>
            <a:r>
              <a:rPr sz="1300" b="0">
                <a:solidFill>
                  <a:srgbClr val="5B6372"/>
                </a:solidFill>
                <a:latin typeface="Arial"/>
              </a:rPr>
              <a:t>–  Topic 9: When to Escalate + Activity 9</a:t>
            </a:r>
          </a:p>
          <a:p>
            <a:pPr>
              <a:spcAft>
                <a:spcPts val="1000"/>
              </a:spcAft>
            </a:pPr>
            <a:r>
              <a:rPr sz="1300" b="0">
                <a:solidFill>
                  <a:srgbClr val="5B6372"/>
                </a:solidFill>
                <a:latin typeface="Arial"/>
              </a:rPr>
              <a:t>–  TRAQOM · Briefing · Assessment (OQ 30 min + RP 30 min)</a:t>
            </a:r>
          </a:p>
        </p:txBody>
      </p:sp>
      <p:sp>
        <p:nvSpPr>
          <p:cNvPr id="15" name="TextBox 14"/>
          <p:cNvSpPr txBox="1"/>
          <p:nvPr/>
        </p:nvSpPr>
        <p:spPr>
          <a:xfrm>
            <a:off x="777240" y="5715000"/>
            <a:ext cx="10698480" cy="548640"/>
          </a:xfrm>
          <a:prstGeom prst="rect">
            <a:avLst/>
          </a:prstGeom>
          <a:noFill/>
        </p:spPr>
        <p:txBody>
          <a:bodyPr wrap="square" anchor="ctr">
            <a:spAutoFit/>
          </a:bodyPr>
          <a:lstStyle/>
          <a:p>
            <a:pPr algn="ctr">
              <a:spcAft>
                <a:spcPts val="400"/>
              </a:spcAft>
            </a:pPr>
            <a:r>
              <a:rPr sz="1300" b="0">
                <a:solidFill>
                  <a:srgbClr val="5B6372"/>
                </a:solidFill>
                <a:latin typeface="Arial"/>
              </a:rPr>
              <a:t>8 hours: 7 h classroom facilitation + 1 h assessment · 1-hour lunch · tea breaks counted within training time.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WSQ ALIGNMENT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Skills Framework — Customer Service Innovation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190341" cy="53149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970885" cy="531495"/>
          </a:xfrm>
          <a:prstGeom prst="rect">
            <a:avLst/>
          </a:prstGeom>
          <a:noFill/>
        </p:spPr>
        <p:txBody>
          <a:bodyPr wrap="square" anchor="ctr">
            <a:spAutoFit/>
          </a:bodyPr>
          <a:lstStyle/>
          <a:p>
            <a:pPr algn="l">
              <a:spcAft>
                <a:spcPts val="400"/>
              </a:spcAft>
            </a:pPr>
            <a:r>
              <a:rPr sz="1300" b="1">
                <a:solidFill>
                  <a:srgbClr val="FFFFFF"/>
                </a:solidFill>
                <a:latin typeface="Arial"/>
              </a:rPr>
              <a:t>TSC element</a:t>
            </a:r>
          </a:p>
        </p:txBody>
      </p:sp>
      <p:sp>
        <p:nvSpPr>
          <p:cNvPr id="9" name="Rectangle 8"/>
          <p:cNvSpPr/>
          <p:nvPr/>
        </p:nvSpPr>
        <p:spPr>
          <a:xfrm>
            <a:off x="3967581" y="1783080"/>
            <a:ext cx="7444130" cy="53149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597" y="1783080"/>
            <a:ext cx="7224674" cy="531495"/>
          </a:xfrm>
          <a:prstGeom prst="rect">
            <a:avLst/>
          </a:prstGeom>
          <a:noFill/>
        </p:spPr>
        <p:txBody>
          <a:bodyPr wrap="square" anchor="ctr">
            <a:spAutoFit/>
          </a:bodyPr>
          <a:lstStyle/>
          <a:p>
            <a:pPr algn="l">
              <a:spcAft>
                <a:spcPts val="400"/>
              </a:spcAft>
            </a:pPr>
            <a:r>
              <a:rPr sz="1300" b="1">
                <a:solidFill>
                  <a:srgbClr val="FFFFFF"/>
                </a:solidFill>
                <a:latin typeface="Arial"/>
              </a:rPr>
              <a:t>Detail</a:t>
            </a:r>
          </a:p>
        </p:txBody>
      </p:sp>
      <p:sp>
        <p:nvSpPr>
          <p:cNvPr id="11" name="Rectangle 10"/>
          <p:cNvSpPr/>
          <p:nvPr/>
        </p:nvSpPr>
        <p:spPr>
          <a:xfrm>
            <a:off x="777240" y="2314575"/>
            <a:ext cx="3190341" cy="53149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314575"/>
            <a:ext cx="2970885" cy="531495"/>
          </a:xfrm>
          <a:prstGeom prst="rect">
            <a:avLst/>
          </a:prstGeom>
          <a:noFill/>
        </p:spPr>
        <p:txBody>
          <a:bodyPr wrap="square" anchor="ctr">
            <a:spAutoFit/>
          </a:bodyPr>
          <a:lstStyle/>
          <a:p>
            <a:pPr algn="l">
              <a:spcAft>
                <a:spcPts val="400"/>
              </a:spcAft>
            </a:pPr>
            <a:r>
              <a:rPr sz="1200" b="1">
                <a:solidFill>
                  <a:srgbClr val="161B26"/>
                </a:solidFill>
                <a:latin typeface="Arial"/>
              </a:rPr>
              <a:t>TSC Title / Code</a:t>
            </a:r>
          </a:p>
        </p:txBody>
      </p:sp>
      <p:sp>
        <p:nvSpPr>
          <p:cNvPr id="13" name="Rectangle 12"/>
          <p:cNvSpPr/>
          <p:nvPr/>
        </p:nvSpPr>
        <p:spPr>
          <a:xfrm>
            <a:off x="3967581" y="2314575"/>
            <a:ext cx="7444130" cy="53149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597" y="2314575"/>
            <a:ext cx="7224674" cy="531495"/>
          </a:xfrm>
          <a:prstGeom prst="rect">
            <a:avLst/>
          </a:prstGeom>
          <a:noFill/>
        </p:spPr>
        <p:txBody>
          <a:bodyPr wrap="square" anchor="ctr">
            <a:spAutoFit/>
          </a:bodyPr>
          <a:lstStyle/>
          <a:p>
            <a:pPr algn="l">
              <a:spcAft>
                <a:spcPts val="400"/>
              </a:spcAft>
            </a:pPr>
            <a:r>
              <a:rPr sz="1200" b="0">
                <a:solidFill>
                  <a:srgbClr val="161B26"/>
                </a:solidFill>
                <a:latin typeface="Arial"/>
              </a:rPr>
              <a:t>Customer Service Innovation Management  ·  EPW-CEX-3034-1.1</a:t>
            </a:r>
          </a:p>
        </p:txBody>
      </p:sp>
      <p:sp>
        <p:nvSpPr>
          <p:cNvPr id="15" name="Rectangle 14"/>
          <p:cNvSpPr/>
          <p:nvPr/>
        </p:nvSpPr>
        <p:spPr>
          <a:xfrm>
            <a:off x="777240" y="2846070"/>
            <a:ext cx="3190341" cy="53149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846070"/>
            <a:ext cx="2970885" cy="531495"/>
          </a:xfrm>
          <a:prstGeom prst="rect">
            <a:avLst/>
          </a:prstGeom>
          <a:noFill/>
        </p:spPr>
        <p:txBody>
          <a:bodyPr wrap="square" anchor="ctr">
            <a:spAutoFit/>
          </a:bodyPr>
          <a:lstStyle/>
          <a:p>
            <a:pPr algn="l">
              <a:spcAft>
                <a:spcPts val="400"/>
              </a:spcAft>
            </a:pPr>
            <a:r>
              <a:rPr sz="1200" b="1">
                <a:solidFill>
                  <a:srgbClr val="161B26"/>
                </a:solidFill>
                <a:latin typeface="Arial"/>
              </a:rPr>
              <a:t>Ability A1</a:t>
            </a:r>
          </a:p>
        </p:txBody>
      </p:sp>
      <p:sp>
        <p:nvSpPr>
          <p:cNvPr id="17" name="Rectangle 16"/>
          <p:cNvSpPr/>
          <p:nvPr/>
        </p:nvSpPr>
        <p:spPr>
          <a:xfrm>
            <a:off x="3967581" y="2846070"/>
            <a:ext cx="7444130" cy="53149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597" y="2846070"/>
            <a:ext cx="7224674" cy="531495"/>
          </a:xfrm>
          <a:prstGeom prst="rect">
            <a:avLst/>
          </a:prstGeom>
          <a:noFill/>
        </p:spPr>
        <p:txBody>
          <a:bodyPr wrap="square" anchor="ctr">
            <a:spAutoFit/>
          </a:bodyPr>
          <a:lstStyle/>
          <a:p>
            <a:pPr algn="l">
              <a:spcAft>
                <a:spcPts val="400"/>
              </a:spcAft>
            </a:pPr>
            <a:r>
              <a:rPr sz="1200" b="0">
                <a:solidFill>
                  <a:srgbClr val="161B26"/>
                </a:solidFill>
                <a:latin typeface="Arial"/>
              </a:rPr>
              <a:t>Carry out collection of customer feedback on service</a:t>
            </a:r>
          </a:p>
        </p:txBody>
      </p:sp>
      <p:sp>
        <p:nvSpPr>
          <p:cNvPr id="19" name="Rectangle 18"/>
          <p:cNvSpPr/>
          <p:nvPr/>
        </p:nvSpPr>
        <p:spPr>
          <a:xfrm>
            <a:off x="777240" y="3377565"/>
            <a:ext cx="3190341" cy="53149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377565"/>
            <a:ext cx="2970885" cy="531495"/>
          </a:xfrm>
          <a:prstGeom prst="rect">
            <a:avLst/>
          </a:prstGeom>
          <a:noFill/>
        </p:spPr>
        <p:txBody>
          <a:bodyPr wrap="square" anchor="ctr">
            <a:spAutoFit/>
          </a:bodyPr>
          <a:lstStyle/>
          <a:p>
            <a:pPr algn="l">
              <a:spcAft>
                <a:spcPts val="400"/>
              </a:spcAft>
            </a:pPr>
            <a:r>
              <a:rPr sz="1200" b="1">
                <a:solidFill>
                  <a:srgbClr val="161B26"/>
                </a:solidFill>
                <a:latin typeface="Arial"/>
              </a:rPr>
              <a:t>Ability A2</a:t>
            </a:r>
          </a:p>
        </p:txBody>
      </p:sp>
      <p:sp>
        <p:nvSpPr>
          <p:cNvPr id="21" name="Rectangle 20"/>
          <p:cNvSpPr/>
          <p:nvPr/>
        </p:nvSpPr>
        <p:spPr>
          <a:xfrm>
            <a:off x="3967581" y="3377565"/>
            <a:ext cx="7444130" cy="53149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95597" y="3377565"/>
            <a:ext cx="7224674" cy="531495"/>
          </a:xfrm>
          <a:prstGeom prst="rect">
            <a:avLst/>
          </a:prstGeom>
          <a:noFill/>
        </p:spPr>
        <p:txBody>
          <a:bodyPr wrap="square" anchor="ctr">
            <a:spAutoFit/>
          </a:bodyPr>
          <a:lstStyle/>
          <a:p>
            <a:pPr algn="l">
              <a:spcAft>
                <a:spcPts val="400"/>
              </a:spcAft>
            </a:pPr>
            <a:r>
              <a:rPr sz="1200" b="0">
                <a:solidFill>
                  <a:srgbClr val="161B26"/>
                </a:solidFill>
                <a:latin typeface="Arial"/>
              </a:rPr>
              <a:t>Determine customer's needs and expectations in relation to products and services</a:t>
            </a:r>
          </a:p>
        </p:txBody>
      </p:sp>
      <p:sp>
        <p:nvSpPr>
          <p:cNvPr id="23" name="Rectangle 22"/>
          <p:cNvSpPr/>
          <p:nvPr/>
        </p:nvSpPr>
        <p:spPr>
          <a:xfrm>
            <a:off x="777240" y="3909060"/>
            <a:ext cx="3190341" cy="53149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3909060"/>
            <a:ext cx="2970885" cy="531495"/>
          </a:xfrm>
          <a:prstGeom prst="rect">
            <a:avLst/>
          </a:prstGeom>
          <a:noFill/>
        </p:spPr>
        <p:txBody>
          <a:bodyPr wrap="square" anchor="ctr">
            <a:spAutoFit/>
          </a:bodyPr>
          <a:lstStyle/>
          <a:p>
            <a:pPr algn="l">
              <a:spcAft>
                <a:spcPts val="400"/>
              </a:spcAft>
            </a:pPr>
            <a:r>
              <a:rPr sz="1200" b="1">
                <a:solidFill>
                  <a:srgbClr val="161B26"/>
                </a:solidFill>
                <a:latin typeface="Arial"/>
              </a:rPr>
              <a:t>Ability A3</a:t>
            </a:r>
          </a:p>
        </p:txBody>
      </p:sp>
      <p:sp>
        <p:nvSpPr>
          <p:cNvPr id="25" name="Rectangle 24"/>
          <p:cNvSpPr/>
          <p:nvPr/>
        </p:nvSpPr>
        <p:spPr>
          <a:xfrm>
            <a:off x="3967581" y="3909060"/>
            <a:ext cx="7444130" cy="53149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95597" y="3909060"/>
            <a:ext cx="7224674" cy="531495"/>
          </a:xfrm>
          <a:prstGeom prst="rect">
            <a:avLst/>
          </a:prstGeom>
          <a:noFill/>
        </p:spPr>
        <p:txBody>
          <a:bodyPr wrap="square" anchor="ctr">
            <a:spAutoFit/>
          </a:bodyPr>
          <a:lstStyle/>
          <a:p>
            <a:pPr algn="l">
              <a:spcAft>
                <a:spcPts val="400"/>
              </a:spcAft>
            </a:pPr>
            <a:r>
              <a:rPr sz="1200" b="0">
                <a:solidFill>
                  <a:srgbClr val="161B26"/>
                </a:solidFill>
                <a:latin typeface="Arial"/>
              </a:rPr>
              <a:t>Determine areas of improvement as per customer feedback</a:t>
            </a:r>
          </a:p>
        </p:txBody>
      </p:sp>
      <p:sp>
        <p:nvSpPr>
          <p:cNvPr id="27" name="Rectangle 26"/>
          <p:cNvSpPr/>
          <p:nvPr/>
        </p:nvSpPr>
        <p:spPr>
          <a:xfrm>
            <a:off x="777240" y="4440555"/>
            <a:ext cx="3190341" cy="53149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5256" y="4440555"/>
            <a:ext cx="2970885" cy="531495"/>
          </a:xfrm>
          <a:prstGeom prst="rect">
            <a:avLst/>
          </a:prstGeom>
          <a:noFill/>
        </p:spPr>
        <p:txBody>
          <a:bodyPr wrap="square" anchor="ctr">
            <a:spAutoFit/>
          </a:bodyPr>
          <a:lstStyle/>
          <a:p>
            <a:pPr algn="l">
              <a:spcAft>
                <a:spcPts val="400"/>
              </a:spcAft>
            </a:pPr>
            <a:r>
              <a:rPr sz="1200" b="1">
                <a:solidFill>
                  <a:srgbClr val="161B26"/>
                </a:solidFill>
                <a:latin typeface="Arial"/>
              </a:rPr>
              <a:t>Knowledge K1</a:t>
            </a:r>
          </a:p>
        </p:txBody>
      </p:sp>
      <p:sp>
        <p:nvSpPr>
          <p:cNvPr id="29" name="Rectangle 28"/>
          <p:cNvSpPr/>
          <p:nvPr/>
        </p:nvSpPr>
        <p:spPr>
          <a:xfrm>
            <a:off x="3967581" y="4440555"/>
            <a:ext cx="7444130" cy="53149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095597" y="4440555"/>
            <a:ext cx="7224674" cy="531495"/>
          </a:xfrm>
          <a:prstGeom prst="rect">
            <a:avLst/>
          </a:prstGeom>
          <a:noFill/>
        </p:spPr>
        <p:txBody>
          <a:bodyPr wrap="square" anchor="ctr">
            <a:spAutoFit/>
          </a:bodyPr>
          <a:lstStyle/>
          <a:p>
            <a:pPr algn="l">
              <a:spcAft>
                <a:spcPts val="400"/>
              </a:spcAft>
            </a:pPr>
            <a:r>
              <a:rPr sz="1200" b="0">
                <a:solidFill>
                  <a:srgbClr val="161B26"/>
                </a:solidFill>
                <a:latin typeface="Arial"/>
              </a:rPr>
              <a:t>Principles of effective communication</a:t>
            </a:r>
          </a:p>
        </p:txBody>
      </p:sp>
      <p:sp>
        <p:nvSpPr>
          <p:cNvPr id="31" name="Rectangle 30"/>
          <p:cNvSpPr/>
          <p:nvPr/>
        </p:nvSpPr>
        <p:spPr>
          <a:xfrm>
            <a:off x="777240" y="4972050"/>
            <a:ext cx="3190341" cy="53149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972050"/>
            <a:ext cx="2970885" cy="531495"/>
          </a:xfrm>
          <a:prstGeom prst="rect">
            <a:avLst/>
          </a:prstGeom>
          <a:noFill/>
        </p:spPr>
        <p:txBody>
          <a:bodyPr wrap="square" anchor="ctr">
            <a:spAutoFit/>
          </a:bodyPr>
          <a:lstStyle/>
          <a:p>
            <a:pPr algn="l">
              <a:spcAft>
                <a:spcPts val="400"/>
              </a:spcAft>
            </a:pPr>
            <a:r>
              <a:rPr sz="1200" b="1">
                <a:solidFill>
                  <a:srgbClr val="161B26"/>
                </a:solidFill>
                <a:latin typeface="Arial"/>
              </a:rPr>
              <a:t>Knowledge K2</a:t>
            </a:r>
          </a:p>
        </p:txBody>
      </p:sp>
      <p:sp>
        <p:nvSpPr>
          <p:cNvPr id="33" name="Rectangle 32"/>
          <p:cNvSpPr/>
          <p:nvPr/>
        </p:nvSpPr>
        <p:spPr>
          <a:xfrm>
            <a:off x="3967581" y="4972050"/>
            <a:ext cx="7444130" cy="531495"/>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095597" y="4972050"/>
            <a:ext cx="7224674" cy="531495"/>
          </a:xfrm>
          <a:prstGeom prst="rect">
            <a:avLst/>
          </a:prstGeom>
          <a:noFill/>
        </p:spPr>
        <p:txBody>
          <a:bodyPr wrap="square" anchor="ctr">
            <a:spAutoFit/>
          </a:bodyPr>
          <a:lstStyle/>
          <a:p>
            <a:pPr algn="l">
              <a:spcAft>
                <a:spcPts val="400"/>
              </a:spcAft>
            </a:pPr>
            <a:r>
              <a:rPr sz="1200" b="0">
                <a:solidFill>
                  <a:srgbClr val="161B26"/>
                </a:solidFill>
                <a:latin typeface="Arial"/>
              </a:rPr>
              <a:t>Customer feedback channels</a:t>
            </a:r>
          </a:p>
        </p:txBody>
      </p:sp>
      <p:sp>
        <p:nvSpPr>
          <p:cNvPr id="35" name="Rectangle 34"/>
          <p:cNvSpPr/>
          <p:nvPr/>
        </p:nvSpPr>
        <p:spPr>
          <a:xfrm>
            <a:off x="777240" y="5503545"/>
            <a:ext cx="3190341" cy="53149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5256" y="5503545"/>
            <a:ext cx="2970885" cy="531495"/>
          </a:xfrm>
          <a:prstGeom prst="rect">
            <a:avLst/>
          </a:prstGeom>
          <a:noFill/>
        </p:spPr>
        <p:txBody>
          <a:bodyPr wrap="square" anchor="ctr">
            <a:spAutoFit/>
          </a:bodyPr>
          <a:lstStyle/>
          <a:p>
            <a:pPr algn="l">
              <a:spcAft>
                <a:spcPts val="400"/>
              </a:spcAft>
            </a:pPr>
            <a:r>
              <a:rPr sz="1200" b="1">
                <a:solidFill>
                  <a:srgbClr val="161B26"/>
                </a:solidFill>
                <a:latin typeface="Arial"/>
              </a:rPr>
              <a:t>Knowledge K3</a:t>
            </a:r>
          </a:p>
        </p:txBody>
      </p:sp>
      <p:sp>
        <p:nvSpPr>
          <p:cNvPr id="37" name="Rectangle 36"/>
          <p:cNvSpPr/>
          <p:nvPr/>
        </p:nvSpPr>
        <p:spPr>
          <a:xfrm>
            <a:off x="3967581" y="5503545"/>
            <a:ext cx="7444130" cy="531495"/>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095597" y="5503545"/>
            <a:ext cx="7224674" cy="531495"/>
          </a:xfrm>
          <a:prstGeom prst="rect">
            <a:avLst/>
          </a:prstGeom>
          <a:noFill/>
        </p:spPr>
        <p:txBody>
          <a:bodyPr wrap="square" anchor="ctr">
            <a:spAutoFit/>
          </a:bodyPr>
          <a:lstStyle/>
          <a:p>
            <a:pPr algn="l">
              <a:spcAft>
                <a:spcPts val="400"/>
              </a:spcAft>
            </a:pPr>
            <a:r>
              <a:rPr sz="1200" b="0">
                <a:solidFill>
                  <a:srgbClr val="161B26"/>
                </a:solidFill>
                <a:latin typeface="Arial"/>
              </a:rPr>
              <a:t>Operation and process personnel feedback channels</a:t>
            </a:r>
          </a:p>
        </p:txBody>
      </p:sp>
      <p:sp>
        <p:nvSpPr>
          <p:cNvPr id="39" name="TextBox 38"/>
          <p:cNvSpPr txBox="1"/>
          <p:nvPr/>
        </p:nvSpPr>
        <p:spPr>
          <a:xfrm>
            <a:off x="777240" y="6053328"/>
            <a:ext cx="10698480" cy="365760"/>
          </a:xfrm>
          <a:prstGeom prst="rect">
            <a:avLst/>
          </a:prstGeom>
          <a:noFill/>
        </p:spPr>
        <p:txBody>
          <a:bodyPr wrap="square" anchor="t">
            <a:spAutoFit/>
          </a:bodyPr>
          <a:lstStyle/>
          <a:p>
            <a:pPr algn="ctr">
              <a:spcAft>
                <a:spcPts val="400"/>
              </a:spcAft>
            </a:pPr>
            <a:r>
              <a:rPr sz="1300" b="0">
                <a:solidFill>
                  <a:srgbClr val="5B6372"/>
                </a:solidFill>
                <a:latin typeface="Arial"/>
              </a:rPr>
              <a:t>Every topic, activity and assessment item in this course maps to these TSC abilities and knowledge factors.</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BY THE END OF THIS COURSE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883664"/>
          </a:xfrm>
          <a:prstGeom prst="rect">
            <a:avLst/>
          </a:prstGeom>
          <a:noFill/>
        </p:spPr>
        <p:txBody>
          <a:bodyPr wrap="square" anchor="ctr">
            <a:spAutoFit/>
          </a:bodyPr>
          <a:lstStyle/>
          <a:p>
            <a:pPr algn="l">
              <a:spcAft>
                <a:spcPts val="300"/>
              </a:spcAft>
            </a:pPr>
            <a:r>
              <a:rPr sz="1600" b="1">
                <a:solidFill>
                  <a:srgbClr val="161B26"/>
                </a:solidFill>
                <a:latin typeface="Arial"/>
              </a:rPr>
              <a:t>LO1</a:t>
            </a:r>
          </a:p>
          <a:p>
            <a:pPr algn="l">
              <a:spcAft>
                <a:spcPts val="300"/>
              </a:spcAft>
            </a:pPr>
            <a:r>
              <a:rPr sz="1200" b="0">
                <a:solidFill>
                  <a:srgbClr val="5B6372"/>
                </a:solidFill>
                <a:latin typeface="Arial"/>
              </a:rPr>
              <a:t>Collect and analyse customer feedback to assess needs and expectations using effective communication principles.</a:t>
            </a:r>
          </a:p>
        </p:txBody>
      </p:sp>
      <p:sp>
        <p:nvSpPr>
          <p:cNvPr id="12" name="Rectangle 11"/>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4215384"/>
            <a:ext cx="9427464" cy="1883664"/>
          </a:xfrm>
          <a:prstGeom prst="rect">
            <a:avLst/>
          </a:prstGeom>
          <a:noFill/>
        </p:spPr>
        <p:txBody>
          <a:bodyPr wrap="square" anchor="ctr">
            <a:spAutoFit/>
          </a:bodyPr>
          <a:lstStyle/>
          <a:p>
            <a:pPr algn="l">
              <a:spcAft>
                <a:spcPts val="300"/>
              </a:spcAft>
            </a:pPr>
            <a:r>
              <a:rPr sz="1600" b="1">
                <a:solidFill>
                  <a:srgbClr val="161B26"/>
                </a:solidFill>
                <a:latin typeface="Arial"/>
              </a:rPr>
              <a:t>LO2</a:t>
            </a:r>
          </a:p>
          <a:p>
            <a:pPr algn="l">
              <a:spcAft>
                <a:spcPts val="300"/>
              </a:spcAft>
            </a:pPr>
            <a:r>
              <a:rPr sz="1200" b="0">
                <a:solidFill>
                  <a:srgbClr val="5B6372"/>
                </a:solidFill>
                <a:latin typeface="Arial"/>
              </a:rPr>
              <a:t>Identify and recommend areas for improvement based on customer feedback and operational insights.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JOURNEY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Course Outline — Two Learning Units, Nine Topics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Morning</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Afternoon</a:t>
            </a:r>
          </a:p>
        </p:txBody>
      </p:sp>
      <p:sp>
        <p:nvSpPr>
          <p:cNvPr id="13" name="TextBox 12"/>
          <p:cNvSpPr txBox="1"/>
          <p:nvPr/>
        </p:nvSpPr>
        <p:spPr>
          <a:xfrm>
            <a:off x="1005840" y="2468880"/>
            <a:ext cx="4754880" cy="3474720"/>
          </a:xfrm>
          <a:prstGeom prst="rect">
            <a:avLst/>
          </a:prstGeom>
          <a:noFill/>
        </p:spPr>
        <p:txBody>
          <a:bodyPr wrap="square">
            <a:spAutoFit/>
          </a:bodyPr>
          <a:lstStyle/>
          <a:p>
            <a:pPr>
              <a:spcAft>
                <a:spcPts val="1000"/>
              </a:spcAft>
            </a:pPr>
            <a:r>
              <a:rPr sz="1500" b="1">
                <a:solidFill>
                  <a:srgbClr val="161B26"/>
                </a:solidFill>
                <a:latin typeface="Arial"/>
              </a:rPr>
              <a:t>•  LU1 — Customer's Needs and Feedback  (LO1)</a:t>
            </a:r>
          </a:p>
          <a:p>
            <a:pPr>
              <a:spcAft>
                <a:spcPts val="1000"/>
              </a:spcAft>
            </a:pPr>
            <a:r>
              <a:rPr sz="1300" b="0">
                <a:solidFill>
                  <a:srgbClr val="5B6372"/>
                </a:solidFill>
                <a:latin typeface="Arial"/>
              </a:rPr>
              <a:t>–  T1 Understanding Customers &amp; Customer Service</a:t>
            </a:r>
          </a:p>
          <a:p>
            <a:pPr>
              <a:spcAft>
                <a:spcPts val="1000"/>
              </a:spcAft>
            </a:pPr>
            <a:r>
              <a:rPr sz="1300" b="0">
                <a:solidFill>
                  <a:srgbClr val="5B6372"/>
                </a:solidFill>
                <a:latin typeface="Arial"/>
              </a:rPr>
              <a:t>–  T2 Establishing Your Service Attitude</a:t>
            </a:r>
          </a:p>
          <a:p>
            <a:pPr>
              <a:spcAft>
                <a:spcPts val="1000"/>
              </a:spcAft>
            </a:pPr>
            <a:r>
              <a:rPr sz="1300" b="0">
                <a:solidFill>
                  <a:srgbClr val="5B6372"/>
                </a:solidFill>
                <a:latin typeface="Arial"/>
              </a:rPr>
              <a:t>–  T3 Identifying and Addressing Customer Needs</a:t>
            </a:r>
          </a:p>
          <a:p>
            <a:pPr>
              <a:spcAft>
                <a:spcPts val="1000"/>
              </a:spcAft>
            </a:pPr>
            <a:r>
              <a:rPr sz="1300" b="0">
                <a:solidFill>
                  <a:srgbClr val="5B6372"/>
                </a:solidFill>
                <a:latin typeface="Arial"/>
              </a:rPr>
              <a:t>–  T4 In-Person Customer Service</a:t>
            </a:r>
          </a:p>
          <a:p>
            <a:pPr>
              <a:spcAft>
                <a:spcPts val="1000"/>
              </a:spcAft>
            </a:pPr>
            <a:r>
              <a:rPr sz="1300" b="0">
                <a:solidFill>
                  <a:srgbClr val="5B6372"/>
                </a:solidFill>
                <a:latin typeface="Arial"/>
              </a:rPr>
              <a:t>–  T5 Customer Service Over the Phone</a:t>
            </a:r>
          </a:p>
          <a:p>
            <a:pPr>
              <a:spcAft>
                <a:spcPts val="1000"/>
              </a:spcAft>
            </a:pPr>
            <a:r>
              <a:rPr sz="1300" b="0">
                <a:solidFill>
                  <a:srgbClr val="5B6372"/>
                </a:solidFill>
                <a:latin typeface="Arial"/>
              </a:rPr>
              <a:t>–  T6 Customer Service via Email and Chat</a:t>
            </a:r>
          </a:p>
        </p:txBody>
      </p:sp>
      <p:sp>
        <p:nvSpPr>
          <p:cNvPr id="14" name="TextBox 13"/>
          <p:cNvSpPr txBox="1"/>
          <p:nvPr/>
        </p:nvSpPr>
        <p:spPr>
          <a:xfrm>
            <a:off x="6583680" y="2468880"/>
            <a:ext cx="4617720" cy="3474720"/>
          </a:xfrm>
          <a:prstGeom prst="rect">
            <a:avLst/>
          </a:prstGeom>
          <a:noFill/>
        </p:spPr>
        <p:txBody>
          <a:bodyPr wrap="square">
            <a:spAutoFit/>
          </a:bodyPr>
          <a:lstStyle/>
          <a:p>
            <a:pPr>
              <a:spcAft>
                <a:spcPts val="1000"/>
              </a:spcAft>
            </a:pPr>
            <a:r>
              <a:rPr sz="1500" b="1">
                <a:solidFill>
                  <a:srgbClr val="161B26"/>
                </a:solidFill>
                <a:latin typeface="Arial"/>
              </a:rPr>
              <a:t>•  LU2 — Improving Needs Based on Feedback  (LO2)</a:t>
            </a:r>
          </a:p>
          <a:p>
            <a:pPr>
              <a:spcAft>
                <a:spcPts val="1000"/>
              </a:spcAft>
            </a:pPr>
            <a:r>
              <a:rPr sz="1300" b="0">
                <a:solidFill>
                  <a:srgbClr val="5B6372"/>
                </a:solidFill>
                <a:latin typeface="Arial"/>
              </a:rPr>
              <a:t>–  T7 Generating Return Business from Feedback</a:t>
            </a:r>
          </a:p>
          <a:p>
            <a:pPr>
              <a:spcAft>
                <a:spcPts val="1000"/>
              </a:spcAft>
            </a:pPr>
            <a:r>
              <a:rPr sz="1300" b="0">
                <a:solidFill>
                  <a:srgbClr val="5B6372"/>
                </a:solidFill>
                <a:latin typeface="Arial"/>
              </a:rPr>
              <a:t>–  T8 Recovering Difficult Customers</a:t>
            </a:r>
          </a:p>
          <a:p>
            <a:pPr>
              <a:spcAft>
                <a:spcPts val="1000"/>
              </a:spcAft>
            </a:pPr>
            <a:r>
              <a:rPr sz="1300" b="0">
                <a:solidFill>
                  <a:srgbClr val="5B6372"/>
                </a:solidFill>
                <a:latin typeface="Arial"/>
              </a:rPr>
              <a:t>–  T9 Understanding When to Escalate</a:t>
            </a:r>
          </a:p>
          <a:p>
            <a:pPr>
              <a:spcAft>
                <a:spcPts val="1000"/>
              </a:spcAft>
            </a:pPr>
            <a:r>
              <a:rPr sz="1500" b="1">
                <a:solidFill>
                  <a:srgbClr val="161B26"/>
                </a:solidFill>
                <a:latin typeface="Arial"/>
              </a:rPr>
              <a:t>•  9 real-world case-study activities</a:t>
            </a:r>
          </a:p>
          <a:p>
            <a:pPr>
              <a:spcAft>
                <a:spcPts val="1000"/>
              </a:spcAft>
            </a:pPr>
            <a:r>
              <a:rPr sz="1300" b="0">
                <a:solidFill>
                  <a:srgbClr val="5B6372"/>
                </a:solidFill>
                <a:latin typeface="Arial"/>
              </a:rPr>
              <a:t>–  Every topic is practised on a realistic Singapore scenario</a:t>
            </a:r>
          </a:p>
          <a:p>
            <a:pPr>
              <a:spcAft>
                <a:spcPts val="1000"/>
              </a:spcAft>
            </a:pPr>
            <a:r>
              <a:rPr sz="1300" b="0">
                <a:solidFill>
                  <a:srgbClr val="5B6372"/>
                </a:solidFill>
                <a:latin typeface="Arial"/>
              </a:rPr>
              <a:t>–  Role plays mirror the Role Play assessment format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BEFORE THE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1216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6959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695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Clear your workspace</a:t>
            </a:r>
          </a:p>
          <a:p>
            <a:pPr algn="l">
              <a:spcAft>
                <a:spcPts val="300"/>
              </a:spcAft>
            </a:pPr>
            <a:r>
              <a:rPr sz="1100" b="0">
                <a:solidFill>
                  <a:srgbClr val="5B6372"/>
                </a:solidFill>
                <a:latin typeface="Arial"/>
              </a:rPr>
              <a:t>Phones and materials under the table or on the floor.</a:t>
            </a:r>
          </a:p>
        </p:txBody>
      </p:sp>
      <p:sp>
        <p:nvSpPr>
          <p:cNvPr id="12" name="Rectangle 11"/>
          <p:cNvSpPr/>
          <p:nvPr/>
        </p:nvSpPr>
        <p:spPr>
          <a:xfrm>
            <a:off x="6231636" y="1783080"/>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1216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06959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0695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No photos or recording</a:t>
            </a:r>
          </a:p>
          <a:p>
            <a:pPr algn="l">
              <a:spcAft>
                <a:spcPts val="300"/>
              </a:spcAft>
            </a:pPr>
            <a:r>
              <a:rPr sz="1100" b="0">
                <a:solidFill>
                  <a:srgbClr val="5B6372"/>
                </a:solidFill>
                <a:latin typeface="Arial"/>
              </a:rPr>
              <a:t>Assessment scripts must not be photographed or copied.</a:t>
            </a:r>
          </a:p>
        </p:txBody>
      </p:sp>
      <p:sp>
        <p:nvSpPr>
          <p:cNvPr id="17" name="Rectangle 16"/>
          <p:cNvSpPr/>
          <p:nvPr/>
        </p:nvSpPr>
        <p:spPr>
          <a:xfrm>
            <a:off x="777240" y="3142488"/>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142488"/>
            <a:ext cx="91440" cy="11216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42900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42900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70504"/>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No discussion</a:t>
            </a:r>
          </a:p>
          <a:p>
            <a:pPr algn="l">
              <a:spcAft>
                <a:spcPts val="300"/>
              </a:spcAft>
            </a:pPr>
            <a:r>
              <a:rPr sz="1100" b="0">
                <a:solidFill>
                  <a:srgbClr val="5B6372"/>
                </a:solidFill>
                <a:latin typeface="Arial"/>
              </a:rPr>
              <a:t>The assessment is individual, from the moment it starts.</a:t>
            </a:r>
          </a:p>
        </p:txBody>
      </p:sp>
      <p:sp>
        <p:nvSpPr>
          <p:cNvPr id="22" name="Rectangle 21"/>
          <p:cNvSpPr/>
          <p:nvPr/>
        </p:nvSpPr>
        <p:spPr>
          <a:xfrm>
            <a:off x="6231636" y="3142488"/>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142488"/>
            <a:ext cx="91440" cy="11216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42900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42900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270504"/>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Black or blue pen only</a:t>
            </a:r>
          </a:p>
          <a:p>
            <a:pPr algn="l">
              <a:spcAft>
                <a:spcPts val="300"/>
              </a:spcAft>
            </a:pPr>
            <a:r>
              <a:rPr sz="1100" b="0">
                <a:solidFill>
                  <a:srgbClr val="5B6372"/>
                </a:solidFill>
                <a:latin typeface="Arial"/>
              </a:rPr>
              <a:t>For hard-copy scripts. No pencil.</a:t>
            </a:r>
          </a:p>
        </p:txBody>
      </p:sp>
      <p:sp>
        <p:nvSpPr>
          <p:cNvPr id="27" name="Rectangle 26"/>
          <p:cNvSpPr/>
          <p:nvPr/>
        </p:nvSpPr>
        <p:spPr>
          <a:xfrm>
            <a:off x="777240" y="4501896"/>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501896"/>
            <a:ext cx="91440" cy="11216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78840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7884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629912"/>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No correction fluid or tape</a:t>
            </a:r>
          </a:p>
          <a:p>
            <a:pPr algn="l">
              <a:spcAft>
                <a:spcPts val="300"/>
              </a:spcAft>
            </a:pPr>
            <a:r>
              <a:rPr sz="1100" b="0">
                <a:solidFill>
                  <a:srgbClr val="5B6372"/>
                </a:solidFill>
                <a:latin typeface="Arial"/>
              </a:rPr>
              <a:t>Strike through a mistake cleanly and write beside it.</a:t>
            </a:r>
          </a:p>
        </p:txBody>
      </p:sp>
      <p:sp>
        <p:nvSpPr>
          <p:cNvPr id="32" name="Rectangle 31"/>
          <p:cNvSpPr/>
          <p:nvPr/>
        </p:nvSpPr>
        <p:spPr>
          <a:xfrm>
            <a:off x="6231636" y="4501896"/>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501896"/>
            <a:ext cx="91440" cy="11216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78840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7884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629912"/>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Scripts collected on time</a:t>
            </a:r>
          </a:p>
          <a:p>
            <a:pPr algn="l">
              <a:spcAft>
                <a:spcPts val="300"/>
              </a:spcAft>
            </a:pPr>
            <a:r>
              <a:rPr sz="1100" b="0">
                <a:solidFill>
                  <a:srgbClr val="5B6372"/>
                </a:solidFill>
                <a:latin typeface="Arial"/>
              </a:rPr>
              <a:t>When time is up, pens down and hand the script over.</a:t>
            </a:r>
          </a:p>
        </p:txBody>
      </p:sp>
      <p:sp>
        <p:nvSpPr>
          <p:cNvPr id="37" name="Rectangle 36"/>
          <p:cNvSpPr/>
          <p:nvPr/>
        </p:nvSpPr>
        <p:spPr>
          <a:xfrm>
            <a:off x="777240" y="5779008"/>
            <a:ext cx="10634472"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779008"/>
            <a:ext cx="10195560" cy="603504"/>
          </a:xfrm>
          <a:prstGeom prst="rect">
            <a:avLst/>
          </a:prstGeom>
          <a:noFill/>
        </p:spPr>
        <p:txBody>
          <a:bodyPr wrap="square" anchor="ctr">
            <a:spAutoFit/>
          </a:bodyPr>
          <a:lstStyle/>
          <a:p>
            <a:pPr algn="l">
              <a:spcAft>
                <a:spcPts val="400"/>
              </a:spcAft>
            </a:pPr>
            <a:r>
              <a:rPr sz="1250" b="0">
                <a:solidFill>
                  <a:srgbClr val="161B26"/>
                </a:solidFill>
                <a:latin typeface="Arial"/>
              </a:rPr>
              <a:t>Open book means the slides, the Learner Guide and approved materials only — not the internet, and not each other.</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1216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6959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695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Oral Questioning (OQ) — 30 min</a:t>
            </a:r>
          </a:p>
          <a:p>
            <a:pPr algn="l">
              <a:spcAft>
                <a:spcPts val="300"/>
              </a:spcAft>
            </a:pPr>
            <a:r>
              <a:rPr sz="1100" b="0">
                <a:solidFill>
                  <a:srgbClr val="5B6372"/>
                </a:solidFill>
                <a:latin typeface="Arial"/>
              </a:rPr>
              <a:t>3 open-ended questions covering K1, K2 and K3. Individual, open book.</a:t>
            </a:r>
          </a:p>
        </p:txBody>
      </p:sp>
      <p:sp>
        <p:nvSpPr>
          <p:cNvPr id="12" name="Rectangle 11"/>
          <p:cNvSpPr/>
          <p:nvPr/>
        </p:nvSpPr>
        <p:spPr>
          <a:xfrm>
            <a:off x="6231636" y="1783080"/>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1216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06959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0695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Role Play (RP) — 30 min</a:t>
            </a:r>
          </a:p>
          <a:p>
            <a:pPr algn="l">
              <a:spcAft>
                <a:spcPts val="300"/>
              </a:spcAft>
            </a:pPr>
            <a:r>
              <a:rPr sz="1100" b="0">
                <a:solidFill>
                  <a:srgbClr val="5B6372"/>
                </a:solidFill>
                <a:latin typeface="Arial"/>
              </a:rPr>
              <a:t>2 simulated customer interactions covering A1, A2 and A3. Individual, open book.</a:t>
            </a:r>
          </a:p>
        </p:txBody>
      </p:sp>
      <p:sp>
        <p:nvSpPr>
          <p:cNvPr id="17" name="Rectangle 16"/>
          <p:cNvSpPr/>
          <p:nvPr/>
        </p:nvSpPr>
        <p:spPr>
          <a:xfrm>
            <a:off x="777240" y="3142488"/>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142488"/>
            <a:ext cx="91440" cy="11216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42900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42900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70504"/>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Open book</a:t>
            </a:r>
          </a:p>
          <a:p>
            <a:pPr algn="l">
              <a:spcAft>
                <a:spcPts val="300"/>
              </a:spcAft>
            </a:pPr>
            <a:r>
              <a:rPr sz="1100" b="0">
                <a:solidFill>
                  <a:srgbClr val="5B6372"/>
                </a:solidFill>
                <a:latin typeface="Arial"/>
              </a:rPr>
              <a:t>Slides, Learner Guide and approved materials only.</a:t>
            </a:r>
          </a:p>
        </p:txBody>
      </p:sp>
      <p:sp>
        <p:nvSpPr>
          <p:cNvPr id="22" name="Rectangle 21"/>
          <p:cNvSpPr/>
          <p:nvPr/>
        </p:nvSpPr>
        <p:spPr>
          <a:xfrm>
            <a:off x="6231636" y="3142488"/>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142488"/>
            <a:ext cx="91440" cy="11216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42900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42900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270504"/>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Both must be Competent</a:t>
            </a:r>
          </a:p>
          <a:p>
            <a:pPr algn="l">
              <a:spcAft>
                <a:spcPts val="300"/>
              </a:spcAft>
            </a:pPr>
            <a:r>
              <a:rPr sz="1100" b="0">
                <a:solidFill>
                  <a:srgbClr val="5B6372"/>
                </a:solidFill>
                <a:latin typeface="Arial"/>
              </a:rPr>
              <a:t>You must be assessed Competent in BOTH instruments to pass.</a:t>
            </a:r>
          </a:p>
        </p:txBody>
      </p:sp>
      <p:sp>
        <p:nvSpPr>
          <p:cNvPr id="27" name="Rectangle 26"/>
          <p:cNvSpPr/>
          <p:nvPr/>
        </p:nvSpPr>
        <p:spPr>
          <a:xfrm>
            <a:off x="777240" y="4501896"/>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501896"/>
            <a:ext cx="91440" cy="11216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78840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7884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629912"/>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75% attendance required</a:t>
            </a:r>
          </a:p>
          <a:p>
            <a:pPr algn="l">
              <a:spcAft>
                <a:spcPts val="300"/>
              </a:spcAft>
            </a:pPr>
            <a:r>
              <a:rPr sz="1100" b="0">
                <a:solidFill>
                  <a:srgbClr val="5B6372"/>
                </a:solidFill>
                <a:latin typeface="Arial"/>
              </a:rPr>
              <a:t>Attendance and a Competent result are both needed for funding.</a:t>
            </a:r>
          </a:p>
        </p:txBody>
      </p:sp>
      <p:sp>
        <p:nvSpPr>
          <p:cNvPr id="32" name="Rectangle 31"/>
          <p:cNvSpPr/>
          <p:nvPr/>
        </p:nvSpPr>
        <p:spPr>
          <a:xfrm>
            <a:off x="6231636" y="4501896"/>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501896"/>
            <a:ext cx="91440" cy="11216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78840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7884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629912"/>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Appeals available</a:t>
            </a:r>
          </a:p>
          <a:p>
            <a:pPr algn="l">
              <a:spcAft>
                <a:spcPts val="300"/>
              </a:spcAft>
            </a:pPr>
            <a:r>
              <a:rPr sz="1100" b="0">
                <a:solidFill>
                  <a:srgbClr val="5B6372"/>
                </a:solidFill>
                <a:latin typeface="Arial"/>
              </a:rPr>
              <a:t>You may appeal if you disagree with the assessment outcome.</a:t>
            </a:r>
          </a:p>
        </p:txBody>
      </p:sp>
      <p:sp>
        <p:nvSpPr>
          <p:cNvPr id="37" name="Rectangle 36"/>
          <p:cNvSpPr/>
          <p:nvPr/>
        </p:nvSpPr>
        <p:spPr>
          <a:xfrm>
            <a:off x="777240" y="5779008"/>
            <a:ext cx="10634472"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779008"/>
            <a:ext cx="10195560" cy="603504"/>
          </a:xfrm>
          <a:prstGeom prst="rect">
            <a:avLst/>
          </a:prstGeom>
          <a:noFill/>
        </p:spPr>
        <p:txBody>
          <a:bodyPr wrap="square" anchor="ctr">
            <a:spAutoFit/>
          </a:bodyPr>
          <a:lstStyle/>
          <a:p>
            <a:pPr algn="l">
              <a:spcAft>
                <a:spcPts val="400"/>
              </a:spcAft>
            </a:pPr>
            <a:r>
              <a:rPr sz="1250" b="0">
                <a:solidFill>
                  <a:srgbClr val="161B26"/>
                </a:solidFill>
                <a:latin typeface="Arial"/>
              </a:rPr>
              <a:t>Oral Clarification of up to 10 minutes may be conducted 1:1 to close minor performance gaps — this is not counted in the assessment duration.</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TRAQOM Survey</a:t>
            </a:r>
          </a:p>
        </p:txBody>
      </p:sp>
      <p:sp>
        <p:nvSpPr>
          <p:cNvPr id="12" name="TextBox 11"/>
          <p:cNvSpPr txBox="1"/>
          <p:nvPr/>
        </p:nvSpPr>
        <p:spPr>
          <a:xfrm>
            <a:off x="2618841"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a:t>
            </a:r>
          </a:p>
        </p:txBody>
      </p:sp>
      <p:sp>
        <p:nvSpPr>
          <p:cNvPr id="18" name="TextBox 17"/>
          <p:cNvSpPr txBox="1"/>
          <p:nvPr/>
        </p:nvSpPr>
        <p:spPr>
          <a:xfrm>
            <a:off x="4807914"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Assessment (OQ then RP)</a:t>
            </a:r>
          </a:p>
        </p:txBody>
      </p:sp>
      <p:sp>
        <p:nvSpPr>
          <p:cNvPr id="24" name="TextBox 23"/>
          <p:cNvSpPr txBox="1"/>
          <p:nvPr/>
        </p:nvSpPr>
        <p:spPr>
          <a:xfrm>
            <a:off x="6996987"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Submit on the LMS</a:t>
            </a:r>
          </a:p>
        </p:txBody>
      </p:sp>
      <p:sp>
        <p:nvSpPr>
          <p:cNvPr id="30" name="TextBox 29"/>
          <p:cNvSpPr txBox="1"/>
          <p:nvPr/>
        </p:nvSpPr>
        <p:spPr>
          <a:xfrm>
            <a:off x="9186060"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THIS COURSE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Service is not a department.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It is every interaction a customer has with your business — before, during and after the sale.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advClick="1">
    <p:push/>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LEARNING UNIT 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Customer's Needs and Feedback</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LO1 · Collect and analyse customer feedback to assess needs and expectations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Understanding Customers &amp; Customer Service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Who customers are · what service is · who provides it · the service-profit chain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LU1 · K1 · 40 min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Topic 1 — Key Concepts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Service is every interaction</a:t>
            </a:r>
          </a:p>
          <a:p>
            <a:pPr algn="l">
              <a:spcAft>
                <a:spcPts val="300"/>
              </a:spcAft>
            </a:pPr>
            <a:r>
              <a:rPr sz="1100" b="0">
                <a:solidFill>
                  <a:srgbClr val="5B6372"/>
                </a:solidFill>
                <a:latin typeface="Arial"/>
              </a:rPr>
              <a:t>Customer service is the whole of the support a customer receives before, during and after a purchase — not just the complaint desk.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External and internal customers</a:t>
            </a:r>
          </a:p>
          <a:p>
            <a:pPr algn="l">
              <a:spcAft>
                <a:spcPts val="300"/>
              </a:spcAft>
            </a:pPr>
            <a:r>
              <a:rPr sz="1100" b="0">
                <a:solidFill>
                  <a:srgbClr val="5B6372"/>
                </a:solidFill>
                <a:latin typeface="Arial"/>
              </a:rPr>
              <a:t>External customers buy from you; internal customers are colleagues who depend on your output. Both are served.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Service quality is a chain</a:t>
            </a:r>
          </a:p>
          <a:p>
            <a:pPr algn="l">
              <a:spcAft>
                <a:spcPts val="300"/>
              </a:spcAft>
            </a:pPr>
            <a:r>
              <a:rPr sz="1100" b="0">
                <a:solidFill>
                  <a:srgbClr val="5B6372"/>
                </a:solidFill>
                <a:latin typeface="Arial"/>
              </a:rPr>
              <a:t>Internal support enables frontline delivery, which shapes customer experience, which drives loyalty and revenue.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Service is a growth centre</a:t>
            </a:r>
          </a:p>
          <a:p>
            <a:pPr algn="l">
              <a:spcAft>
                <a:spcPts val="300"/>
              </a:spcAft>
            </a:pPr>
            <a:r>
              <a:rPr sz="1100" b="0">
                <a:solidFill>
                  <a:srgbClr val="5B6372"/>
                </a:solidFill>
                <a:latin typeface="Arial"/>
              </a:rPr>
              <a:t>Help Scout: great service is a growth centre, not a cost centre — retention, referral and lifetime value all flow from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cost of getting it wrong</a:t>
            </a:r>
          </a:p>
          <a:p>
            <a:pPr algn="l">
              <a:spcAft>
                <a:spcPts val="300"/>
              </a:spcAft>
            </a:pPr>
            <a:r>
              <a:rPr sz="1100" b="0">
                <a:solidFill>
                  <a:srgbClr val="5B6372"/>
                </a:solidFill>
                <a:latin typeface="Arial"/>
              </a:rPr>
              <a:t>86% of customers stop buying after poor experiences; US firms lose over US$62 billion a year to bad service (Help Scout).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Four principles of good service</a:t>
            </a:r>
          </a:p>
          <a:p>
            <a:pPr algn="l">
              <a:spcAft>
                <a:spcPts val="300"/>
              </a:spcAft>
            </a:pPr>
            <a:r>
              <a:rPr sz="1100" b="0">
                <a:solidFill>
                  <a:srgbClr val="5B6372"/>
                </a:solidFill>
                <a:latin typeface="Arial"/>
              </a:rPr>
              <a:t>Help Scout: service must be personalised, competent, convenient and proactive — all four, or the experience breaks.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FULL SERVICE LIFECYCLE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What Customer Service Actually Covers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487168" cy="3566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3566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6"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527048" y="1911095"/>
            <a:ext cx="1618488" cy="548640"/>
          </a:xfrm>
          <a:prstGeom prst="rect">
            <a:avLst/>
          </a:prstGeom>
          <a:noFill/>
        </p:spPr>
        <p:txBody>
          <a:bodyPr wrap="square" anchor="t">
            <a:spAutoFit/>
          </a:bodyPr>
          <a:lstStyle/>
          <a:p>
            <a:pPr algn="l">
              <a:spcAft>
                <a:spcPts val="400"/>
              </a:spcAft>
            </a:pPr>
            <a:r>
              <a:rPr sz="1350" b="1">
                <a:solidFill>
                  <a:srgbClr val="1F6FEB"/>
                </a:solidFill>
                <a:latin typeface="Arial"/>
              </a:rPr>
              <a:t>BEFORE</a:t>
            </a:r>
          </a:p>
        </p:txBody>
      </p:sp>
      <p:sp>
        <p:nvSpPr>
          <p:cNvPr id="12" name="TextBox 11"/>
          <p:cNvSpPr txBox="1"/>
          <p:nvPr/>
        </p:nvSpPr>
        <p:spPr>
          <a:xfrm>
            <a:off x="1033272" y="2542032"/>
            <a:ext cx="1993392" cy="2651760"/>
          </a:xfrm>
          <a:prstGeom prst="rect">
            <a:avLst/>
          </a:prstGeom>
          <a:noFill/>
        </p:spPr>
        <p:txBody>
          <a:bodyPr wrap="square" anchor="t">
            <a:spAutoFit/>
          </a:bodyPr>
          <a:lstStyle/>
          <a:p>
            <a:pPr algn="l">
              <a:spcAft>
                <a:spcPts val="400"/>
              </a:spcAft>
            </a:pPr>
            <a:r>
              <a:rPr sz="1150" b="0">
                <a:solidFill>
                  <a:srgbClr val="161B26"/>
                </a:solidFill>
                <a:latin typeface="Arial"/>
              </a:rPr>
              <a:t>Pre-sales questions, product advice, quotations, expectation setting. Service starts before any money changes hands.</a:t>
            </a:r>
          </a:p>
        </p:txBody>
      </p:sp>
      <p:sp>
        <p:nvSpPr>
          <p:cNvPr id="13" name="Rectangle 12"/>
          <p:cNvSpPr/>
          <p:nvPr/>
        </p:nvSpPr>
        <p:spPr>
          <a:xfrm>
            <a:off x="3520440" y="1783080"/>
            <a:ext cx="2487168" cy="3566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783080"/>
            <a:ext cx="82296" cy="3566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739896"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39896"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4270248" y="1911095"/>
            <a:ext cx="1618488" cy="548640"/>
          </a:xfrm>
          <a:prstGeom prst="rect">
            <a:avLst/>
          </a:prstGeom>
          <a:noFill/>
        </p:spPr>
        <p:txBody>
          <a:bodyPr wrap="square" anchor="t">
            <a:spAutoFit/>
          </a:bodyPr>
          <a:lstStyle/>
          <a:p>
            <a:pPr algn="l">
              <a:spcAft>
                <a:spcPts val="400"/>
              </a:spcAft>
            </a:pPr>
            <a:r>
              <a:rPr sz="1350" b="1">
                <a:solidFill>
                  <a:srgbClr val="10B981"/>
                </a:solidFill>
                <a:latin typeface="Arial"/>
              </a:rPr>
              <a:t>DURING</a:t>
            </a:r>
          </a:p>
        </p:txBody>
      </p:sp>
      <p:sp>
        <p:nvSpPr>
          <p:cNvPr id="18" name="TextBox 17"/>
          <p:cNvSpPr txBox="1"/>
          <p:nvPr/>
        </p:nvSpPr>
        <p:spPr>
          <a:xfrm>
            <a:off x="3776472" y="2542032"/>
            <a:ext cx="1993392" cy="2651760"/>
          </a:xfrm>
          <a:prstGeom prst="rect">
            <a:avLst/>
          </a:prstGeom>
          <a:noFill/>
        </p:spPr>
        <p:txBody>
          <a:bodyPr wrap="square" anchor="t">
            <a:spAutoFit/>
          </a:bodyPr>
          <a:lstStyle/>
          <a:p>
            <a:pPr algn="l">
              <a:spcAft>
                <a:spcPts val="400"/>
              </a:spcAft>
            </a:pPr>
            <a:r>
              <a:rPr sz="1150" b="0">
                <a:solidFill>
                  <a:srgbClr val="161B26"/>
                </a:solidFill>
                <a:latin typeface="Arial"/>
              </a:rPr>
              <a:t>The transaction itself — ordering, payment, delivery, installation, onboarding.</a:t>
            </a:r>
          </a:p>
        </p:txBody>
      </p:sp>
      <p:sp>
        <p:nvSpPr>
          <p:cNvPr id="19" name="Rectangle 18"/>
          <p:cNvSpPr/>
          <p:nvPr/>
        </p:nvSpPr>
        <p:spPr>
          <a:xfrm>
            <a:off x="6263640" y="1783080"/>
            <a:ext cx="2487168" cy="3566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1783080"/>
            <a:ext cx="82296" cy="3566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83096"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83096"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7013448" y="1911095"/>
            <a:ext cx="1618488" cy="548640"/>
          </a:xfrm>
          <a:prstGeom prst="rect">
            <a:avLst/>
          </a:prstGeom>
          <a:noFill/>
        </p:spPr>
        <p:txBody>
          <a:bodyPr wrap="square" anchor="t">
            <a:spAutoFit/>
          </a:bodyPr>
          <a:lstStyle/>
          <a:p>
            <a:pPr algn="l">
              <a:spcAft>
                <a:spcPts val="400"/>
              </a:spcAft>
            </a:pPr>
            <a:r>
              <a:rPr sz="1350" b="1">
                <a:solidFill>
                  <a:srgbClr val="7C3AED"/>
                </a:solidFill>
                <a:latin typeface="Arial"/>
              </a:rPr>
              <a:t>AFTER</a:t>
            </a:r>
          </a:p>
        </p:txBody>
      </p:sp>
      <p:sp>
        <p:nvSpPr>
          <p:cNvPr id="24" name="TextBox 23"/>
          <p:cNvSpPr txBox="1"/>
          <p:nvPr/>
        </p:nvSpPr>
        <p:spPr>
          <a:xfrm>
            <a:off x="6519672" y="2542032"/>
            <a:ext cx="1993392" cy="2651760"/>
          </a:xfrm>
          <a:prstGeom prst="rect">
            <a:avLst/>
          </a:prstGeom>
          <a:noFill/>
        </p:spPr>
        <p:txBody>
          <a:bodyPr wrap="square" anchor="t">
            <a:spAutoFit/>
          </a:bodyPr>
          <a:lstStyle/>
          <a:p>
            <a:pPr algn="l">
              <a:spcAft>
                <a:spcPts val="400"/>
              </a:spcAft>
            </a:pPr>
            <a:r>
              <a:rPr sz="1150" b="0">
                <a:solidFill>
                  <a:srgbClr val="161B26"/>
                </a:solidFill>
                <a:latin typeface="Arial"/>
              </a:rPr>
              <a:t>Support, returns, complaints, follow-up, renewal. Most loyalty is won or lost here.</a:t>
            </a:r>
          </a:p>
        </p:txBody>
      </p:sp>
      <p:sp>
        <p:nvSpPr>
          <p:cNvPr id="25" name="Rectangle 24"/>
          <p:cNvSpPr/>
          <p:nvPr/>
        </p:nvSpPr>
        <p:spPr>
          <a:xfrm>
            <a:off x="9006840" y="1783080"/>
            <a:ext cx="2487168" cy="3566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06840" y="1783080"/>
            <a:ext cx="82296" cy="3566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226296" y="19659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26296"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9" name="TextBox 28"/>
          <p:cNvSpPr txBox="1"/>
          <p:nvPr/>
        </p:nvSpPr>
        <p:spPr>
          <a:xfrm>
            <a:off x="9756648" y="1911095"/>
            <a:ext cx="1618488" cy="548640"/>
          </a:xfrm>
          <a:prstGeom prst="rect">
            <a:avLst/>
          </a:prstGeom>
          <a:noFill/>
        </p:spPr>
        <p:txBody>
          <a:bodyPr wrap="square" anchor="t">
            <a:spAutoFit/>
          </a:bodyPr>
          <a:lstStyle/>
          <a:p>
            <a:pPr algn="l">
              <a:spcAft>
                <a:spcPts val="400"/>
              </a:spcAft>
            </a:pPr>
            <a:r>
              <a:rPr sz="1350" b="1">
                <a:solidFill>
                  <a:srgbClr val="F59E0B"/>
                </a:solidFill>
                <a:latin typeface="Arial"/>
              </a:rPr>
              <a:t>BETWEEN</a:t>
            </a:r>
          </a:p>
        </p:txBody>
      </p:sp>
      <p:sp>
        <p:nvSpPr>
          <p:cNvPr id="30" name="TextBox 29"/>
          <p:cNvSpPr txBox="1"/>
          <p:nvPr/>
        </p:nvSpPr>
        <p:spPr>
          <a:xfrm>
            <a:off x="9262872" y="2542032"/>
            <a:ext cx="1993392" cy="2651760"/>
          </a:xfrm>
          <a:prstGeom prst="rect">
            <a:avLst/>
          </a:prstGeom>
          <a:noFill/>
        </p:spPr>
        <p:txBody>
          <a:bodyPr wrap="square" anchor="t">
            <a:spAutoFit/>
          </a:bodyPr>
          <a:lstStyle/>
          <a:p>
            <a:pPr algn="l">
              <a:spcAft>
                <a:spcPts val="400"/>
              </a:spcAft>
            </a:pPr>
            <a:r>
              <a:rPr sz="1150" b="0">
                <a:solidFill>
                  <a:srgbClr val="161B26"/>
                </a:solidFill>
                <a:latin typeface="Arial"/>
              </a:rPr>
              <a:t>Proactive contact when nothing is wrong: updates, check-ins, warnings about issues before they bite.</a:t>
            </a:r>
          </a:p>
        </p:txBody>
      </p:sp>
      <p:sp>
        <p:nvSpPr>
          <p:cNvPr id="31" name="Rectangle 30"/>
          <p:cNvSpPr/>
          <p:nvPr/>
        </p:nvSpPr>
        <p:spPr>
          <a:xfrm>
            <a:off x="777240" y="553212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5532120"/>
            <a:ext cx="10195560" cy="822960"/>
          </a:xfrm>
          <a:prstGeom prst="rect">
            <a:avLst/>
          </a:prstGeom>
          <a:noFill/>
        </p:spPr>
        <p:txBody>
          <a:bodyPr wrap="square" anchor="ctr">
            <a:spAutoFit/>
          </a:bodyPr>
          <a:lstStyle/>
          <a:p>
            <a:pPr algn="l">
              <a:spcAft>
                <a:spcPts val="400"/>
              </a:spcAft>
            </a:pPr>
            <a:r>
              <a:rPr sz="1250" b="0">
                <a:solidFill>
                  <a:srgbClr val="161B26"/>
                </a:solidFill>
                <a:latin typeface="Arial"/>
              </a:rPr>
              <a:t>Most organisations resource the middle column well and the last two poorly — which is precisely where retention is decided.</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WHO YOU SERVE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External and Internal Customers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30368" cy="393192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30368" cy="38404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783080"/>
            <a:ext cx="4754880" cy="384048"/>
          </a:xfrm>
          <a:prstGeom prst="rect">
            <a:avLst/>
          </a:prstGeom>
          <a:noFill/>
        </p:spPr>
        <p:txBody>
          <a:bodyPr wrap="square" anchor="ctr">
            <a:spAutoFit/>
          </a:bodyPr>
          <a:lstStyle/>
          <a:p>
            <a:pPr algn="l">
              <a:spcAft>
                <a:spcPts val="400"/>
              </a:spcAft>
            </a:pPr>
            <a:r>
              <a:rPr sz="1350" b="1">
                <a:solidFill>
                  <a:srgbClr val="FFFFFF"/>
                </a:solidFill>
                <a:latin typeface="Arial"/>
              </a:rPr>
              <a:t>EXTERNAL CUSTOMERS</a:t>
            </a:r>
          </a:p>
        </p:txBody>
      </p:sp>
      <p:sp>
        <p:nvSpPr>
          <p:cNvPr id="10" name="Rectangle 9"/>
          <p:cNvSpPr/>
          <p:nvPr/>
        </p:nvSpPr>
        <p:spPr>
          <a:xfrm>
            <a:off x="6181344" y="1783080"/>
            <a:ext cx="5230368" cy="39319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81344" y="1783080"/>
            <a:ext cx="5230368" cy="38404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9944" y="1783080"/>
            <a:ext cx="4754880" cy="384048"/>
          </a:xfrm>
          <a:prstGeom prst="rect">
            <a:avLst/>
          </a:prstGeom>
          <a:noFill/>
        </p:spPr>
        <p:txBody>
          <a:bodyPr wrap="square" anchor="ctr">
            <a:spAutoFit/>
          </a:bodyPr>
          <a:lstStyle/>
          <a:p>
            <a:pPr algn="l">
              <a:spcAft>
                <a:spcPts val="400"/>
              </a:spcAft>
            </a:pPr>
            <a:r>
              <a:rPr sz="1350" b="1">
                <a:solidFill>
                  <a:srgbClr val="FFFFFF"/>
                </a:solidFill>
                <a:latin typeface="Arial"/>
              </a:rPr>
              <a:t>INTERNAL CUSTOMERS</a:t>
            </a:r>
          </a:p>
        </p:txBody>
      </p:sp>
      <p:sp>
        <p:nvSpPr>
          <p:cNvPr id="13" name="TextBox 12"/>
          <p:cNvSpPr txBox="1"/>
          <p:nvPr/>
        </p:nvSpPr>
        <p:spPr>
          <a:xfrm>
            <a:off x="1005840" y="2331720"/>
            <a:ext cx="4800600" cy="3246120"/>
          </a:xfrm>
          <a:prstGeom prst="rect">
            <a:avLst/>
          </a:prstGeom>
          <a:noFill/>
        </p:spPr>
        <p:txBody>
          <a:bodyPr wrap="square">
            <a:spAutoFit/>
          </a:bodyPr>
          <a:lstStyle/>
          <a:p>
            <a:pPr>
              <a:spcAft>
                <a:spcPts val="900"/>
              </a:spcAft>
            </a:pPr>
            <a:r>
              <a:rPr sz="1300" b="0">
                <a:solidFill>
                  <a:srgbClr val="161B26"/>
                </a:solidFill>
                <a:latin typeface="Arial"/>
              </a:rPr>
              <a:t>•  Buy your product or service and generate revenue.</a:t>
            </a:r>
          </a:p>
          <a:p>
            <a:pPr>
              <a:spcAft>
                <a:spcPts val="900"/>
              </a:spcAft>
            </a:pPr>
            <a:r>
              <a:rPr sz="1300" b="0">
                <a:solidFill>
                  <a:srgbClr val="161B26"/>
                </a:solidFill>
                <a:latin typeface="Arial"/>
              </a:rPr>
              <a:t>•  Judge you on the outcome AND on how they were treated.</a:t>
            </a:r>
          </a:p>
          <a:p>
            <a:pPr>
              <a:spcAft>
                <a:spcPts val="900"/>
              </a:spcAft>
            </a:pPr>
            <a:r>
              <a:rPr sz="1300" b="0">
                <a:solidFill>
                  <a:srgbClr val="161B26"/>
                </a:solidFill>
                <a:latin typeface="Arial"/>
              </a:rPr>
              <a:t>•  Can leave — and mostly leave silently, without complaining.</a:t>
            </a:r>
          </a:p>
          <a:p>
            <a:pPr>
              <a:spcAft>
                <a:spcPts val="900"/>
              </a:spcAft>
            </a:pPr>
            <a:r>
              <a:rPr sz="1300" b="0">
                <a:solidFill>
                  <a:srgbClr val="161B26"/>
                </a:solidFill>
                <a:latin typeface="Arial"/>
              </a:rPr>
              <a:t>•  Their experience is shaped by people they never meet.</a:t>
            </a:r>
          </a:p>
        </p:txBody>
      </p:sp>
      <p:sp>
        <p:nvSpPr>
          <p:cNvPr id="14" name="TextBox 13"/>
          <p:cNvSpPr txBox="1"/>
          <p:nvPr/>
        </p:nvSpPr>
        <p:spPr>
          <a:xfrm>
            <a:off x="6409944" y="2331720"/>
            <a:ext cx="4800600" cy="3246120"/>
          </a:xfrm>
          <a:prstGeom prst="rect">
            <a:avLst/>
          </a:prstGeom>
          <a:noFill/>
        </p:spPr>
        <p:txBody>
          <a:bodyPr wrap="square">
            <a:spAutoFit/>
          </a:bodyPr>
          <a:lstStyle/>
          <a:p>
            <a:pPr>
              <a:spcAft>
                <a:spcPts val="900"/>
              </a:spcAft>
            </a:pPr>
            <a:r>
              <a:rPr sz="1300" b="0">
                <a:solidFill>
                  <a:srgbClr val="161B26"/>
                </a:solidFill>
                <a:latin typeface="Arial"/>
              </a:rPr>
              <a:t>•  Colleagues and departments who depend on your output.</a:t>
            </a:r>
          </a:p>
          <a:p>
            <a:pPr>
              <a:spcAft>
                <a:spcPts val="900"/>
              </a:spcAft>
            </a:pPr>
            <a:r>
              <a:rPr sz="1300" b="0">
                <a:solidFill>
                  <a:srgbClr val="161B26"/>
                </a:solidFill>
                <a:latin typeface="Arial"/>
              </a:rPr>
              <a:t>•  Cannot leave — so dissatisfaction shows up as friction, not churn.</a:t>
            </a:r>
          </a:p>
          <a:p>
            <a:pPr>
              <a:spcAft>
                <a:spcPts val="900"/>
              </a:spcAft>
            </a:pPr>
            <a:r>
              <a:rPr sz="1300" b="0">
                <a:solidFill>
                  <a:srgbClr val="161B26"/>
                </a:solidFill>
                <a:latin typeface="Arial"/>
              </a:rPr>
              <a:t>•  Enable (or block) the frontline's ability to serve.</a:t>
            </a:r>
          </a:p>
          <a:p>
            <a:pPr>
              <a:spcAft>
                <a:spcPts val="900"/>
              </a:spcAft>
            </a:pPr>
            <a:r>
              <a:rPr sz="1300" b="0">
                <a:solidFill>
                  <a:srgbClr val="161B26"/>
                </a:solidFill>
                <a:latin typeface="Arial"/>
              </a:rPr>
              <a:t>•  Treated as customers, they make external service possible.</a:t>
            </a:r>
          </a:p>
        </p:txBody>
      </p:sp>
      <p:sp>
        <p:nvSpPr>
          <p:cNvPr id="15" name="Rectangle 14"/>
          <p:cNvSpPr/>
          <p:nvPr/>
        </p:nvSpPr>
        <p:spPr>
          <a:xfrm>
            <a:off x="777240" y="580644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806440"/>
            <a:ext cx="10195560" cy="566928"/>
          </a:xfrm>
          <a:prstGeom prst="rect">
            <a:avLst/>
          </a:prstGeom>
          <a:noFill/>
        </p:spPr>
        <p:txBody>
          <a:bodyPr wrap="square" anchor="ctr">
            <a:spAutoFit/>
          </a:bodyPr>
          <a:lstStyle/>
          <a:p>
            <a:pPr algn="l">
              <a:spcAft>
                <a:spcPts val="400"/>
              </a:spcAft>
            </a:pPr>
            <a:r>
              <a:rPr sz="1250" b="0">
                <a:solidFill>
                  <a:srgbClr val="161B26"/>
                </a:solidFill>
                <a:latin typeface="Arial"/>
              </a:rPr>
              <a:t>The rule that runs through this whole course: excellent external service always begins with strong internal service.</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SERVICE CHAIN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How Service Quality Actually Flows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ervice_chain.png"/>
          <p:cNvPicPr>
            <a:picLocks noChangeAspect="1"/>
          </p:cNvPicPr>
          <p:nvPr/>
        </p:nvPicPr>
        <p:blipFill>
          <a:blip r:embed="rId2"/>
          <a:stretch>
            <a:fillRect/>
          </a:stretch>
        </p:blipFill>
        <p:spPr>
          <a:xfrm>
            <a:off x="777240" y="2770873"/>
            <a:ext cx="6400800" cy="2367814"/>
          </a:xfrm>
          <a:prstGeom prst="rect">
            <a:avLst/>
          </a:prstGeom>
        </p:spPr>
      </p:pic>
      <p:sp>
        <p:nvSpPr>
          <p:cNvPr id="8" name="Rectangle 7"/>
          <p:cNvSpPr/>
          <p:nvPr/>
        </p:nvSpPr>
        <p:spPr>
          <a:xfrm>
            <a:off x="7498080" y="178308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8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54112" y="1783080"/>
            <a:ext cx="3456432" cy="948690"/>
          </a:xfrm>
          <a:prstGeom prst="rect">
            <a:avLst/>
          </a:prstGeom>
          <a:noFill/>
        </p:spPr>
        <p:txBody>
          <a:bodyPr wrap="square" anchor="ctr">
            <a:spAutoFit/>
          </a:bodyPr>
          <a:lstStyle/>
          <a:p>
            <a:pPr algn="l">
              <a:spcAft>
                <a:spcPts val="200"/>
              </a:spcAft>
            </a:pPr>
            <a:r>
              <a:rPr sz="1400" b="1">
                <a:solidFill>
                  <a:srgbClr val="1F6FEB"/>
                </a:solidFill>
                <a:latin typeface="Arial"/>
              </a:rPr>
              <a:t>Support enables delivery</a:t>
            </a:r>
          </a:p>
          <a:p>
            <a:pPr algn="l">
              <a:spcAft>
                <a:spcPts val="200"/>
              </a:spcAft>
            </a:pPr>
            <a:r>
              <a:rPr sz="1200" b="0">
                <a:solidFill>
                  <a:srgbClr val="161B26"/>
                </a:solidFill>
                <a:latin typeface="Arial"/>
              </a:rPr>
              <a:t>IT, HR and operations decide what the frontline is even able to offer.</a:t>
            </a:r>
          </a:p>
        </p:txBody>
      </p:sp>
      <p:sp>
        <p:nvSpPr>
          <p:cNvPr id="11" name="Rectangle 10"/>
          <p:cNvSpPr/>
          <p:nvPr/>
        </p:nvSpPr>
        <p:spPr>
          <a:xfrm>
            <a:off x="7498080" y="291465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54112" y="2914650"/>
            <a:ext cx="3456432" cy="948690"/>
          </a:xfrm>
          <a:prstGeom prst="rect">
            <a:avLst/>
          </a:prstGeom>
          <a:noFill/>
        </p:spPr>
        <p:txBody>
          <a:bodyPr wrap="square" anchor="ctr">
            <a:spAutoFit/>
          </a:bodyPr>
          <a:lstStyle/>
          <a:p>
            <a:pPr algn="l">
              <a:spcAft>
                <a:spcPts val="200"/>
              </a:spcAft>
            </a:pPr>
            <a:r>
              <a:rPr sz="1400" b="1">
                <a:solidFill>
                  <a:srgbClr val="10B981"/>
                </a:solidFill>
                <a:latin typeface="Arial"/>
              </a:rPr>
              <a:t>Delivery shapes perception</a:t>
            </a:r>
          </a:p>
          <a:p>
            <a:pPr algn="l">
              <a:spcAft>
                <a:spcPts val="200"/>
              </a:spcAft>
            </a:pPr>
            <a:r>
              <a:rPr sz="1200" b="0">
                <a:solidFill>
                  <a:srgbClr val="161B26"/>
                </a:solidFill>
                <a:latin typeface="Arial"/>
              </a:rPr>
              <a:t>The customer only ever sees the last link — so that is where blame lands.</a:t>
            </a:r>
          </a:p>
        </p:txBody>
      </p:sp>
      <p:sp>
        <p:nvSpPr>
          <p:cNvPr id="14" name="Rectangle 13"/>
          <p:cNvSpPr/>
          <p:nvPr/>
        </p:nvSpPr>
        <p:spPr>
          <a:xfrm>
            <a:off x="7498080" y="404622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9808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54112" y="4046220"/>
            <a:ext cx="3456432" cy="948690"/>
          </a:xfrm>
          <a:prstGeom prst="rect">
            <a:avLst/>
          </a:prstGeom>
          <a:noFill/>
        </p:spPr>
        <p:txBody>
          <a:bodyPr wrap="square" anchor="ctr">
            <a:spAutoFit/>
          </a:bodyPr>
          <a:lstStyle/>
          <a:p>
            <a:pPr algn="l">
              <a:spcAft>
                <a:spcPts val="200"/>
              </a:spcAft>
            </a:pPr>
            <a:r>
              <a:rPr sz="1400" b="1">
                <a:solidFill>
                  <a:srgbClr val="7C3AED"/>
                </a:solidFill>
                <a:latin typeface="Arial"/>
              </a:rPr>
              <a:t>Perception drives loyalty</a:t>
            </a:r>
          </a:p>
          <a:p>
            <a:pPr algn="l">
              <a:spcAft>
                <a:spcPts val="200"/>
              </a:spcAft>
            </a:pPr>
            <a:r>
              <a:rPr sz="1200" b="0">
                <a:solidFill>
                  <a:srgbClr val="161B26"/>
                </a:solidFill>
                <a:latin typeface="Arial"/>
              </a:rPr>
              <a:t>Loyalty and referral are downstream of experience, not of product quality alone.</a:t>
            </a:r>
          </a:p>
        </p:txBody>
      </p:sp>
      <p:sp>
        <p:nvSpPr>
          <p:cNvPr id="17" name="Rectangle 16"/>
          <p:cNvSpPr/>
          <p:nvPr/>
        </p:nvSpPr>
        <p:spPr>
          <a:xfrm>
            <a:off x="7498080" y="517779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9808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54112" y="5177790"/>
            <a:ext cx="3456432" cy="948690"/>
          </a:xfrm>
          <a:prstGeom prst="rect">
            <a:avLst/>
          </a:prstGeom>
          <a:noFill/>
        </p:spPr>
        <p:txBody>
          <a:bodyPr wrap="square" anchor="ctr">
            <a:spAutoFit/>
          </a:bodyPr>
          <a:lstStyle/>
          <a:p>
            <a:pPr algn="l">
              <a:spcAft>
                <a:spcPts val="200"/>
              </a:spcAft>
            </a:pPr>
            <a:r>
              <a:rPr sz="1400" b="1">
                <a:solidFill>
                  <a:srgbClr val="F59E0B"/>
                </a:solidFill>
                <a:latin typeface="Arial"/>
              </a:rPr>
              <a:t>Break one link, break the chain</a:t>
            </a:r>
          </a:p>
          <a:p>
            <a:pPr algn="l">
              <a:spcAft>
                <a:spcPts val="200"/>
              </a:spcAft>
            </a:pPr>
            <a:r>
              <a:rPr sz="1200" b="0">
                <a:solidFill>
                  <a:srgbClr val="161B26"/>
                </a:solidFill>
                <a:latin typeface="Arial"/>
              </a:rPr>
              <a:t>A failure anywhere upstream surfaces as a frontline service failure.</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HELP SCOUT'S FOUR PRINCIPLES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Four Principles of Good Service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487168" cy="3566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3566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6"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527048" y="1911095"/>
            <a:ext cx="1618488" cy="548640"/>
          </a:xfrm>
          <a:prstGeom prst="rect">
            <a:avLst/>
          </a:prstGeom>
          <a:noFill/>
        </p:spPr>
        <p:txBody>
          <a:bodyPr wrap="square" anchor="t">
            <a:spAutoFit/>
          </a:bodyPr>
          <a:lstStyle/>
          <a:p>
            <a:pPr algn="l">
              <a:spcAft>
                <a:spcPts val="400"/>
              </a:spcAft>
            </a:pPr>
            <a:r>
              <a:rPr sz="1350" b="1">
                <a:solidFill>
                  <a:srgbClr val="1F6FEB"/>
                </a:solidFill>
                <a:latin typeface="Arial"/>
              </a:rPr>
              <a:t>PERSONALISED</a:t>
            </a:r>
          </a:p>
        </p:txBody>
      </p:sp>
      <p:sp>
        <p:nvSpPr>
          <p:cNvPr id="12" name="TextBox 11"/>
          <p:cNvSpPr txBox="1"/>
          <p:nvPr/>
        </p:nvSpPr>
        <p:spPr>
          <a:xfrm>
            <a:off x="1033272" y="2542032"/>
            <a:ext cx="1993392" cy="2651760"/>
          </a:xfrm>
          <a:prstGeom prst="rect">
            <a:avLst/>
          </a:prstGeom>
          <a:noFill/>
        </p:spPr>
        <p:txBody>
          <a:bodyPr wrap="square" anchor="t">
            <a:spAutoFit/>
          </a:bodyPr>
          <a:lstStyle/>
          <a:p>
            <a:pPr algn="l">
              <a:spcAft>
                <a:spcPts val="400"/>
              </a:spcAft>
            </a:pPr>
            <a:r>
              <a:rPr sz="1150" b="0">
                <a:solidFill>
                  <a:srgbClr val="161B26"/>
                </a:solidFill>
                <a:latin typeface="Arial"/>
              </a:rPr>
              <a:t>A human interaction that shows the organisation actually cares about this specific customer.</a:t>
            </a:r>
          </a:p>
        </p:txBody>
      </p:sp>
      <p:sp>
        <p:nvSpPr>
          <p:cNvPr id="13" name="Rectangle 12"/>
          <p:cNvSpPr/>
          <p:nvPr/>
        </p:nvSpPr>
        <p:spPr>
          <a:xfrm>
            <a:off x="3520440" y="1783080"/>
            <a:ext cx="2487168" cy="3566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783080"/>
            <a:ext cx="82296" cy="3566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739896"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39896"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4270248" y="1911095"/>
            <a:ext cx="1618488" cy="548640"/>
          </a:xfrm>
          <a:prstGeom prst="rect">
            <a:avLst/>
          </a:prstGeom>
          <a:noFill/>
        </p:spPr>
        <p:txBody>
          <a:bodyPr wrap="square" anchor="t">
            <a:spAutoFit/>
          </a:bodyPr>
          <a:lstStyle/>
          <a:p>
            <a:pPr algn="l">
              <a:spcAft>
                <a:spcPts val="400"/>
              </a:spcAft>
            </a:pPr>
            <a:r>
              <a:rPr sz="1350" b="1">
                <a:solidFill>
                  <a:srgbClr val="10B981"/>
                </a:solidFill>
                <a:latin typeface="Arial"/>
              </a:rPr>
              <a:t>COMPETENT</a:t>
            </a:r>
          </a:p>
        </p:txBody>
      </p:sp>
      <p:sp>
        <p:nvSpPr>
          <p:cNvPr id="18" name="TextBox 17"/>
          <p:cNvSpPr txBox="1"/>
          <p:nvPr/>
        </p:nvSpPr>
        <p:spPr>
          <a:xfrm>
            <a:off x="3776472" y="2542032"/>
            <a:ext cx="1993392" cy="2651760"/>
          </a:xfrm>
          <a:prstGeom prst="rect">
            <a:avLst/>
          </a:prstGeom>
          <a:noFill/>
        </p:spPr>
        <p:txBody>
          <a:bodyPr wrap="square" anchor="t">
            <a:spAutoFit/>
          </a:bodyPr>
          <a:lstStyle/>
          <a:p>
            <a:pPr algn="l">
              <a:spcAft>
                <a:spcPts val="400"/>
              </a:spcAft>
            </a:pPr>
            <a:r>
              <a:rPr sz="1150" b="0">
                <a:solidFill>
                  <a:srgbClr val="161B26"/>
                </a:solidFill>
                <a:latin typeface="Arial"/>
              </a:rPr>
              <a:t>Strong product knowledge PLUS the authority to act on it. Knowledge without authority frustrates everyone.</a:t>
            </a:r>
          </a:p>
        </p:txBody>
      </p:sp>
      <p:sp>
        <p:nvSpPr>
          <p:cNvPr id="19" name="Rectangle 18"/>
          <p:cNvSpPr/>
          <p:nvPr/>
        </p:nvSpPr>
        <p:spPr>
          <a:xfrm>
            <a:off x="6263640" y="1783080"/>
            <a:ext cx="2487168" cy="3566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1783080"/>
            <a:ext cx="82296" cy="3566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83096"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83096"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7013448" y="1911095"/>
            <a:ext cx="1618488" cy="548640"/>
          </a:xfrm>
          <a:prstGeom prst="rect">
            <a:avLst/>
          </a:prstGeom>
          <a:noFill/>
        </p:spPr>
        <p:txBody>
          <a:bodyPr wrap="square" anchor="t">
            <a:spAutoFit/>
          </a:bodyPr>
          <a:lstStyle/>
          <a:p>
            <a:pPr algn="l">
              <a:spcAft>
                <a:spcPts val="400"/>
              </a:spcAft>
            </a:pPr>
            <a:r>
              <a:rPr sz="1350" b="1">
                <a:solidFill>
                  <a:srgbClr val="7C3AED"/>
                </a:solidFill>
                <a:latin typeface="Arial"/>
              </a:rPr>
              <a:t>CONVENIENT</a:t>
            </a:r>
          </a:p>
        </p:txBody>
      </p:sp>
      <p:sp>
        <p:nvSpPr>
          <p:cNvPr id="24" name="TextBox 23"/>
          <p:cNvSpPr txBox="1"/>
          <p:nvPr/>
        </p:nvSpPr>
        <p:spPr>
          <a:xfrm>
            <a:off x="6519672" y="2542032"/>
            <a:ext cx="1993392" cy="2651760"/>
          </a:xfrm>
          <a:prstGeom prst="rect">
            <a:avLst/>
          </a:prstGeom>
          <a:noFill/>
        </p:spPr>
        <p:txBody>
          <a:bodyPr wrap="square" anchor="t">
            <a:spAutoFit/>
          </a:bodyPr>
          <a:lstStyle/>
          <a:p>
            <a:pPr algn="l">
              <a:spcAft>
                <a:spcPts val="400"/>
              </a:spcAft>
            </a:pPr>
            <a:r>
              <a:rPr sz="1150" b="0">
                <a:solidFill>
                  <a:srgbClr val="161B26"/>
                </a:solidFill>
                <a:latin typeface="Arial"/>
              </a:rPr>
              <a:t>Available on the channel the customer prefers, not the one cheapest for you.</a:t>
            </a:r>
          </a:p>
        </p:txBody>
      </p:sp>
      <p:sp>
        <p:nvSpPr>
          <p:cNvPr id="25" name="Rectangle 24"/>
          <p:cNvSpPr/>
          <p:nvPr/>
        </p:nvSpPr>
        <p:spPr>
          <a:xfrm>
            <a:off x="9006840" y="1783080"/>
            <a:ext cx="2487168" cy="3566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06840" y="1783080"/>
            <a:ext cx="82296" cy="3566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226296" y="19659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26296"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9" name="TextBox 28"/>
          <p:cNvSpPr txBox="1"/>
          <p:nvPr/>
        </p:nvSpPr>
        <p:spPr>
          <a:xfrm>
            <a:off x="9756648" y="1911095"/>
            <a:ext cx="1618488" cy="548640"/>
          </a:xfrm>
          <a:prstGeom prst="rect">
            <a:avLst/>
          </a:prstGeom>
          <a:noFill/>
        </p:spPr>
        <p:txBody>
          <a:bodyPr wrap="square" anchor="t">
            <a:spAutoFit/>
          </a:bodyPr>
          <a:lstStyle/>
          <a:p>
            <a:pPr algn="l">
              <a:spcAft>
                <a:spcPts val="400"/>
              </a:spcAft>
            </a:pPr>
            <a:r>
              <a:rPr sz="1350" b="1">
                <a:solidFill>
                  <a:srgbClr val="F59E0B"/>
                </a:solidFill>
                <a:latin typeface="Arial"/>
              </a:rPr>
              <a:t>PROACTIVE</a:t>
            </a:r>
          </a:p>
        </p:txBody>
      </p:sp>
      <p:sp>
        <p:nvSpPr>
          <p:cNvPr id="30" name="TextBox 29"/>
          <p:cNvSpPr txBox="1"/>
          <p:nvPr/>
        </p:nvSpPr>
        <p:spPr>
          <a:xfrm>
            <a:off x="9262872" y="2542032"/>
            <a:ext cx="1993392" cy="2651760"/>
          </a:xfrm>
          <a:prstGeom prst="rect">
            <a:avLst/>
          </a:prstGeom>
          <a:noFill/>
        </p:spPr>
        <p:txBody>
          <a:bodyPr wrap="square" anchor="t">
            <a:spAutoFit/>
          </a:bodyPr>
          <a:lstStyle/>
          <a:p>
            <a:pPr algn="l">
              <a:spcAft>
                <a:spcPts val="400"/>
              </a:spcAft>
            </a:pPr>
            <a:r>
              <a:rPr sz="1150" b="0">
                <a:solidFill>
                  <a:srgbClr val="161B26"/>
                </a:solidFill>
                <a:latin typeface="Arial"/>
              </a:rPr>
              <a:t>You reach out about delays and issues before the customer has to ask.</a:t>
            </a:r>
          </a:p>
        </p:txBody>
      </p:sp>
      <p:sp>
        <p:nvSpPr>
          <p:cNvPr id="31" name="Rectangle 30"/>
          <p:cNvSpPr/>
          <p:nvPr/>
        </p:nvSpPr>
        <p:spPr>
          <a:xfrm>
            <a:off x="777240" y="553212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5532120"/>
            <a:ext cx="10195560" cy="822960"/>
          </a:xfrm>
          <a:prstGeom prst="rect">
            <a:avLst/>
          </a:prstGeom>
          <a:noFill/>
        </p:spPr>
        <p:txBody>
          <a:bodyPr wrap="square" anchor="ctr">
            <a:spAutoFit/>
          </a:bodyPr>
          <a:lstStyle/>
          <a:p>
            <a:pPr algn="l">
              <a:spcAft>
                <a:spcPts val="400"/>
              </a:spcAft>
            </a:pPr>
            <a:r>
              <a:rPr sz="1250" b="0">
                <a:solidFill>
                  <a:srgbClr val="161B26"/>
                </a:solidFill>
                <a:latin typeface="Arial"/>
              </a:rPr>
              <a:t>All four must hold. Personalised but incompetent is charming and useless; competent but inconvenient still loses the customer.</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WHY THE BUSINESS SHOULD CARE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Business Case for Service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etention_economics.png"/>
          <p:cNvPicPr>
            <a:picLocks noChangeAspect="1"/>
          </p:cNvPicPr>
          <p:nvPr/>
        </p:nvPicPr>
        <p:blipFill>
          <a:blip r:embed="rId2"/>
          <a:stretch>
            <a:fillRect/>
          </a:stretch>
        </p:blipFill>
        <p:spPr>
          <a:xfrm>
            <a:off x="777240" y="2695838"/>
            <a:ext cx="6583680" cy="2517883"/>
          </a:xfrm>
          <a:prstGeom prst="rect">
            <a:avLst/>
          </a:prstGeom>
        </p:spPr>
      </p:pic>
      <p:sp>
        <p:nvSpPr>
          <p:cNvPr id="8" name="Rectangle 7"/>
          <p:cNvSpPr/>
          <p:nvPr/>
        </p:nvSpPr>
        <p:spPr>
          <a:xfrm>
            <a:off x="7680960" y="1783080"/>
            <a:ext cx="373075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36992" y="1783080"/>
            <a:ext cx="3273552" cy="948690"/>
          </a:xfrm>
          <a:prstGeom prst="rect">
            <a:avLst/>
          </a:prstGeom>
          <a:noFill/>
        </p:spPr>
        <p:txBody>
          <a:bodyPr wrap="square" anchor="ctr">
            <a:spAutoFit/>
          </a:bodyPr>
          <a:lstStyle/>
          <a:p>
            <a:pPr algn="l">
              <a:spcAft>
                <a:spcPts val="200"/>
              </a:spcAft>
            </a:pPr>
            <a:r>
              <a:rPr sz="1400" b="1">
                <a:solidFill>
                  <a:srgbClr val="1F6FEB"/>
                </a:solidFill>
                <a:latin typeface="Arial"/>
              </a:rPr>
              <a:t>Acquisition costs ~5x</a:t>
            </a:r>
          </a:p>
          <a:p>
            <a:pPr algn="l">
              <a:spcAft>
                <a:spcPts val="200"/>
              </a:spcAft>
            </a:pPr>
            <a:r>
              <a:rPr sz="1200" b="0">
                <a:solidFill>
                  <a:srgbClr val="161B26"/>
                </a:solidFill>
                <a:latin typeface="Arial"/>
              </a:rPr>
              <a:t>Winning a replacement customer costs far more than keeping the one you have.</a:t>
            </a:r>
          </a:p>
        </p:txBody>
      </p:sp>
      <p:sp>
        <p:nvSpPr>
          <p:cNvPr id="11" name="Rectangle 10"/>
          <p:cNvSpPr/>
          <p:nvPr/>
        </p:nvSpPr>
        <p:spPr>
          <a:xfrm>
            <a:off x="7680960" y="2914650"/>
            <a:ext cx="373075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36992" y="2914650"/>
            <a:ext cx="3273552" cy="948690"/>
          </a:xfrm>
          <a:prstGeom prst="rect">
            <a:avLst/>
          </a:prstGeom>
          <a:noFill/>
        </p:spPr>
        <p:txBody>
          <a:bodyPr wrap="square" anchor="ctr">
            <a:spAutoFit/>
          </a:bodyPr>
          <a:lstStyle/>
          <a:p>
            <a:pPr algn="l">
              <a:spcAft>
                <a:spcPts val="200"/>
              </a:spcAft>
            </a:pPr>
            <a:r>
              <a:rPr sz="1400" b="1">
                <a:solidFill>
                  <a:srgbClr val="10B981"/>
                </a:solidFill>
                <a:latin typeface="Arial"/>
              </a:rPr>
              <a:t>Retention compounds</a:t>
            </a:r>
          </a:p>
          <a:p>
            <a:pPr algn="l">
              <a:spcAft>
                <a:spcPts val="200"/>
              </a:spcAft>
            </a:pPr>
            <a:r>
              <a:rPr sz="1200" b="0">
                <a:solidFill>
                  <a:srgbClr val="161B26"/>
                </a:solidFill>
                <a:latin typeface="Arial"/>
              </a:rPr>
              <a:t>A 5% retention improvement can move profit by 25–95% over time.</a:t>
            </a:r>
          </a:p>
        </p:txBody>
      </p:sp>
      <p:sp>
        <p:nvSpPr>
          <p:cNvPr id="14" name="Rectangle 13"/>
          <p:cNvSpPr/>
          <p:nvPr/>
        </p:nvSpPr>
        <p:spPr>
          <a:xfrm>
            <a:off x="7680960" y="4046220"/>
            <a:ext cx="373075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36992" y="4046220"/>
            <a:ext cx="3273552" cy="948690"/>
          </a:xfrm>
          <a:prstGeom prst="rect">
            <a:avLst/>
          </a:prstGeom>
          <a:noFill/>
        </p:spPr>
        <p:txBody>
          <a:bodyPr wrap="square" anchor="ctr">
            <a:spAutoFit/>
          </a:bodyPr>
          <a:lstStyle/>
          <a:p>
            <a:pPr algn="l">
              <a:spcAft>
                <a:spcPts val="200"/>
              </a:spcAft>
            </a:pPr>
            <a:r>
              <a:rPr sz="1400" b="1">
                <a:solidFill>
                  <a:srgbClr val="7C3AED"/>
                </a:solidFill>
                <a:latin typeface="Arial"/>
              </a:rPr>
              <a:t>Poor service drives churn</a:t>
            </a:r>
          </a:p>
          <a:p>
            <a:pPr algn="l">
              <a:spcAft>
                <a:spcPts val="200"/>
              </a:spcAft>
            </a:pPr>
            <a:r>
              <a:rPr sz="1200" b="0">
                <a:solidFill>
                  <a:srgbClr val="161B26"/>
                </a:solidFill>
                <a:latin typeface="Arial"/>
              </a:rPr>
              <a:t>86% of customers stop buying after poor experiences.</a:t>
            </a:r>
          </a:p>
        </p:txBody>
      </p:sp>
      <p:sp>
        <p:nvSpPr>
          <p:cNvPr id="17" name="Rectangle 16"/>
          <p:cNvSpPr/>
          <p:nvPr/>
        </p:nvSpPr>
        <p:spPr>
          <a:xfrm>
            <a:off x="7680960" y="5177790"/>
            <a:ext cx="373075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36992" y="5177790"/>
            <a:ext cx="3273552" cy="948690"/>
          </a:xfrm>
          <a:prstGeom prst="rect">
            <a:avLst/>
          </a:prstGeom>
          <a:noFill/>
        </p:spPr>
        <p:txBody>
          <a:bodyPr wrap="square" anchor="ctr">
            <a:spAutoFit/>
          </a:bodyPr>
          <a:lstStyle/>
          <a:p>
            <a:pPr algn="l">
              <a:spcAft>
                <a:spcPts val="200"/>
              </a:spcAft>
            </a:pPr>
            <a:r>
              <a:rPr sz="1400" b="1">
                <a:solidFill>
                  <a:srgbClr val="F59E0B"/>
                </a:solidFill>
                <a:latin typeface="Arial"/>
              </a:rPr>
              <a:t>Service is a growth centre</a:t>
            </a:r>
          </a:p>
          <a:p>
            <a:pPr algn="l">
              <a:spcAft>
                <a:spcPts val="200"/>
              </a:spcAft>
            </a:pPr>
            <a:r>
              <a:rPr sz="1200" b="0">
                <a:solidFill>
                  <a:srgbClr val="161B26"/>
                </a:solidFill>
                <a:latin typeface="Arial"/>
              </a:rPr>
              <a:t>Not a cost centre — the framing decides whether it gets resourced.</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SERVICE PROVIDERS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Who Delivers Customer Service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Frontline staff</a:t>
            </a:r>
          </a:p>
          <a:p>
            <a:pPr algn="l">
              <a:spcAft>
                <a:spcPts val="300"/>
              </a:spcAft>
            </a:pPr>
            <a:r>
              <a:rPr sz="1100" b="0">
                <a:solidFill>
                  <a:srgbClr val="5B6372"/>
                </a:solidFill>
                <a:latin typeface="Arial"/>
              </a:rPr>
              <a:t>The first — often only — human contact. They carry the entire perception.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Support and back office</a:t>
            </a:r>
          </a:p>
          <a:p>
            <a:pPr algn="l">
              <a:spcAft>
                <a:spcPts val="300"/>
              </a:spcAft>
            </a:pPr>
            <a:r>
              <a:rPr sz="1100" b="0">
                <a:solidFill>
                  <a:srgbClr val="5B6372"/>
                </a:solidFill>
                <a:latin typeface="Arial"/>
              </a:rPr>
              <a:t>Never seen by the customer, but they determine what the frontline can promise.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Managers and leaders</a:t>
            </a:r>
          </a:p>
          <a:p>
            <a:pPr algn="l">
              <a:spcAft>
                <a:spcPts val="300"/>
              </a:spcAft>
            </a:pPr>
            <a:r>
              <a:rPr sz="1100" b="0">
                <a:solidFill>
                  <a:srgbClr val="5B6372"/>
                </a:solidFill>
                <a:latin typeface="Arial"/>
              </a:rPr>
              <a:t>Set the standards, the metrics and the amount of authority the frontline has.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Self-service systems</a:t>
            </a:r>
          </a:p>
          <a:p>
            <a:pPr algn="l">
              <a:spcAft>
                <a:spcPts val="300"/>
              </a:spcAft>
            </a:pPr>
            <a:r>
              <a:rPr sz="1100" b="0">
                <a:solidFill>
                  <a:srgbClr val="5B6372"/>
                </a:solidFill>
                <a:latin typeface="Arial"/>
              </a:rPr>
              <a:t>FAQ, chatbots, portals — service delivered without a person, and judged just as harshly.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Every other department</a:t>
            </a:r>
          </a:p>
          <a:p>
            <a:pPr algn="l">
              <a:spcAft>
                <a:spcPts val="300"/>
              </a:spcAft>
            </a:pPr>
            <a:r>
              <a:rPr sz="1100" b="0">
                <a:solidFill>
                  <a:srgbClr val="5B6372"/>
                </a:solidFill>
                <a:latin typeface="Arial"/>
              </a:rPr>
              <a:t>Product, finance, logistics — each creates or removes friction the customer feels.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customer themselves</a:t>
            </a:r>
          </a:p>
          <a:p>
            <a:pPr algn="l">
              <a:spcAft>
                <a:spcPts val="300"/>
              </a:spcAft>
            </a:pPr>
            <a:r>
              <a:rPr sz="1100" b="0">
                <a:solidFill>
                  <a:srgbClr val="5B6372"/>
                </a:solidFill>
                <a:latin typeface="Arial"/>
              </a:rPr>
              <a:t>Reviews, referrals and word of mouth extend your service reputation beyond your control.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CASE STUDY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1 — Mapping the Service Chain at a Singapore Bank Branch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200" b="1">
                <a:solidFill>
                  <a:srgbClr val="FFFFFF"/>
                </a:solidFill>
                <a:latin typeface="Arial"/>
              </a:rPr>
              <a:t>ACTIVITY 1  ·  30 MIN</a:t>
            </a:r>
          </a:p>
        </p:txBody>
      </p:sp>
      <p:sp>
        <p:nvSpPr>
          <p:cNvPr id="9" name="Rectangle 8"/>
          <p:cNvSpPr/>
          <p:nvPr/>
        </p:nvSpPr>
        <p:spPr>
          <a:xfrm>
            <a:off x="777240" y="1783080"/>
            <a:ext cx="10634472" cy="3310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91440" cy="3310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190195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SCENARIO</a:t>
            </a:r>
          </a:p>
        </p:txBody>
      </p:sp>
      <p:sp>
        <p:nvSpPr>
          <p:cNvPr id="12" name="TextBox 11"/>
          <p:cNvSpPr txBox="1"/>
          <p:nvPr/>
        </p:nvSpPr>
        <p:spPr>
          <a:xfrm>
            <a:off x="1051560" y="2240280"/>
            <a:ext cx="10149840" cy="2743200"/>
          </a:xfrm>
          <a:prstGeom prst="rect">
            <a:avLst/>
          </a:prstGeom>
          <a:noFill/>
        </p:spPr>
        <p:txBody>
          <a:bodyPr wrap="square" anchor="t">
            <a:spAutoFit/>
          </a:bodyPr>
          <a:lstStyle/>
          <a:p>
            <a:pPr algn="l">
              <a:spcAft>
                <a:spcPts val="700"/>
              </a:spcAft>
            </a:pPr>
            <a:r>
              <a:rPr sz="1150" b="0">
                <a:solidFill>
                  <a:srgbClr val="161B26"/>
                </a:solidFill>
                <a:latin typeface="Arial"/>
              </a:rPr>
              <a:t>OCBC-style retail branch, Tampines. Mdm Rohani, 68, comes in to reactivate a dormant savings account so her CPF payout can be credited. The queue ticket says 12 minutes; she waits 47. At the counter, the teller, Wei Ming, finds the reactivation needs a signature-verification form that Operations must approve. Operations is understaffed and quotes 3 working days. Wei Ming has no authority to expedite and no way to see the Operations queue. Mdm Rohani has already made two trips. She says loudly that she will move her account to another bank, and other customers in the queue are listening.</a:t>
            </a:r>
          </a:p>
          <a:p>
            <a:pPr algn="l">
              <a:spcAft>
                <a:spcPts val="700"/>
              </a:spcAft>
            </a:pPr>
            <a:r>
              <a:rPr sz="1150" b="0">
                <a:solidFill>
                  <a:srgbClr val="161B26"/>
                </a:solidFill>
                <a:latin typeface="Arial"/>
              </a:rPr>
              <a:t>Behind the counter: the branch manager has a service-level dashboard showing counter wait times but not back-office turnaround. Operations measures forms processed per day, not customer trips avoided. The digital team launched an app-based reactivation two months ago that nobody told the branch about.</a:t>
            </a:r>
          </a:p>
        </p:txBody>
      </p:sp>
      <p:sp>
        <p:nvSpPr>
          <p:cNvPr id="13" name="Rectangle 12"/>
          <p:cNvSpPr/>
          <p:nvPr/>
        </p:nvSpPr>
        <p:spPr>
          <a:xfrm>
            <a:off x="777240" y="5230368"/>
            <a:ext cx="5230368" cy="676656"/>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230368"/>
            <a:ext cx="4846320" cy="676656"/>
          </a:xfrm>
          <a:prstGeom prst="rect">
            <a:avLst/>
          </a:prstGeom>
          <a:noFill/>
        </p:spPr>
        <p:txBody>
          <a:bodyPr wrap="square" anchor="ctr">
            <a:spAutoFit/>
          </a:bodyPr>
          <a:lstStyle/>
          <a:p>
            <a:pPr algn="l">
              <a:spcAft>
                <a:spcPts val="400"/>
              </a:spcAft>
            </a:pPr>
            <a:r>
              <a:rPr sz="1050" b="1">
                <a:solidFill>
                  <a:srgbClr val="1F6FEB"/>
                </a:solidFill>
                <a:latin typeface="Arial"/>
              </a:rPr>
              <a:t>FORMAT   </a:t>
            </a:r>
            <a:r>
              <a:rPr sz="1150" b="0">
                <a:solidFill>
                  <a:srgbClr val="161B26"/>
                </a:solidFill>
                <a:latin typeface="Arial"/>
              </a:rPr>
              <a:t>Case Study + Peer Sharing</a:t>
            </a:r>
          </a:p>
        </p:txBody>
      </p:sp>
      <p:sp>
        <p:nvSpPr>
          <p:cNvPr id="15" name="Rectangle 14"/>
          <p:cNvSpPr/>
          <p:nvPr/>
        </p:nvSpPr>
        <p:spPr>
          <a:xfrm>
            <a:off x="6181344" y="5230368"/>
            <a:ext cx="5230368" cy="67665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9944" y="5230368"/>
            <a:ext cx="4846320" cy="676656"/>
          </a:xfrm>
          <a:prstGeom prst="rect">
            <a:avLst/>
          </a:prstGeom>
          <a:noFill/>
        </p:spPr>
        <p:txBody>
          <a:bodyPr wrap="square" anchor="ctr">
            <a:spAutoFit/>
          </a:bodyPr>
          <a:lstStyle/>
          <a:p>
            <a:pPr algn="l">
              <a:spcAft>
                <a:spcPts val="400"/>
              </a:spcAft>
            </a:pPr>
            <a:r>
              <a:rPr sz="1050" b="1">
                <a:solidFill>
                  <a:srgbClr val="16845B"/>
                </a:solidFill>
                <a:latin typeface="Arial"/>
              </a:rPr>
              <a:t>ROLES   </a:t>
            </a:r>
            <a:r>
              <a:rPr sz="1150" b="0">
                <a:solidFill>
                  <a:srgbClr val="161B26"/>
                </a:solidFill>
                <a:latin typeface="Arial"/>
              </a:rPr>
              <a:t>Groups of 4–5. Each group maps the chain; one member presents.</a:t>
            </a:r>
          </a:p>
        </p:txBody>
      </p:sp>
      <p:sp>
        <p:nvSpPr>
          <p:cNvPr id="17" name="TextBox 16"/>
          <p:cNvSpPr txBox="1"/>
          <p:nvPr/>
        </p:nvSpPr>
        <p:spPr>
          <a:xfrm>
            <a:off x="777240" y="5998464"/>
            <a:ext cx="10634472" cy="365760"/>
          </a:xfrm>
          <a:prstGeom prst="rect">
            <a:avLst/>
          </a:prstGeom>
          <a:noFill/>
        </p:spPr>
        <p:txBody>
          <a:bodyPr wrap="square" anchor="t">
            <a:spAutoFit/>
          </a:bodyPr>
          <a:lstStyle/>
          <a:p>
            <a:pPr algn="ctr">
              <a:spcAft>
                <a:spcPts val="400"/>
              </a:spcAft>
            </a:pPr>
            <a:r>
              <a:rPr sz="1100" b="0">
                <a:solidFill>
                  <a:srgbClr val="5B6372"/>
                </a:solidFill>
                <a:latin typeface="Arial"/>
              </a:rPr>
              <a:t>Full step-by-step instructions: Learner Guide, Activity 1  ·  Activities folder: activities/activity-01/</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 IN YOUR GROUP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1 — Discussion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6217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01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01952"/>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572768" y="1783080"/>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Who are the EXTERNAL customers in this case, and who are the INTERNAL customers? List every one.</a:t>
            </a:r>
          </a:p>
        </p:txBody>
      </p:sp>
      <p:sp>
        <p:nvSpPr>
          <p:cNvPr id="12" name="Rectangle 11"/>
          <p:cNvSpPr/>
          <p:nvPr/>
        </p:nvSpPr>
        <p:spPr>
          <a:xfrm>
            <a:off x="777240" y="2532888"/>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32888"/>
            <a:ext cx="82296" cy="6217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265176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2651760"/>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572768" y="2532888"/>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Draw the service chain from Mdm Rohani's need to the outcome she actually got. Where exactly did it break?</a:t>
            </a:r>
          </a:p>
        </p:txBody>
      </p:sp>
      <p:sp>
        <p:nvSpPr>
          <p:cNvPr id="17" name="Rectangle 16"/>
          <p:cNvSpPr/>
          <p:nvPr/>
        </p:nvSpPr>
        <p:spPr>
          <a:xfrm>
            <a:off x="777240" y="3282696"/>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282696"/>
            <a:ext cx="82296" cy="6217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3401568"/>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40156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572768" y="3282696"/>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Wei Ming was polite and followed procedure, and the customer still left angry. Whose service failure is this?</a:t>
            </a:r>
          </a:p>
        </p:txBody>
      </p:sp>
      <p:sp>
        <p:nvSpPr>
          <p:cNvPr id="22" name="Rectangle 21"/>
          <p:cNvSpPr/>
          <p:nvPr/>
        </p:nvSpPr>
        <p:spPr>
          <a:xfrm>
            <a:off x="777240" y="4032504"/>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32504"/>
            <a:ext cx="82296" cy="6217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05840" y="4151376"/>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415137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572768" y="4032504"/>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Operations measures 'forms processed per day'. What behaviour does that metric produce, and what does it miss?</a:t>
            </a:r>
          </a:p>
        </p:txBody>
      </p:sp>
      <p:sp>
        <p:nvSpPr>
          <p:cNvPr id="27" name="Rectangle 26"/>
          <p:cNvSpPr/>
          <p:nvPr/>
        </p:nvSpPr>
        <p:spPr>
          <a:xfrm>
            <a:off x="777240" y="4782312"/>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782312"/>
            <a:ext cx="82296" cy="6217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5840" y="490118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490118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1" name="TextBox 30"/>
          <p:cNvSpPr txBox="1"/>
          <p:nvPr/>
        </p:nvSpPr>
        <p:spPr>
          <a:xfrm>
            <a:off x="1572768" y="4782312"/>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The app-based reactivation existed but the branch did not know. What internal service failure does that reveal?</a:t>
            </a:r>
          </a:p>
        </p:txBody>
      </p:sp>
      <p:sp>
        <p:nvSpPr>
          <p:cNvPr id="32" name="Rectangle 31"/>
          <p:cNvSpPr/>
          <p:nvPr/>
        </p:nvSpPr>
        <p:spPr>
          <a:xfrm>
            <a:off x="777240" y="5532120"/>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532120"/>
            <a:ext cx="82296" cy="6217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05840" y="5650992"/>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40" y="5650992"/>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572768" y="5532120"/>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Name one change per link in the chain that would have prevented this outcome.</a:t>
            </a:r>
          </a:p>
        </p:txBody>
      </p:sp>
      <p:sp>
        <p:nvSpPr>
          <p:cNvPr id="37" name="TextBox 36"/>
          <p:cNvSpPr txBox="1"/>
          <p:nvPr/>
        </p:nvSpPr>
        <p:spPr>
          <a:xfrm>
            <a:off x="777240" y="6272784"/>
            <a:ext cx="10634472" cy="256032"/>
          </a:xfrm>
          <a:prstGeom prst="rect">
            <a:avLst/>
          </a:prstGeom>
          <a:noFill/>
        </p:spPr>
        <p:txBody>
          <a:bodyPr wrap="square" anchor="t">
            <a:spAutoFit/>
          </a:bodyPr>
          <a:lstStyle/>
          <a:p>
            <a:pPr algn="ctr">
              <a:spcAft>
                <a:spcPts val="400"/>
              </a:spcAft>
            </a:pPr>
            <a:r>
              <a:rPr sz="1050" b="0">
                <a:solidFill>
                  <a:srgbClr val="5B6372"/>
                </a:solidFill>
                <a:latin typeface="Arial"/>
              </a:rPr>
              <a:t>30 minutes  ·  Groups of 4–5. Each group maps the chain; one member presents.</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6845B"/>
                </a:solidFill>
                <a:latin typeface="Arial"/>
              </a:rPr>
              <a:t>TOPIC 01 · WHAT GOOD LOOKS LIKE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1 — Debrief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The frontline is where the failure BECOMES VISIBLE, not where it is caused. Wei Ming did nothing wrong — he was set up to fail by the links behind him.</a:t>
            </a:r>
          </a:p>
        </p:txBody>
      </p:sp>
      <p:sp>
        <p:nvSpPr>
          <p:cNvPr id="10" name="Rectangle 9"/>
          <p:cNvSpPr/>
          <p:nvPr/>
        </p:nvSpPr>
        <p:spPr>
          <a:xfrm>
            <a:off x="777240" y="243840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43840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43840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Internal customers here: Wei Ming is Operations' customer; the branch is the digital team's customer; Operations is the branch manager's customer. Every one of those relationships failed.</a:t>
            </a:r>
          </a:p>
        </p:txBody>
      </p:sp>
      <p:sp>
        <p:nvSpPr>
          <p:cNvPr id="13" name="Rectangle 12"/>
          <p:cNvSpPr/>
          <p:nvPr/>
        </p:nvSpPr>
        <p:spPr>
          <a:xfrm>
            <a:off x="777240" y="309372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09372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309372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'Forms processed per day' optimises throughput, not resolution. It is blind to Mdm Rohani's THREE trips — the metric would look healthy while the customer churns.</a:t>
            </a:r>
          </a:p>
        </p:txBody>
      </p:sp>
      <p:sp>
        <p:nvSpPr>
          <p:cNvPr id="16" name="Rectangle 15"/>
          <p:cNvSpPr/>
          <p:nvPr/>
        </p:nvSpPr>
        <p:spPr>
          <a:xfrm>
            <a:off x="777240" y="374904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74904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374904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The undisclosed app feature is a pure internal-communication failure. A capability the frontline does not know about does not exist.</a:t>
            </a:r>
          </a:p>
        </p:txBody>
      </p:sp>
      <p:sp>
        <p:nvSpPr>
          <p:cNvPr id="19" name="Rectangle 18"/>
          <p:cNvSpPr/>
          <p:nvPr/>
        </p:nvSpPr>
        <p:spPr>
          <a:xfrm>
            <a:off x="777240" y="440436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40436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440436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Expected fixes: give the teller visibility of the Operations queue; give SOMEONE authority to expedite; measure customer trips not forms; brief the branch on every new digital capability.</a:t>
            </a:r>
          </a:p>
        </p:txBody>
      </p:sp>
      <p:sp>
        <p:nvSpPr>
          <p:cNvPr id="22" name="Rectangle 21"/>
          <p:cNvSpPr/>
          <p:nvPr/>
        </p:nvSpPr>
        <p:spPr>
          <a:xfrm>
            <a:off x="777240" y="505968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05968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505968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Link back to Topic 1: excellent external service always begins with strong internal service. This case is the proof.</a:t>
            </a:r>
          </a:p>
        </p:txBody>
      </p:sp>
      <p:sp>
        <p:nvSpPr>
          <p:cNvPr id="25" name="Rectangle 24"/>
          <p:cNvSpPr/>
          <p:nvPr/>
        </p:nvSpPr>
        <p:spPr>
          <a:xfrm>
            <a:off x="777240" y="574243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5742432"/>
            <a:ext cx="10195560" cy="566928"/>
          </a:xfrm>
          <a:prstGeom prst="rect">
            <a:avLst/>
          </a:prstGeom>
          <a:noFill/>
        </p:spPr>
        <p:txBody>
          <a:bodyPr wrap="square" anchor="ctr">
            <a:spAutoFit/>
          </a:bodyPr>
          <a:lstStyle/>
          <a:p>
            <a:pPr algn="l">
              <a:spcAft>
                <a:spcPts val="400"/>
              </a:spcAft>
            </a:pPr>
            <a:r>
              <a:rPr sz="1100" b="1">
                <a:solidFill>
                  <a:srgbClr val="10B981"/>
                </a:solidFill>
                <a:latin typeface="Arial"/>
              </a:rPr>
              <a:t>TEST IT   </a:t>
            </a:r>
            <a:r>
              <a:rPr sz="1150" b="0">
                <a:solidFill>
                  <a:srgbClr val="161B26"/>
                </a:solidFill>
                <a:latin typeface="Arial"/>
              </a:rPr>
              <a:t>Your map names at least 3 internal customers, marks at least 3 broken links, and each fix is a specific action with an owner.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Establishing Your Service Attitude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Appearance · the power of a smile · staying energised · staying positive · positive language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LU1 · K1 · 40 min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Topic 2 — Key Concepts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Attitude is visible instantly</a:t>
            </a:r>
          </a:p>
          <a:p>
            <a:pPr algn="l">
              <a:spcAft>
                <a:spcPts val="300"/>
              </a:spcAft>
            </a:pPr>
            <a:r>
              <a:rPr sz="1100" b="0">
                <a:solidFill>
                  <a:srgbClr val="5B6372"/>
                </a:solidFill>
                <a:latin typeface="Arial"/>
              </a:rPr>
              <a:t>First impressions form in 4–7 seconds; roughly 55% of that impression comes from appearance and body language.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Emotions are contagious</a:t>
            </a:r>
          </a:p>
          <a:p>
            <a:pPr algn="l">
              <a:spcAft>
                <a:spcPts val="300"/>
              </a:spcAft>
            </a:pPr>
            <a:r>
              <a:rPr sz="1100" b="0">
                <a:solidFill>
                  <a:srgbClr val="5B6372"/>
                </a:solidFill>
                <a:latin typeface="Arial"/>
              </a:rPr>
              <a:t>Your mood transfers to the customer. A genuine smile measurably raises trust and how welcome a guest feels.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Positive language reframes limits</a:t>
            </a:r>
          </a:p>
          <a:p>
            <a:pPr algn="l">
              <a:spcAft>
                <a:spcPts val="300"/>
              </a:spcAft>
            </a:pPr>
            <a:r>
              <a:rPr sz="1100" b="0">
                <a:solidFill>
                  <a:srgbClr val="5B6372"/>
                </a:solidFill>
                <a:latin typeface="Arial"/>
              </a:rPr>
              <a:t>'That's back-ordered' becomes 'That's available next month — I can reserve it now.' Same fact, different outcome.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Energy must be managed</a:t>
            </a:r>
          </a:p>
          <a:p>
            <a:pPr algn="l">
              <a:spcAft>
                <a:spcPts val="300"/>
              </a:spcAft>
            </a:pPr>
            <a:r>
              <a:rPr sz="1100" b="0">
                <a:solidFill>
                  <a:srgbClr val="5B6372"/>
                </a:solidFill>
                <a:latin typeface="Arial"/>
              </a:rPr>
              <a:t>Service quality decays with fatigue. Structured micro-breaks and shift resets protect the last customer of the day.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Resilience is a trained skill</a:t>
            </a:r>
          </a:p>
          <a:p>
            <a:pPr algn="l">
              <a:spcAft>
                <a:spcPts val="300"/>
              </a:spcAft>
            </a:pPr>
            <a:r>
              <a:rPr sz="1100" b="0">
                <a:solidFill>
                  <a:srgbClr val="5B6372"/>
                </a:solidFill>
                <a:latin typeface="Arial"/>
              </a:rPr>
              <a:t>Zendesk lists resilience as core: absorbing criticism without letting it degrade the next interaction.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Professionalism is the baseline</a:t>
            </a:r>
          </a:p>
          <a:p>
            <a:pPr algn="l">
              <a:spcAft>
                <a:spcPts val="300"/>
              </a:spcAft>
            </a:pPr>
            <a:r>
              <a:rPr sz="1100" b="0">
                <a:solidFill>
                  <a:srgbClr val="5B6372"/>
                </a:solidFill>
                <a:latin typeface="Arial"/>
              </a:rPr>
              <a:t>Respectful tone, accuracy and appropriate boundaries held consistently — regardless of how the customer behaves.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ATTITUDE MOMENT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First Impressions Form Before You Speak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rst_impression.png"/>
          <p:cNvPicPr>
            <a:picLocks noChangeAspect="1"/>
          </p:cNvPicPr>
          <p:nvPr/>
        </p:nvPicPr>
        <p:blipFill>
          <a:blip r:embed="rId2"/>
          <a:stretch>
            <a:fillRect/>
          </a:stretch>
        </p:blipFill>
        <p:spPr>
          <a:xfrm>
            <a:off x="777240" y="1783080"/>
            <a:ext cx="5540909" cy="4343400"/>
          </a:xfrm>
          <a:prstGeom prst="rect">
            <a:avLst/>
          </a:prstGeom>
        </p:spPr>
      </p:pic>
      <p:sp>
        <p:nvSpPr>
          <p:cNvPr id="8" name="Rectangle 7"/>
          <p:cNvSpPr/>
          <p:nvPr/>
        </p:nvSpPr>
        <p:spPr>
          <a:xfrm>
            <a:off x="6638189" y="1783080"/>
            <a:ext cx="4773523"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38189"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94221" y="1783080"/>
            <a:ext cx="4316323" cy="948690"/>
          </a:xfrm>
          <a:prstGeom prst="rect">
            <a:avLst/>
          </a:prstGeom>
          <a:noFill/>
        </p:spPr>
        <p:txBody>
          <a:bodyPr wrap="square" anchor="ctr">
            <a:spAutoFit/>
          </a:bodyPr>
          <a:lstStyle/>
          <a:p>
            <a:pPr algn="l">
              <a:spcAft>
                <a:spcPts val="200"/>
              </a:spcAft>
            </a:pPr>
            <a:r>
              <a:rPr sz="1400" b="1">
                <a:solidFill>
                  <a:srgbClr val="1F6FEB"/>
                </a:solidFill>
                <a:latin typeface="Arial"/>
              </a:rPr>
              <a:t>4–7 seconds</a:t>
            </a:r>
          </a:p>
          <a:p>
            <a:pPr algn="l">
              <a:spcAft>
                <a:spcPts val="200"/>
              </a:spcAft>
            </a:pPr>
            <a:r>
              <a:rPr sz="1200" b="0">
                <a:solidFill>
                  <a:srgbClr val="161B26"/>
                </a:solidFill>
                <a:latin typeface="Arial"/>
              </a:rPr>
              <a:t>The window in which the customer decides how this is going to go.</a:t>
            </a:r>
          </a:p>
        </p:txBody>
      </p:sp>
      <p:sp>
        <p:nvSpPr>
          <p:cNvPr id="11" name="Rectangle 10"/>
          <p:cNvSpPr/>
          <p:nvPr/>
        </p:nvSpPr>
        <p:spPr>
          <a:xfrm>
            <a:off x="6638189" y="2914650"/>
            <a:ext cx="4773523"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638189"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94221" y="2914650"/>
            <a:ext cx="4316323" cy="948690"/>
          </a:xfrm>
          <a:prstGeom prst="rect">
            <a:avLst/>
          </a:prstGeom>
          <a:noFill/>
        </p:spPr>
        <p:txBody>
          <a:bodyPr wrap="square" anchor="ctr">
            <a:spAutoFit/>
          </a:bodyPr>
          <a:lstStyle/>
          <a:p>
            <a:pPr algn="l">
              <a:spcAft>
                <a:spcPts val="200"/>
              </a:spcAft>
            </a:pPr>
            <a:r>
              <a:rPr sz="1400" b="1">
                <a:solidFill>
                  <a:srgbClr val="10B981"/>
                </a:solidFill>
                <a:latin typeface="Arial"/>
              </a:rPr>
              <a:t>55% is what they see</a:t>
            </a:r>
          </a:p>
          <a:p>
            <a:pPr algn="l">
              <a:spcAft>
                <a:spcPts val="200"/>
              </a:spcAft>
            </a:pPr>
            <a:r>
              <a:rPr sz="1200" b="0">
                <a:solidFill>
                  <a:srgbClr val="161B26"/>
                </a:solidFill>
                <a:latin typeface="Arial"/>
              </a:rPr>
              <a:t>Grooming, posture, expression — visible before a word is exchanged.</a:t>
            </a:r>
          </a:p>
        </p:txBody>
      </p:sp>
      <p:sp>
        <p:nvSpPr>
          <p:cNvPr id="14" name="Rectangle 13"/>
          <p:cNvSpPr/>
          <p:nvPr/>
        </p:nvSpPr>
        <p:spPr>
          <a:xfrm>
            <a:off x="6638189" y="4046220"/>
            <a:ext cx="4773523"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638189"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94221" y="4046220"/>
            <a:ext cx="4316323" cy="948690"/>
          </a:xfrm>
          <a:prstGeom prst="rect">
            <a:avLst/>
          </a:prstGeom>
          <a:noFill/>
        </p:spPr>
        <p:txBody>
          <a:bodyPr wrap="square" anchor="ctr">
            <a:spAutoFit/>
          </a:bodyPr>
          <a:lstStyle/>
          <a:p>
            <a:pPr algn="l">
              <a:spcAft>
                <a:spcPts val="200"/>
              </a:spcAft>
            </a:pPr>
            <a:r>
              <a:rPr sz="1400" b="1">
                <a:solidFill>
                  <a:srgbClr val="7C3AED"/>
                </a:solidFill>
                <a:latin typeface="Arial"/>
              </a:rPr>
              <a:t>38% is how you sound</a:t>
            </a:r>
          </a:p>
          <a:p>
            <a:pPr algn="l">
              <a:spcAft>
                <a:spcPts val="200"/>
              </a:spcAft>
            </a:pPr>
            <a:r>
              <a:rPr sz="1200" b="0">
                <a:solidFill>
                  <a:srgbClr val="161B26"/>
                </a:solidFill>
                <a:latin typeface="Arial"/>
              </a:rPr>
              <a:t>Tone, pace and warmth carry more than the words themselves.</a:t>
            </a:r>
          </a:p>
        </p:txBody>
      </p:sp>
      <p:sp>
        <p:nvSpPr>
          <p:cNvPr id="17" name="Rectangle 16"/>
          <p:cNvSpPr/>
          <p:nvPr/>
        </p:nvSpPr>
        <p:spPr>
          <a:xfrm>
            <a:off x="6638189" y="5177790"/>
            <a:ext cx="4773523"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638189"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94221" y="5177790"/>
            <a:ext cx="4316323" cy="948690"/>
          </a:xfrm>
          <a:prstGeom prst="rect">
            <a:avLst/>
          </a:prstGeom>
          <a:noFill/>
        </p:spPr>
        <p:txBody>
          <a:bodyPr wrap="square" anchor="ctr">
            <a:spAutoFit/>
          </a:bodyPr>
          <a:lstStyle/>
          <a:p>
            <a:pPr algn="l">
              <a:spcAft>
                <a:spcPts val="200"/>
              </a:spcAft>
            </a:pPr>
            <a:r>
              <a:rPr sz="1400" b="1">
                <a:solidFill>
                  <a:srgbClr val="F59E0B"/>
                </a:solidFill>
                <a:latin typeface="Arial"/>
              </a:rPr>
              <a:t>7% is what you say</a:t>
            </a:r>
          </a:p>
          <a:p>
            <a:pPr algn="l">
              <a:spcAft>
                <a:spcPts val="200"/>
              </a:spcAft>
            </a:pPr>
            <a:r>
              <a:rPr sz="1200" b="0">
                <a:solidFill>
                  <a:srgbClr val="161B26"/>
                </a:solidFill>
                <a:latin typeface="Arial"/>
              </a:rPr>
              <a:t>Correct words delivered badly still read as bad service.</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ESTABLISHING YOUR ATTITUDE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Four Pillars of Service Attitude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487168" cy="3566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3566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6"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527048" y="1911095"/>
            <a:ext cx="1618488" cy="548640"/>
          </a:xfrm>
          <a:prstGeom prst="rect">
            <a:avLst/>
          </a:prstGeom>
          <a:noFill/>
        </p:spPr>
        <p:txBody>
          <a:bodyPr wrap="square" anchor="t">
            <a:spAutoFit/>
          </a:bodyPr>
          <a:lstStyle/>
          <a:p>
            <a:pPr algn="l">
              <a:spcAft>
                <a:spcPts val="400"/>
              </a:spcAft>
            </a:pPr>
            <a:r>
              <a:rPr sz="1350" b="1">
                <a:solidFill>
                  <a:srgbClr val="1F6FEB"/>
                </a:solidFill>
                <a:latin typeface="Arial"/>
              </a:rPr>
              <a:t>APPEARANCE</a:t>
            </a:r>
          </a:p>
        </p:txBody>
      </p:sp>
      <p:sp>
        <p:nvSpPr>
          <p:cNvPr id="12" name="TextBox 11"/>
          <p:cNvSpPr txBox="1"/>
          <p:nvPr/>
        </p:nvSpPr>
        <p:spPr>
          <a:xfrm>
            <a:off x="1033272" y="2542032"/>
            <a:ext cx="1993392" cy="2651760"/>
          </a:xfrm>
          <a:prstGeom prst="rect">
            <a:avLst/>
          </a:prstGeom>
          <a:noFill/>
        </p:spPr>
        <p:txBody>
          <a:bodyPr wrap="square" anchor="t">
            <a:spAutoFit/>
          </a:bodyPr>
          <a:lstStyle/>
          <a:p>
            <a:pPr algn="l">
              <a:spcAft>
                <a:spcPts val="400"/>
              </a:spcAft>
            </a:pPr>
            <a:r>
              <a:rPr sz="1150" b="0">
                <a:solidFill>
                  <a:srgbClr val="161B26"/>
                </a:solidFill>
                <a:latin typeface="Arial"/>
              </a:rPr>
              <a:t>Professional grooming signals competence and respect. It is the baseline expectation in Singapore hospitality and retail.</a:t>
            </a:r>
          </a:p>
        </p:txBody>
      </p:sp>
      <p:sp>
        <p:nvSpPr>
          <p:cNvPr id="13" name="Rectangle 12"/>
          <p:cNvSpPr/>
          <p:nvPr/>
        </p:nvSpPr>
        <p:spPr>
          <a:xfrm>
            <a:off x="3520440" y="1783080"/>
            <a:ext cx="2487168" cy="3566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783080"/>
            <a:ext cx="82296" cy="3566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739896"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39896"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4270248" y="1911095"/>
            <a:ext cx="1618488" cy="548640"/>
          </a:xfrm>
          <a:prstGeom prst="rect">
            <a:avLst/>
          </a:prstGeom>
          <a:noFill/>
        </p:spPr>
        <p:txBody>
          <a:bodyPr wrap="square" anchor="t">
            <a:spAutoFit/>
          </a:bodyPr>
          <a:lstStyle/>
          <a:p>
            <a:pPr algn="l">
              <a:spcAft>
                <a:spcPts val="400"/>
              </a:spcAft>
            </a:pPr>
            <a:r>
              <a:rPr sz="1350" b="1">
                <a:solidFill>
                  <a:srgbClr val="10B981"/>
                </a:solidFill>
                <a:latin typeface="Arial"/>
              </a:rPr>
              <a:t>THE SMILE</a:t>
            </a:r>
          </a:p>
        </p:txBody>
      </p:sp>
      <p:sp>
        <p:nvSpPr>
          <p:cNvPr id="18" name="TextBox 17"/>
          <p:cNvSpPr txBox="1"/>
          <p:nvPr/>
        </p:nvSpPr>
        <p:spPr>
          <a:xfrm>
            <a:off x="3776472" y="2542032"/>
            <a:ext cx="1993392" cy="2651760"/>
          </a:xfrm>
          <a:prstGeom prst="rect">
            <a:avLst/>
          </a:prstGeom>
          <a:noFill/>
        </p:spPr>
        <p:txBody>
          <a:bodyPr wrap="square" anchor="t">
            <a:spAutoFit/>
          </a:bodyPr>
          <a:lstStyle/>
          <a:p>
            <a:pPr algn="l">
              <a:spcAft>
                <a:spcPts val="400"/>
              </a:spcAft>
            </a:pPr>
            <a:r>
              <a:rPr sz="1150" b="0">
                <a:solidFill>
                  <a:srgbClr val="161B26"/>
                </a:solidFill>
                <a:latin typeface="Arial"/>
              </a:rPr>
              <a:t>A genuine smile measurably raises trust. A forced one is detected instantly and costs more than none.</a:t>
            </a:r>
          </a:p>
        </p:txBody>
      </p:sp>
      <p:sp>
        <p:nvSpPr>
          <p:cNvPr id="19" name="Rectangle 18"/>
          <p:cNvSpPr/>
          <p:nvPr/>
        </p:nvSpPr>
        <p:spPr>
          <a:xfrm>
            <a:off x="6263640" y="1783080"/>
            <a:ext cx="2487168" cy="3566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1783080"/>
            <a:ext cx="82296" cy="3566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83096"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83096"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7013448" y="1911095"/>
            <a:ext cx="1618488" cy="548640"/>
          </a:xfrm>
          <a:prstGeom prst="rect">
            <a:avLst/>
          </a:prstGeom>
          <a:noFill/>
        </p:spPr>
        <p:txBody>
          <a:bodyPr wrap="square" anchor="t">
            <a:spAutoFit/>
          </a:bodyPr>
          <a:lstStyle/>
          <a:p>
            <a:pPr algn="l">
              <a:spcAft>
                <a:spcPts val="400"/>
              </a:spcAft>
            </a:pPr>
            <a:r>
              <a:rPr sz="1350" b="1">
                <a:solidFill>
                  <a:srgbClr val="7C3AED"/>
                </a:solidFill>
                <a:latin typeface="Arial"/>
              </a:rPr>
              <a:t>ENERGY</a:t>
            </a:r>
          </a:p>
        </p:txBody>
      </p:sp>
      <p:sp>
        <p:nvSpPr>
          <p:cNvPr id="24" name="TextBox 23"/>
          <p:cNvSpPr txBox="1"/>
          <p:nvPr/>
        </p:nvSpPr>
        <p:spPr>
          <a:xfrm>
            <a:off x="6519672" y="2542032"/>
            <a:ext cx="1993392" cy="2651760"/>
          </a:xfrm>
          <a:prstGeom prst="rect">
            <a:avLst/>
          </a:prstGeom>
          <a:noFill/>
        </p:spPr>
        <p:txBody>
          <a:bodyPr wrap="square" anchor="t">
            <a:spAutoFit/>
          </a:bodyPr>
          <a:lstStyle/>
          <a:p>
            <a:pPr algn="l">
              <a:spcAft>
                <a:spcPts val="400"/>
              </a:spcAft>
            </a:pPr>
            <a:r>
              <a:rPr sz="1150" b="0">
                <a:solidFill>
                  <a:srgbClr val="161B26"/>
                </a:solidFill>
                <a:latin typeface="Arial"/>
              </a:rPr>
              <a:t>Service quality decays with fatigue. Managed breaks protect the last customer of the day.</a:t>
            </a:r>
          </a:p>
        </p:txBody>
      </p:sp>
      <p:sp>
        <p:nvSpPr>
          <p:cNvPr id="25" name="Rectangle 24"/>
          <p:cNvSpPr/>
          <p:nvPr/>
        </p:nvSpPr>
        <p:spPr>
          <a:xfrm>
            <a:off x="9006840" y="1783080"/>
            <a:ext cx="2487168" cy="3566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06840" y="1783080"/>
            <a:ext cx="82296" cy="3566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226296" y="19659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26296"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9" name="TextBox 28"/>
          <p:cNvSpPr txBox="1"/>
          <p:nvPr/>
        </p:nvSpPr>
        <p:spPr>
          <a:xfrm>
            <a:off x="9756648" y="1911095"/>
            <a:ext cx="1618488" cy="548640"/>
          </a:xfrm>
          <a:prstGeom prst="rect">
            <a:avLst/>
          </a:prstGeom>
          <a:noFill/>
        </p:spPr>
        <p:txBody>
          <a:bodyPr wrap="square" anchor="t">
            <a:spAutoFit/>
          </a:bodyPr>
          <a:lstStyle/>
          <a:p>
            <a:pPr algn="l">
              <a:spcAft>
                <a:spcPts val="400"/>
              </a:spcAft>
            </a:pPr>
            <a:r>
              <a:rPr sz="1350" b="1">
                <a:solidFill>
                  <a:srgbClr val="F59E0B"/>
                </a:solidFill>
                <a:latin typeface="Arial"/>
              </a:rPr>
              <a:t>POSITIVITY</a:t>
            </a:r>
          </a:p>
        </p:txBody>
      </p:sp>
      <p:sp>
        <p:nvSpPr>
          <p:cNvPr id="30" name="TextBox 29"/>
          <p:cNvSpPr txBox="1"/>
          <p:nvPr/>
        </p:nvSpPr>
        <p:spPr>
          <a:xfrm>
            <a:off x="9262872" y="2542032"/>
            <a:ext cx="1993392" cy="2651760"/>
          </a:xfrm>
          <a:prstGeom prst="rect">
            <a:avLst/>
          </a:prstGeom>
          <a:noFill/>
        </p:spPr>
        <p:txBody>
          <a:bodyPr wrap="square" anchor="t">
            <a:spAutoFit/>
          </a:bodyPr>
          <a:lstStyle/>
          <a:p>
            <a:pPr algn="l">
              <a:spcAft>
                <a:spcPts val="400"/>
              </a:spcAft>
            </a:pPr>
            <a:r>
              <a:rPr sz="1150" b="0">
                <a:solidFill>
                  <a:srgbClr val="161B26"/>
                </a:solidFill>
                <a:latin typeface="Arial"/>
              </a:rPr>
              <a:t>Reframe the limit into what IS possible. Do not take the complaint personally.</a:t>
            </a:r>
          </a:p>
        </p:txBody>
      </p:sp>
      <p:sp>
        <p:nvSpPr>
          <p:cNvPr id="31" name="Rectangle 30"/>
          <p:cNvSpPr/>
          <p:nvPr/>
        </p:nvSpPr>
        <p:spPr>
          <a:xfrm>
            <a:off x="777240" y="553212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5532120"/>
            <a:ext cx="10195560" cy="822960"/>
          </a:xfrm>
          <a:prstGeom prst="rect">
            <a:avLst/>
          </a:prstGeom>
          <a:noFill/>
        </p:spPr>
        <p:txBody>
          <a:bodyPr wrap="square" anchor="ctr">
            <a:spAutoFit/>
          </a:bodyPr>
          <a:lstStyle/>
          <a:p>
            <a:pPr algn="l">
              <a:spcAft>
                <a:spcPts val="400"/>
              </a:spcAft>
            </a:pPr>
            <a:r>
              <a:rPr sz="1250" b="0">
                <a:solidFill>
                  <a:srgbClr val="161B26"/>
                </a:solidFill>
                <a:latin typeface="Arial"/>
              </a:rPr>
              <a:t>Attitude is not a personality trait you either have or lack — every one of these four pillars is a trainable, repeatable behaviour.</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HIGHEST-LEVERAGE HABIT IN THIS COURSE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Positive Language — Same Facts, Opposite Outcome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30368" cy="393192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30368" cy="38404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783080"/>
            <a:ext cx="4754880" cy="384048"/>
          </a:xfrm>
          <a:prstGeom prst="rect">
            <a:avLst/>
          </a:prstGeom>
          <a:noFill/>
        </p:spPr>
        <p:txBody>
          <a:bodyPr wrap="square" anchor="ctr">
            <a:spAutoFit/>
          </a:bodyPr>
          <a:lstStyle/>
          <a:p>
            <a:pPr algn="l">
              <a:spcAft>
                <a:spcPts val="400"/>
              </a:spcAft>
            </a:pPr>
            <a:r>
              <a:rPr sz="1350" b="1">
                <a:solidFill>
                  <a:srgbClr val="FFFFFF"/>
                </a:solidFill>
                <a:latin typeface="Arial"/>
              </a:rPr>
              <a:t>NEGATIVE FRAMING</a:t>
            </a:r>
          </a:p>
        </p:txBody>
      </p:sp>
      <p:sp>
        <p:nvSpPr>
          <p:cNvPr id="10" name="Rectangle 9"/>
          <p:cNvSpPr/>
          <p:nvPr/>
        </p:nvSpPr>
        <p:spPr>
          <a:xfrm>
            <a:off x="6181344" y="1783080"/>
            <a:ext cx="5230368" cy="39319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81344" y="1783080"/>
            <a:ext cx="5230368" cy="38404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9944" y="1783080"/>
            <a:ext cx="4754880" cy="384048"/>
          </a:xfrm>
          <a:prstGeom prst="rect">
            <a:avLst/>
          </a:prstGeom>
          <a:noFill/>
        </p:spPr>
        <p:txBody>
          <a:bodyPr wrap="square" anchor="ctr">
            <a:spAutoFit/>
          </a:bodyPr>
          <a:lstStyle/>
          <a:p>
            <a:pPr algn="l">
              <a:spcAft>
                <a:spcPts val="400"/>
              </a:spcAft>
            </a:pPr>
            <a:r>
              <a:rPr sz="1350" b="1">
                <a:solidFill>
                  <a:srgbClr val="FFFFFF"/>
                </a:solidFill>
                <a:latin typeface="Arial"/>
              </a:rPr>
              <a:t>POSITIVE FRAMING</a:t>
            </a:r>
          </a:p>
        </p:txBody>
      </p:sp>
      <p:sp>
        <p:nvSpPr>
          <p:cNvPr id="13" name="TextBox 12"/>
          <p:cNvSpPr txBox="1"/>
          <p:nvPr/>
        </p:nvSpPr>
        <p:spPr>
          <a:xfrm>
            <a:off x="1005840" y="2331720"/>
            <a:ext cx="4800600" cy="3246120"/>
          </a:xfrm>
          <a:prstGeom prst="rect">
            <a:avLst/>
          </a:prstGeom>
          <a:noFill/>
        </p:spPr>
        <p:txBody>
          <a:bodyPr wrap="square">
            <a:spAutoFit/>
          </a:bodyPr>
          <a:lstStyle/>
          <a:p>
            <a:pPr>
              <a:spcAft>
                <a:spcPts val="900"/>
              </a:spcAft>
            </a:pPr>
            <a:r>
              <a:rPr sz="1300" b="0">
                <a:solidFill>
                  <a:srgbClr val="161B26"/>
                </a:solidFill>
                <a:latin typeface="Arial"/>
              </a:rPr>
              <a:t>•  "That product is back-ordered and unavailable."</a:t>
            </a:r>
          </a:p>
          <a:p>
            <a:pPr>
              <a:spcAft>
                <a:spcPts val="900"/>
              </a:spcAft>
            </a:pPr>
            <a:r>
              <a:rPr sz="1300" b="0">
                <a:solidFill>
                  <a:srgbClr val="161B26"/>
                </a:solidFill>
                <a:latin typeface="Arial"/>
              </a:rPr>
              <a:t>•  "I don't know."</a:t>
            </a:r>
          </a:p>
          <a:p>
            <a:pPr>
              <a:spcAft>
                <a:spcPts val="900"/>
              </a:spcAft>
            </a:pPr>
            <a:r>
              <a:rPr sz="1300" b="0">
                <a:solidFill>
                  <a:srgbClr val="161B26"/>
                </a:solidFill>
                <a:latin typeface="Arial"/>
              </a:rPr>
              <a:t>•  "You have to log out first."</a:t>
            </a:r>
          </a:p>
          <a:p>
            <a:pPr>
              <a:spcAft>
                <a:spcPts val="900"/>
              </a:spcAft>
            </a:pPr>
            <a:r>
              <a:rPr sz="1300" b="0">
                <a:solidFill>
                  <a:srgbClr val="161B26"/>
                </a:solidFill>
                <a:latin typeface="Arial"/>
              </a:rPr>
              <a:t>•  "That's not our policy."</a:t>
            </a:r>
          </a:p>
          <a:p>
            <a:pPr>
              <a:spcAft>
                <a:spcPts val="900"/>
              </a:spcAft>
            </a:pPr>
            <a:r>
              <a:rPr sz="1300" b="0">
                <a:solidFill>
                  <a:srgbClr val="161B26"/>
                </a:solidFill>
                <a:latin typeface="Arial"/>
              </a:rPr>
              <a:t>•  "You'll have to pay for that yourself."</a:t>
            </a:r>
          </a:p>
          <a:p>
            <a:pPr>
              <a:spcAft>
                <a:spcPts val="900"/>
              </a:spcAft>
            </a:pPr>
            <a:r>
              <a:rPr sz="1300" b="0">
                <a:solidFill>
                  <a:srgbClr val="161B26"/>
                </a:solidFill>
                <a:latin typeface="Arial"/>
              </a:rPr>
              <a:t>•  "There's nothing I can do."</a:t>
            </a:r>
          </a:p>
        </p:txBody>
      </p:sp>
      <p:sp>
        <p:nvSpPr>
          <p:cNvPr id="14" name="TextBox 13"/>
          <p:cNvSpPr txBox="1"/>
          <p:nvPr/>
        </p:nvSpPr>
        <p:spPr>
          <a:xfrm>
            <a:off x="6409944" y="2331720"/>
            <a:ext cx="4800600" cy="3246120"/>
          </a:xfrm>
          <a:prstGeom prst="rect">
            <a:avLst/>
          </a:prstGeom>
          <a:noFill/>
        </p:spPr>
        <p:txBody>
          <a:bodyPr wrap="square">
            <a:spAutoFit/>
          </a:bodyPr>
          <a:lstStyle/>
          <a:p>
            <a:pPr>
              <a:spcAft>
                <a:spcPts val="900"/>
              </a:spcAft>
            </a:pPr>
            <a:r>
              <a:rPr sz="1300" b="0">
                <a:solidFill>
                  <a:srgbClr val="161B26"/>
                </a:solidFill>
                <a:latin typeface="Arial"/>
              </a:rPr>
              <a:t>•  "That's available next month — I can reserve it now."</a:t>
            </a:r>
          </a:p>
          <a:p>
            <a:pPr>
              <a:spcAft>
                <a:spcPts val="900"/>
              </a:spcAft>
            </a:pPr>
            <a:r>
              <a:rPr sz="1300" b="0">
                <a:solidFill>
                  <a:srgbClr val="161B26"/>
                </a:solidFill>
                <a:latin typeface="Arial"/>
              </a:rPr>
              <a:t>•  "Let me find out for you."</a:t>
            </a:r>
          </a:p>
          <a:p>
            <a:pPr>
              <a:spcAft>
                <a:spcPts val="900"/>
              </a:spcAft>
            </a:pPr>
            <a:r>
              <a:rPr sz="1300" b="0">
                <a:solidFill>
                  <a:srgbClr val="161B26"/>
                </a:solidFill>
                <a:latin typeface="Arial"/>
              </a:rPr>
              <a:t>•  "Logging out should fix that quickly!"</a:t>
            </a:r>
          </a:p>
          <a:p>
            <a:pPr>
              <a:spcAft>
                <a:spcPts val="900"/>
              </a:spcAft>
            </a:pPr>
            <a:r>
              <a:rPr sz="1300" b="0">
                <a:solidFill>
                  <a:srgbClr val="161B26"/>
                </a:solidFill>
                <a:latin typeface="Arial"/>
              </a:rPr>
              <a:t>•  "Here's what I can do for you."</a:t>
            </a:r>
          </a:p>
          <a:p>
            <a:pPr>
              <a:spcAft>
                <a:spcPts val="900"/>
              </a:spcAft>
            </a:pPr>
            <a:r>
              <a:rPr sz="1300" b="0">
                <a:solidFill>
                  <a:srgbClr val="161B26"/>
                </a:solidFill>
                <a:latin typeface="Arial"/>
              </a:rPr>
              <a:t>•  "I can book that for you at the member rate."</a:t>
            </a:r>
          </a:p>
          <a:p>
            <a:pPr>
              <a:spcAft>
                <a:spcPts val="900"/>
              </a:spcAft>
            </a:pPr>
            <a:r>
              <a:rPr sz="1300" b="0">
                <a:solidFill>
                  <a:srgbClr val="161B26"/>
                </a:solidFill>
                <a:latin typeface="Arial"/>
              </a:rPr>
              <a:t>•  "Let me get someone who can authorise that."</a:t>
            </a:r>
          </a:p>
        </p:txBody>
      </p:sp>
      <p:sp>
        <p:nvSpPr>
          <p:cNvPr id="15" name="Rectangle 14"/>
          <p:cNvSpPr/>
          <p:nvPr/>
        </p:nvSpPr>
        <p:spPr>
          <a:xfrm>
            <a:off x="777240" y="580644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806440"/>
            <a:ext cx="10195560" cy="566928"/>
          </a:xfrm>
          <a:prstGeom prst="rect">
            <a:avLst/>
          </a:prstGeom>
          <a:noFill/>
        </p:spPr>
        <p:txBody>
          <a:bodyPr wrap="square" anchor="ctr">
            <a:spAutoFit/>
          </a:bodyPr>
          <a:lstStyle/>
          <a:p>
            <a:pPr algn="l">
              <a:spcAft>
                <a:spcPts val="400"/>
              </a:spcAft>
            </a:pPr>
            <a:r>
              <a:rPr sz="1250" b="0">
                <a:solidFill>
                  <a:srgbClr val="161B26"/>
                </a:solidFill>
                <a:latin typeface="Arial"/>
              </a:rPr>
              <a:t>Positive language does not mean saying yes. It means directing the customer to what IS available — with the same underlying answer.</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STAYING ENERGISED AND POSITIVE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Managing Yourself Across a Shift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Emotional contagion</a:t>
            </a:r>
          </a:p>
          <a:p>
            <a:pPr algn="l">
              <a:spcAft>
                <a:spcPts val="300"/>
              </a:spcAft>
            </a:pPr>
            <a:r>
              <a:rPr sz="1100" b="0">
                <a:solidFill>
                  <a:srgbClr val="5B6372"/>
                </a:solidFill>
                <a:latin typeface="Arial"/>
              </a:rPr>
              <a:t>Your mood transfers to the customer within seconds — and theirs to you.</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Reset between customers</a:t>
            </a:r>
          </a:p>
          <a:p>
            <a:pPr algn="l">
              <a:spcAft>
                <a:spcPts val="300"/>
              </a:spcAft>
            </a:pPr>
            <a:r>
              <a:rPr sz="1100" b="0">
                <a:solidFill>
                  <a:srgbClr val="5B6372"/>
                </a:solidFill>
                <a:latin typeface="Arial"/>
              </a:rPr>
              <a:t>One breath and a deliberate posture reset stops case 11 inheriting case 10's frustration.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Micro-breaks work</a:t>
            </a:r>
          </a:p>
          <a:p>
            <a:pPr algn="l">
              <a:spcAft>
                <a:spcPts val="300"/>
              </a:spcAft>
            </a:pPr>
            <a:r>
              <a:rPr sz="1100" b="0">
                <a:solidFill>
                  <a:srgbClr val="5B6372"/>
                </a:solidFill>
                <a:latin typeface="Arial"/>
              </a:rPr>
              <a:t>Short structured breaks measurably protect service quality later in the shift.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Depersonalise the complaint</a:t>
            </a:r>
          </a:p>
          <a:p>
            <a:pPr algn="l">
              <a:spcAft>
                <a:spcPts val="300"/>
              </a:spcAft>
            </a:pPr>
            <a:r>
              <a:rPr sz="1100" b="0">
                <a:solidFill>
                  <a:srgbClr val="5B6372"/>
                </a:solidFill>
                <a:latin typeface="Arial"/>
              </a:rPr>
              <a:t>They are angry at the situation, at the company, at their day — not at you.</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Resilience is trainable</a:t>
            </a:r>
          </a:p>
          <a:p>
            <a:pPr algn="l">
              <a:spcAft>
                <a:spcPts val="300"/>
              </a:spcAft>
            </a:pPr>
            <a:r>
              <a:rPr sz="1100" b="0">
                <a:solidFill>
                  <a:srgbClr val="5B6372"/>
                </a:solidFill>
                <a:latin typeface="Arial"/>
              </a:rPr>
              <a:t>Absorb criticism, extract the useful part, discard the rest, start clean.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Know your own tells</a:t>
            </a:r>
          </a:p>
          <a:p>
            <a:pPr algn="l">
              <a:spcAft>
                <a:spcPts val="300"/>
              </a:spcAft>
            </a:pPr>
            <a:r>
              <a:rPr sz="1100" b="0">
                <a:solidFill>
                  <a:srgbClr val="5B6372"/>
                </a:solidFill>
                <a:latin typeface="Arial"/>
              </a:rPr>
              <a:t>Flat tone, short answers, no eye contact — learn to catch your own fatigue signals.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CASE STUDY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2 — Attitude and Positive Language at a Changi Airport Service Counter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200" b="1">
                <a:solidFill>
                  <a:srgbClr val="FFFFFF"/>
                </a:solidFill>
                <a:latin typeface="Arial"/>
              </a:rPr>
              <a:t>ACTIVITY 2  ·  25 MIN</a:t>
            </a:r>
          </a:p>
        </p:txBody>
      </p:sp>
      <p:sp>
        <p:nvSpPr>
          <p:cNvPr id="9" name="Rectangle 8"/>
          <p:cNvSpPr/>
          <p:nvPr/>
        </p:nvSpPr>
        <p:spPr>
          <a:xfrm>
            <a:off x="777240" y="1783080"/>
            <a:ext cx="10634472" cy="3310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91440" cy="3310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190195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SCENARIO</a:t>
            </a:r>
          </a:p>
        </p:txBody>
      </p:sp>
      <p:sp>
        <p:nvSpPr>
          <p:cNvPr id="12" name="TextBox 11"/>
          <p:cNvSpPr txBox="1"/>
          <p:nvPr/>
        </p:nvSpPr>
        <p:spPr>
          <a:xfrm>
            <a:off x="1051560" y="2240280"/>
            <a:ext cx="10149840" cy="2743200"/>
          </a:xfrm>
          <a:prstGeom prst="rect">
            <a:avLst/>
          </a:prstGeom>
          <a:noFill/>
        </p:spPr>
        <p:txBody>
          <a:bodyPr wrap="square" anchor="t">
            <a:spAutoFit/>
          </a:bodyPr>
          <a:lstStyle/>
          <a:p>
            <a:pPr algn="l">
              <a:spcAft>
                <a:spcPts val="700"/>
              </a:spcAft>
            </a:pPr>
            <a:r>
              <a:rPr sz="1150" b="0">
                <a:solidFill>
                  <a:srgbClr val="161B26"/>
                </a:solidFill>
                <a:latin typeface="Arial"/>
              </a:rPr>
              <a:t>Changi Airport Terminal 3, airline transfer desk, 11:40pm. Mr Krishnan and his two children (aged 4 and 7) have missed their connecting flight to Chennai because the inbound flight was delayed by weather. The next available flight is 14 hours away. Company policy for weather delays: no hotel accommodation, no meal vouchers, rebooking only. The children are crying. Mr Krishnan has been queueing for 35 minutes and is the eleventh passenger you have seen with the same problem tonight. You are 90 minutes past the end of your shift.</a:t>
            </a:r>
          </a:p>
          <a:p>
            <a:pPr algn="l">
              <a:spcAft>
                <a:spcPts val="700"/>
              </a:spcAft>
            </a:pPr>
            <a:r>
              <a:rPr sz="1150" b="0">
                <a:solidFill>
                  <a:srgbClr val="161B26"/>
                </a:solidFill>
                <a:latin typeface="Arial"/>
              </a:rPr>
              <a:t>What you CAN do: rebook him on the 1:50pm flight; give him lounge access at your discretion; provide a transit hotel booking form at his own cost; escalate to the duty manager for a goodwill exception.</a:t>
            </a:r>
          </a:p>
        </p:txBody>
      </p:sp>
      <p:sp>
        <p:nvSpPr>
          <p:cNvPr id="13" name="Rectangle 12"/>
          <p:cNvSpPr/>
          <p:nvPr/>
        </p:nvSpPr>
        <p:spPr>
          <a:xfrm>
            <a:off x="777240" y="5230368"/>
            <a:ext cx="5230368" cy="676656"/>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230368"/>
            <a:ext cx="4846320" cy="676656"/>
          </a:xfrm>
          <a:prstGeom prst="rect">
            <a:avLst/>
          </a:prstGeom>
          <a:noFill/>
        </p:spPr>
        <p:txBody>
          <a:bodyPr wrap="square" anchor="ctr">
            <a:spAutoFit/>
          </a:bodyPr>
          <a:lstStyle/>
          <a:p>
            <a:pPr algn="l">
              <a:spcAft>
                <a:spcPts val="400"/>
              </a:spcAft>
            </a:pPr>
            <a:r>
              <a:rPr sz="1050" b="1">
                <a:solidFill>
                  <a:srgbClr val="1F6FEB"/>
                </a:solidFill>
                <a:latin typeface="Arial"/>
              </a:rPr>
              <a:t>FORMAT   </a:t>
            </a:r>
            <a:r>
              <a:rPr sz="1150" b="0">
                <a:solidFill>
                  <a:srgbClr val="161B26"/>
                </a:solidFill>
                <a:latin typeface="Arial"/>
              </a:rPr>
              <a:t>Role Play + Peer Sharing</a:t>
            </a:r>
          </a:p>
        </p:txBody>
      </p:sp>
      <p:sp>
        <p:nvSpPr>
          <p:cNvPr id="15" name="Rectangle 14"/>
          <p:cNvSpPr/>
          <p:nvPr/>
        </p:nvSpPr>
        <p:spPr>
          <a:xfrm>
            <a:off x="6181344" y="5230368"/>
            <a:ext cx="5230368" cy="67665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9944" y="5230368"/>
            <a:ext cx="4846320" cy="676656"/>
          </a:xfrm>
          <a:prstGeom prst="rect">
            <a:avLst/>
          </a:prstGeom>
          <a:noFill/>
        </p:spPr>
        <p:txBody>
          <a:bodyPr wrap="square" anchor="ctr">
            <a:spAutoFit/>
          </a:bodyPr>
          <a:lstStyle/>
          <a:p>
            <a:pPr algn="l">
              <a:spcAft>
                <a:spcPts val="400"/>
              </a:spcAft>
            </a:pPr>
            <a:r>
              <a:rPr sz="1050" b="1">
                <a:solidFill>
                  <a:srgbClr val="16845B"/>
                </a:solidFill>
                <a:latin typeface="Arial"/>
              </a:rPr>
              <a:t>ROLES   </a:t>
            </a:r>
            <a:r>
              <a:rPr sz="1150" b="0">
                <a:solidFill>
                  <a:srgbClr val="161B26"/>
                </a:solidFill>
                <a:latin typeface="Arial"/>
              </a:rPr>
              <a:t>Pairs. Role A = Service Officer, Role B = Mr Krishnan. Swap after the first round. Observers score.</a:t>
            </a:r>
          </a:p>
        </p:txBody>
      </p:sp>
      <p:sp>
        <p:nvSpPr>
          <p:cNvPr id="17" name="TextBox 16"/>
          <p:cNvSpPr txBox="1"/>
          <p:nvPr/>
        </p:nvSpPr>
        <p:spPr>
          <a:xfrm>
            <a:off x="777240" y="5998464"/>
            <a:ext cx="10634472" cy="365760"/>
          </a:xfrm>
          <a:prstGeom prst="rect">
            <a:avLst/>
          </a:prstGeom>
          <a:noFill/>
        </p:spPr>
        <p:txBody>
          <a:bodyPr wrap="square" anchor="t">
            <a:spAutoFit/>
          </a:bodyPr>
          <a:lstStyle/>
          <a:p>
            <a:pPr algn="ctr">
              <a:spcAft>
                <a:spcPts val="400"/>
              </a:spcAft>
            </a:pPr>
            <a:r>
              <a:rPr sz="1100" b="0">
                <a:solidFill>
                  <a:srgbClr val="5B6372"/>
                </a:solidFill>
                <a:latin typeface="Arial"/>
              </a:rPr>
              <a:t>Full step-by-step instructions: Learner Guide, Activity 2  ·  Activities folder: activities/activity-02/</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 IN YOUR GROUP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2 — Discussion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6217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01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01952"/>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572768" y="1783080"/>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Rewrite each phrase in positive language: 'We don't cover weather delays.' / 'There's nothing I can do.' / 'You'll have to pay for that yourself.' / 'That's not our policy.' / 'I don't know.'</a:t>
            </a:r>
          </a:p>
        </p:txBody>
      </p:sp>
      <p:sp>
        <p:nvSpPr>
          <p:cNvPr id="12" name="Rectangle 11"/>
          <p:cNvSpPr/>
          <p:nvPr/>
        </p:nvSpPr>
        <p:spPr>
          <a:xfrm>
            <a:off x="777240" y="2532888"/>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32888"/>
            <a:ext cx="82296" cy="6217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265176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2651760"/>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572768" y="2532888"/>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You are 90 minutes past your shift end and this is the eleventh identical case. How does that show up in your body language and voice, even when your words are correct?</a:t>
            </a:r>
          </a:p>
        </p:txBody>
      </p:sp>
      <p:sp>
        <p:nvSpPr>
          <p:cNvPr id="17" name="Rectangle 16"/>
          <p:cNvSpPr/>
          <p:nvPr/>
        </p:nvSpPr>
        <p:spPr>
          <a:xfrm>
            <a:off x="777240" y="3282696"/>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282696"/>
            <a:ext cx="82296" cy="6217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3401568"/>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40156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572768" y="3282696"/>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The answer to 'will you pay for my hotel?' is genuinely no. How do you say no and still leave the customer feeling served?</a:t>
            </a:r>
          </a:p>
        </p:txBody>
      </p:sp>
      <p:sp>
        <p:nvSpPr>
          <p:cNvPr id="22" name="Rectangle 21"/>
          <p:cNvSpPr/>
          <p:nvPr/>
        </p:nvSpPr>
        <p:spPr>
          <a:xfrm>
            <a:off x="777240" y="4032504"/>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32504"/>
            <a:ext cx="82296" cy="6217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05840" y="4151376"/>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415137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572768" y="4032504"/>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What can you offer that costs the company little but changes how Mr Krishnan experiences this? Name three things.</a:t>
            </a:r>
          </a:p>
        </p:txBody>
      </p:sp>
      <p:sp>
        <p:nvSpPr>
          <p:cNvPr id="27" name="Rectangle 26"/>
          <p:cNvSpPr/>
          <p:nvPr/>
        </p:nvSpPr>
        <p:spPr>
          <a:xfrm>
            <a:off x="777240" y="4782312"/>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782312"/>
            <a:ext cx="82296" cy="6217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5840" y="490118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490118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1" name="TextBox 30"/>
          <p:cNvSpPr txBox="1"/>
          <p:nvPr/>
        </p:nvSpPr>
        <p:spPr>
          <a:xfrm>
            <a:off x="1572768" y="4782312"/>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At what point, if any, would you escalate to the duty manager — and what would you say to Mr Krishnan as you do it?</a:t>
            </a:r>
          </a:p>
        </p:txBody>
      </p:sp>
      <p:sp>
        <p:nvSpPr>
          <p:cNvPr id="32" name="Rectangle 31"/>
          <p:cNvSpPr/>
          <p:nvPr/>
        </p:nvSpPr>
        <p:spPr>
          <a:xfrm>
            <a:off x="777240" y="5532120"/>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532120"/>
            <a:ext cx="82296" cy="6217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05840" y="5650992"/>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40" y="5650992"/>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572768" y="5532120"/>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The two crying children are not your customer, but they change the interaction. How?</a:t>
            </a:r>
          </a:p>
        </p:txBody>
      </p:sp>
      <p:sp>
        <p:nvSpPr>
          <p:cNvPr id="37" name="TextBox 36"/>
          <p:cNvSpPr txBox="1"/>
          <p:nvPr/>
        </p:nvSpPr>
        <p:spPr>
          <a:xfrm>
            <a:off x="777240" y="6272784"/>
            <a:ext cx="10634472" cy="256032"/>
          </a:xfrm>
          <a:prstGeom prst="rect">
            <a:avLst/>
          </a:prstGeom>
          <a:noFill/>
        </p:spPr>
        <p:txBody>
          <a:bodyPr wrap="square" anchor="t">
            <a:spAutoFit/>
          </a:bodyPr>
          <a:lstStyle/>
          <a:p>
            <a:pPr algn="ctr">
              <a:spcAft>
                <a:spcPts val="400"/>
              </a:spcAft>
            </a:pPr>
            <a:r>
              <a:rPr sz="1050" b="0">
                <a:solidFill>
                  <a:srgbClr val="5B6372"/>
                </a:solidFill>
                <a:latin typeface="Arial"/>
              </a:rPr>
              <a:t>25 minutes  ·  Pairs. Role A = Service Officer, Role B = Mr Krishnan. Swap after the first round. Observers score.</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6845B"/>
                </a:solidFill>
                <a:latin typeface="Arial"/>
              </a:rPr>
              <a:t>TOPIC 02 · WHAT GOOD LOOKS LIKE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2 — Debrief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Positive language does not mean saying yes. It means directing the customer to what IS available: 'I can get you on the 1:50pm and into the lounge now' beats 'we don't cover weather delays' with the same underlying answer.</a:t>
            </a:r>
          </a:p>
        </p:txBody>
      </p:sp>
      <p:sp>
        <p:nvSpPr>
          <p:cNvPr id="10" name="Rectangle 9"/>
          <p:cNvSpPr/>
          <p:nvPr/>
        </p:nvSpPr>
        <p:spPr>
          <a:xfrm>
            <a:off x="777240" y="243840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43840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43840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'I don't know' becomes 'let me find out' — the second is the same information plus ownership.</a:t>
            </a:r>
          </a:p>
        </p:txBody>
      </p:sp>
      <p:sp>
        <p:nvSpPr>
          <p:cNvPr id="13" name="Rectangle 12"/>
          <p:cNvSpPr/>
          <p:nvPr/>
        </p:nvSpPr>
        <p:spPr>
          <a:xfrm>
            <a:off x="777240" y="309372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09372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309372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Fatigue leaks through the non-verbal channel first. Words stay professional long after tone and posture have given up. Observers should watch for flat tone, no eye contact, and a sigh before speaking.</a:t>
            </a:r>
          </a:p>
        </p:txBody>
      </p:sp>
      <p:sp>
        <p:nvSpPr>
          <p:cNvPr id="16" name="Rectangle 15"/>
          <p:cNvSpPr/>
          <p:nvPr/>
        </p:nvSpPr>
        <p:spPr>
          <a:xfrm>
            <a:off x="777240" y="374904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74904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374904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The three low-cost offers most groups find: lounge access (comfort for the kids), a proactive rebooking done before he asks, and a printed confirmation so he does not have to re-explain at the next desk.</a:t>
            </a:r>
          </a:p>
        </p:txBody>
      </p:sp>
      <p:sp>
        <p:nvSpPr>
          <p:cNvPr id="19" name="Rectangle 18"/>
          <p:cNvSpPr/>
          <p:nvPr/>
        </p:nvSpPr>
        <p:spPr>
          <a:xfrm>
            <a:off x="777240" y="440436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40436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440436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Acknowledge the children explicitly — the customer's stress is mostly about them. Serving the parent means noticing the kids.</a:t>
            </a:r>
          </a:p>
        </p:txBody>
      </p:sp>
      <p:sp>
        <p:nvSpPr>
          <p:cNvPr id="22" name="Rectangle 21"/>
          <p:cNvSpPr/>
          <p:nvPr/>
        </p:nvSpPr>
        <p:spPr>
          <a:xfrm>
            <a:off x="777240" y="505968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05968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505968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Escalation here is not defeat: naming the duty manager and saying 'I want to ask if we can make an exception for you' shows the customer you are on their side of the counter.</a:t>
            </a:r>
          </a:p>
        </p:txBody>
      </p:sp>
      <p:sp>
        <p:nvSpPr>
          <p:cNvPr id="25" name="Rectangle 24"/>
          <p:cNvSpPr/>
          <p:nvPr/>
        </p:nvSpPr>
        <p:spPr>
          <a:xfrm>
            <a:off x="777240" y="574243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5742432"/>
            <a:ext cx="10195560" cy="566928"/>
          </a:xfrm>
          <a:prstGeom prst="rect">
            <a:avLst/>
          </a:prstGeom>
          <a:noFill/>
        </p:spPr>
        <p:txBody>
          <a:bodyPr wrap="square" anchor="ctr">
            <a:spAutoFit/>
          </a:bodyPr>
          <a:lstStyle/>
          <a:p>
            <a:pPr algn="l">
              <a:spcAft>
                <a:spcPts val="400"/>
              </a:spcAft>
            </a:pPr>
            <a:r>
              <a:rPr sz="1100" b="1">
                <a:solidFill>
                  <a:srgbClr val="10B981"/>
                </a:solidFill>
                <a:latin typeface="Arial"/>
              </a:rPr>
              <a:t>TEST IT   </a:t>
            </a:r>
            <a:r>
              <a:rPr sz="1150" b="0">
                <a:solidFill>
                  <a:srgbClr val="161B26"/>
                </a:solidFill>
                <a:latin typeface="Arial"/>
              </a:rPr>
              <a:t>You delivered a genuine 'no' inside 2 minutes, offered at least two alternatives unprompted, and your partner reports feeling served rather than dismissed.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15 minutes</a:t>
            </a:r>
          </a:p>
        </p:txBody>
      </p:sp>
    </p:spTree>
  </p:cSld>
  <p:clrMapOvr>
    <a:masterClrMapping/>
  </p:clrMapOvr>
  <p:transition spd="med" advClick="1">
    <p:push/>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Identifying and Addressing Customer Needs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Active listening · questioning · the four levels of need · going the extra mile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LU1 · K1, A2 · 50 min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Topic 3 — Key Concepts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Needs are functional and emotional</a:t>
            </a:r>
          </a:p>
          <a:p>
            <a:pPr algn="l">
              <a:spcAft>
                <a:spcPts val="300"/>
              </a:spcAft>
            </a:pPr>
            <a:r>
              <a:rPr sz="1100" b="0">
                <a:solidFill>
                  <a:srgbClr val="5B6372"/>
                </a:solidFill>
                <a:latin typeface="Arial"/>
              </a:rPr>
              <a:t>The product must work (functional) and the customer must feel valued (emotional). Missing either loses the customer.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Active listening is the core skill</a:t>
            </a:r>
          </a:p>
          <a:p>
            <a:pPr algn="l">
              <a:spcAft>
                <a:spcPts val="300"/>
              </a:spcAft>
            </a:pPr>
            <a:r>
              <a:rPr sz="1100" b="0">
                <a:solidFill>
                  <a:srgbClr val="5B6372"/>
                </a:solidFill>
                <a:latin typeface="Arial"/>
              </a:rPr>
              <a:t>Attend fully, paraphrase back, read the cues, then confirm. Only 17% of customers believe businesses actually listen (Tidio).</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Ask before you prescribe</a:t>
            </a:r>
          </a:p>
          <a:p>
            <a:pPr algn="l">
              <a:spcAft>
                <a:spcPts val="300"/>
              </a:spcAft>
            </a:pPr>
            <a:r>
              <a:rPr sz="1100" b="0">
                <a:solidFill>
                  <a:srgbClr val="5B6372"/>
                </a:solidFill>
                <a:latin typeface="Arial"/>
              </a:rPr>
              <a:t>Open questions surface the real need; closed questions confirm it. Diagnosing before solving prevents the wrong fix.</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Attentiveness reads the unsaid</a:t>
            </a:r>
          </a:p>
          <a:p>
            <a:pPr algn="l">
              <a:spcAft>
                <a:spcPts val="300"/>
              </a:spcAft>
            </a:pPr>
            <a:r>
              <a:rPr sz="1100" b="0">
                <a:solidFill>
                  <a:srgbClr val="5B6372"/>
                </a:solidFill>
                <a:latin typeface="Arial"/>
              </a:rPr>
              <a:t>Repeated 'I couldn't find it' across customers is a UX defect report, not a series of individual questions.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Four levels of addressing needs</a:t>
            </a:r>
          </a:p>
          <a:p>
            <a:pPr algn="l">
              <a:spcAft>
                <a:spcPts val="300"/>
              </a:spcAft>
            </a:pPr>
            <a:r>
              <a:rPr sz="1100" b="0">
                <a:solidFill>
                  <a:srgbClr val="5B6372"/>
                </a:solidFill>
                <a:latin typeface="Arial"/>
              </a:rPr>
              <a:t>Understand the problem → meet the basic need → think outside the box → go the extra mile.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Personalisation drives loyalty</a:t>
            </a:r>
          </a:p>
          <a:p>
            <a:pPr algn="l">
              <a:spcAft>
                <a:spcPts val="300"/>
              </a:spcAft>
            </a:pPr>
            <a:r>
              <a:rPr sz="1100" b="0">
                <a:solidFill>
                  <a:srgbClr val="5B6372"/>
                </a:solidFill>
                <a:latin typeface="Arial"/>
              </a:rPr>
              <a:t>Use history and context; 35% would rather deal with an AI than repeat themselves to a human (Salesforce).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CORE SERVICE SKILL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Active Listening — Making Listening Visible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istening_funnel.png"/>
          <p:cNvPicPr>
            <a:picLocks noChangeAspect="1"/>
          </p:cNvPicPr>
          <p:nvPr/>
        </p:nvPicPr>
        <p:blipFill>
          <a:blip r:embed="rId2"/>
          <a:stretch>
            <a:fillRect/>
          </a:stretch>
        </p:blipFill>
        <p:spPr>
          <a:xfrm>
            <a:off x="777240" y="2210951"/>
            <a:ext cx="6309360" cy="3121897"/>
          </a:xfrm>
          <a:prstGeom prst="rect">
            <a:avLst/>
          </a:prstGeom>
        </p:spPr>
      </p:pic>
      <p:sp>
        <p:nvSpPr>
          <p:cNvPr id="8" name="Rectangle 7"/>
          <p:cNvSpPr/>
          <p:nvPr/>
        </p:nvSpPr>
        <p:spPr>
          <a:xfrm>
            <a:off x="7406640" y="1783080"/>
            <a:ext cx="4005072" cy="85724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06640" y="1783080"/>
            <a:ext cx="82296" cy="85724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62672" y="1783080"/>
            <a:ext cx="3547872" cy="857249"/>
          </a:xfrm>
          <a:prstGeom prst="rect">
            <a:avLst/>
          </a:prstGeom>
          <a:noFill/>
        </p:spPr>
        <p:txBody>
          <a:bodyPr wrap="square" anchor="ctr">
            <a:spAutoFit/>
          </a:bodyPr>
          <a:lstStyle/>
          <a:p>
            <a:pPr algn="l">
              <a:spcAft>
                <a:spcPts val="200"/>
              </a:spcAft>
            </a:pPr>
            <a:r>
              <a:rPr sz="1400" b="1">
                <a:solidFill>
                  <a:srgbClr val="1F6FEB"/>
                </a:solidFill>
                <a:latin typeface="Arial"/>
              </a:rPr>
              <a:t>Attend</a:t>
            </a:r>
          </a:p>
          <a:p>
            <a:pPr algn="l">
              <a:spcAft>
                <a:spcPts val="200"/>
              </a:spcAft>
            </a:pPr>
            <a:r>
              <a:rPr sz="1200" b="0">
                <a:solidFill>
                  <a:srgbClr val="161B26"/>
                </a:solidFill>
                <a:latin typeface="Arial"/>
              </a:rPr>
              <a:t>Full attention. Phone down, body turned, eyes up. Half-attention is detected instantly.</a:t>
            </a:r>
          </a:p>
        </p:txBody>
      </p:sp>
      <p:sp>
        <p:nvSpPr>
          <p:cNvPr id="11" name="Rectangle 10"/>
          <p:cNvSpPr/>
          <p:nvPr/>
        </p:nvSpPr>
        <p:spPr>
          <a:xfrm>
            <a:off x="7406640" y="2823209"/>
            <a:ext cx="4005072" cy="85724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06640" y="2823209"/>
            <a:ext cx="82296" cy="85724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62672" y="2823209"/>
            <a:ext cx="3547872" cy="857249"/>
          </a:xfrm>
          <a:prstGeom prst="rect">
            <a:avLst/>
          </a:prstGeom>
          <a:noFill/>
        </p:spPr>
        <p:txBody>
          <a:bodyPr wrap="square" anchor="ctr">
            <a:spAutoFit/>
          </a:bodyPr>
          <a:lstStyle/>
          <a:p>
            <a:pPr algn="l">
              <a:spcAft>
                <a:spcPts val="200"/>
              </a:spcAft>
            </a:pPr>
            <a:r>
              <a:rPr sz="1400" b="1">
                <a:solidFill>
                  <a:srgbClr val="10B981"/>
                </a:solidFill>
                <a:latin typeface="Arial"/>
              </a:rPr>
              <a:t>Absorb</a:t>
            </a:r>
          </a:p>
          <a:p>
            <a:pPr algn="l">
              <a:spcAft>
                <a:spcPts val="200"/>
              </a:spcAft>
            </a:pPr>
            <a:r>
              <a:rPr sz="1200" b="0">
                <a:solidFill>
                  <a:srgbClr val="161B26"/>
                </a:solidFill>
                <a:latin typeface="Arial"/>
              </a:rPr>
              <a:t>Let them finish. The vent almost always contains the key fact.</a:t>
            </a:r>
          </a:p>
        </p:txBody>
      </p:sp>
      <p:sp>
        <p:nvSpPr>
          <p:cNvPr id="14" name="Rectangle 13"/>
          <p:cNvSpPr/>
          <p:nvPr/>
        </p:nvSpPr>
        <p:spPr>
          <a:xfrm>
            <a:off x="7406640" y="3863338"/>
            <a:ext cx="4005072" cy="85724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06640" y="3863338"/>
            <a:ext cx="82296" cy="85724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62672" y="3863338"/>
            <a:ext cx="3547872" cy="857249"/>
          </a:xfrm>
          <a:prstGeom prst="rect">
            <a:avLst/>
          </a:prstGeom>
          <a:noFill/>
        </p:spPr>
        <p:txBody>
          <a:bodyPr wrap="square" anchor="ctr">
            <a:spAutoFit/>
          </a:bodyPr>
          <a:lstStyle/>
          <a:p>
            <a:pPr algn="l">
              <a:spcAft>
                <a:spcPts val="200"/>
              </a:spcAft>
            </a:pPr>
            <a:r>
              <a:rPr sz="1400" b="1">
                <a:solidFill>
                  <a:srgbClr val="7C3AED"/>
                </a:solidFill>
                <a:latin typeface="Arial"/>
              </a:rPr>
              <a:t>Paraphrase</a:t>
            </a:r>
          </a:p>
          <a:p>
            <a:pPr algn="l">
              <a:spcAft>
                <a:spcPts val="200"/>
              </a:spcAft>
            </a:pPr>
            <a:r>
              <a:rPr sz="1200" b="0">
                <a:solidFill>
                  <a:srgbClr val="161B26"/>
                </a:solidFill>
                <a:latin typeface="Arial"/>
              </a:rPr>
              <a:t>Say it back in your own words — this is what makes listening visible.</a:t>
            </a:r>
          </a:p>
        </p:txBody>
      </p:sp>
      <p:sp>
        <p:nvSpPr>
          <p:cNvPr id="17" name="Rectangle 16"/>
          <p:cNvSpPr/>
          <p:nvPr/>
        </p:nvSpPr>
        <p:spPr>
          <a:xfrm>
            <a:off x="7406640" y="4903467"/>
            <a:ext cx="4005072" cy="85724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06640" y="4903467"/>
            <a:ext cx="82296" cy="85724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62672" y="4903467"/>
            <a:ext cx="3547872" cy="857249"/>
          </a:xfrm>
          <a:prstGeom prst="rect">
            <a:avLst/>
          </a:prstGeom>
          <a:noFill/>
        </p:spPr>
        <p:txBody>
          <a:bodyPr wrap="square" anchor="ctr">
            <a:spAutoFit/>
          </a:bodyPr>
          <a:lstStyle/>
          <a:p>
            <a:pPr algn="l">
              <a:spcAft>
                <a:spcPts val="200"/>
              </a:spcAft>
            </a:pPr>
            <a:r>
              <a:rPr sz="1400" b="1">
                <a:solidFill>
                  <a:srgbClr val="F59E0B"/>
                </a:solidFill>
                <a:latin typeface="Arial"/>
              </a:rPr>
              <a:t>Confirm, then act</a:t>
            </a:r>
          </a:p>
          <a:p>
            <a:pPr algn="l">
              <a:spcAft>
                <a:spcPts val="200"/>
              </a:spcAft>
            </a:pPr>
            <a:r>
              <a:rPr sz="1200" b="0">
                <a:solidFill>
                  <a:srgbClr val="161B26"/>
                </a:solidFill>
                <a:latin typeface="Arial"/>
              </a:rPr>
              <a:t>'Have I got that right?' Only after a yes do you propose a solution.</a:t>
            </a:r>
          </a:p>
        </p:txBody>
      </p:sp>
      <p:sp>
        <p:nvSpPr>
          <p:cNvPr id="20" name="TextBox 19"/>
          <p:cNvSpPr txBox="1"/>
          <p:nvPr/>
        </p:nvSpPr>
        <p:spPr>
          <a:xfrm>
            <a:off x="777240" y="5852160"/>
            <a:ext cx="10698480" cy="457200"/>
          </a:xfrm>
          <a:prstGeom prst="rect">
            <a:avLst/>
          </a:prstGeom>
          <a:noFill/>
        </p:spPr>
        <p:txBody>
          <a:bodyPr wrap="square" anchor="t">
            <a:spAutoFit/>
          </a:bodyPr>
          <a:lstStyle/>
          <a:p>
            <a:pPr algn="ctr">
              <a:spcAft>
                <a:spcPts val="400"/>
              </a:spcAft>
            </a:pPr>
            <a:r>
              <a:rPr sz="1300" b="0">
                <a:solidFill>
                  <a:srgbClr val="5B6372"/>
                </a:solidFill>
                <a:latin typeface="Arial"/>
              </a:rPr>
              <a:t>Only 17% of customers believe businesses actually listen to them — paraphrasing is the cheapest way to be in the other 83%.</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DIAGNOSE BEFORE YOU PRESCRIBE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Questioning — Open to Explore, Closed to Confirm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30368" cy="393192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30368" cy="38404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783080"/>
            <a:ext cx="4754880" cy="384048"/>
          </a:xfrm>
          <a:prstGeom prst="rect">
            <a:avLst/>
          </a:prstGeom>
          <a:noFill/>
        </p:spPr>
        <p:txBody>
          <a:bodyPr wrap="square" anchor="ctr">
            <a:spAutoFit/>
          </a:bodyPr>
          <a:lstStyle/>
          <a:p>
            <a:pPr algn="l">
              <a:spcAft>
                <a:spcPts val="400"/>
              </a:spcAft>
            </a:pPr>
            <a:r>
              <a:rPr sz="1350" b="1">
                <a:solidFill>
                  <a:srgbClr val="FFFFFF"/>
                </a:solidFill>
                <a:latin typeface="Arial"/>
              </a:rPr>
              <a:t>CLOSED QUESTIONS (confirm)</a:t>
            </a:r>
          </a:p>
        </p:txBody>
      </p:sp>
      <p:sp>
        <p:nvSpPr>
          <p:cNvPr id="10" name="Rectangle 9"/>
          <p:cNvSpPr/>
          <p:nvPr/>
        </p:nvSpPr>
        <p:spPr>
          <a:xfrm>
            <a:off x="6181344" y="1783080"/>
            <a:ext cx="5230368" cy="39319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81344" y="1783080"/>
            <a:ext cx="5230368" cy="38404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9944" y="1783080"/>
            <a:ext cx="4754880" cy="384048"/>
          </a:xfrm>
          <a:prstGeom prst="rect">
            <a:avLst/>
          </a:prstGeom>
          <a:noFill/>
        </p:spPr>
        <p:txBody>
          <a:bodyPr wrap="square" anchor="ctr">
            <a:spAutoFit/>
          </a:bodyPr>
          <a:lstStyle/>
          <a:p>
            <a:pPr algn="l">
              <a:spcAft>
                <a:spcPts val="400"/>
              </a:spcAft>
            </a:pPr>
            <a:r>
              <a:rPr sz="1350" b="1">
                <a:solidFill>
                  <a:srgbClr val="FFFFFF"/>
                </a:solidFill>
                <a:latin typeface="Arial"/>
              </a:rPr>
              <a:t>OPEN QUESTIONS (explore)</a:t>
            </a:r>
          </a:p>
        </p:txBody>
      </p:sp>
      <p:sp>
        <p:nvSpPr>
          <p:cNvPr id="13" name="TextBox 12"/>
          <p:cNvSpPr txBox="1"/>
          <p:nvPr/>
        </p:nvSpPr>
        <p:spPr>
          <a:xfrm>
            <a:off x="1005840" y="2331720"/>
            <a:ext cx="4800600" cy="3246120"/>
          </a:xfrm>
          <a:prstGeom prst="rect">
            <a:avLst/>
          </a:prstGeom>
          <a:noFill/>
        </p:spPr>
        <p:txBody>
          <a:bodyPr wrap="square">
            <a:spAutoFit/>
          </a:bodyPr>
          <a:lstStyle/>
          <a:p>
            <a:pPr>
              <a:spcAft>
                <a:spcPts val="900"/>
              </a:spcAft>
            </a:pPr>
            <a:r>
              <a:rPr sz="1300" b="0">
                <a:solidFill>
                  <a:srgbClr val="161B26"/>
                </a:solidFill>
                <a:latin typeface="Arial"/>
              </a:rPr>
              <a:t>•  "Is the account under your name?"</a:t>
            </a:r>
          </a:p>
          <a:p>
            <a:pPr>
              <a:spcAft>
                <a:spcPts val="900"/>
              </a:spcAft>
            </a:pPr>
            <a:r>
              <a:rPr sz="1300" b="0">
                <a:solidFill>
                  <a:srgbClr val="161B26"/>
                </a:solidFill>
                <a:latin typeface="Arial"/>
              </a:rPr>
              <a:t>•  "Did you receive the confirmation email?"</a:t>
            </a:r>
          </a:p>
          <a:p>
            <a:pPr>
              <a:spcAft>
                <a:spcPts val="900"/>
              </a:spcAft>
            </a:pPr>
            <a:r>
              <a:rPr sz="1300" b="0">
                <a:solidFill>
                  <a:srgbClr val="161B26"/>
                </a:solidFill>
                <a:latin typeface="Arial"/>
              </a:rPr>
              <a:t>•  "Would Tuesday work for delivery?"</a:t>
            </a:r>
          </a:p>
          <a:p>
            <a:pPr>
              <a:spcAft>
                <a:spcPts val="900"/>
              </a:spcAft>
            </a:pPr>
            <a:r>
              <a:rPr sz="1300" b="0">
                <a:solidFill>
                  <a:srgbClr val="161B26"/>
                </a:solidFill>
                <a:latin typeface="Arial"/>
              </a:rPr>
              <a:t>•  Use to: pin down facts, confirm, close a decision.</a:t>
            </a:r>
          </a:p>
          <a:p>
            <a:pPr>
              <a:spcAft>
                <a:spcPts val="900"/>
              </a:spcAft>
            </a:pPr>
            <a:r>
              <a:rPr sz="1300" b="0">
                <a:solidFill>
                  <a:srgbClr val="161B26"/>
                </a:solidFill>
                <a:latin typeface="Arial"/>
              </a:rPr>
              <a:t>•  Risk: asking these first makes it an interrogation.</a:t>
            </a:r>
          </a:p>
        </p:txBody>
      </p:sp>
      <p:sp>
        <p:nvSpPr>
          <p:cNvPr id="14" name="TextBox 13"/>
          <p:cNvSpPr txBox="1"/>
          <p:nvPr/>
        </p:nvSpPr>
        <p:spPr>
          <a:xfrm>
            <a:off x="6409944" y="2331720"/>
            <a:ext cx="4800600" cy="3246120"/>
          </a:xfrm>
          <a:prstGeom prst="rect">
            <a:avLst/>
          </a:prstGeom>
          <a:noFill/>
        </p:spPr>
        <p:txBody>
          <a:bodyPr wrap="square">
            <a:spAutoFit/>
          </a:bodyPr>
          <a:lstStyle/>
          <a:p>
            <a:pPr>
              <a:spcAft>
                <a:spcPts val="900"/>
              </a:spcAft>
            </a:pPr>
            <a:r>
              <a:rPr sz="1300" b="0">
                <a:solidFill>
                  <a:srgbClr val="161B26"/>
                </a:solidFill>
                <a:latin typeface="Arial"/>
              </a:rPr>
              <a:t>•  "Walk me through what happened."</a:t>
            </a:r>
          </a:p>
          <a:p>
            <a:pPr>
              <a:spcAft>
                <a:spcPts val="900"/>
              </a:spcAft>
            </a:pPr>
            <a:r>
              <a:rPr sz="1300" b="0">
                <a:solidFill>
                  <a:srgbClr val="161B26"/>
                </a:solidFill>
                <a:latin typeface="Arial"/>
              </a:rPr>
              <a:t>•  "What were you expecting to see?"</a:t>
            </a:r>
          </a:p>
          <a:p>
            <a:pPr>
              <a:spcAft>
                <a:spcPts val="900"/>
              </a:spcAft>
            </a:pPr>
            <a:r>
              <a:rPr sz="1300" b="0">
                <a:solidFill>
                  <a:srgbClr val="161B26"/>
                </a:solidFill>
                <a:latin typeface="Arial"/>
              </a:rPr>
              <a:t>•  "How is this affecting your work?"</a:t>
            </a:r>
          </a:p>
          <a:p>
            <a:pPr>
              <a:spcAft>
                <a:spcPts val="900"/>
              </a:spcAft>
            </a:pPr>
            <a:r>
              <a:rPr sz="1300" b="0">
                <a:solidFill>
                  <a:srgbClr val="161B26"/>
                </a:solidFill>
                <a:latin typeface="Arial"/>
              </a:rPr>
              <a:t>•  Use to: surface the real need and the emotion behind it.</a:t>
            </a:r>
          </a:p>
          <a:p>
            <a:pPr>
              <a:spcAft>
                <a:spcPts val="900"/>
              </a:spcAft>
            </a:pPr>
            <a:r>
              <a:rPr sz="1300" b="0">
                <a:solidFill>
                  <a:srgbClr val="161B26"/>
                </a:solidFill>
                <a:latin typeface="Arial"/>
              </a:rPr>
              <a:t>•  Rule: if it can be answered yes/no, rewrite it.</a:t>
            </a:r>
          </a:p>
        </p:txBody>
      </p:sp>
      <p:sp>
        <p:nvSpPr>
          <p:cNvPr id="15" name="Rectangle 14"/>
          <p:cNvSpPr/>
          <p:nvPr/>
        </p:nvSpPr>
        <p:spPr>
          <a:xfrm>
            <a:off x="777240" y="580644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806440"/>
            <a:ext cx="10195560" cy="566928"/>
          </a:xfrm>
          <a:prstGeom prst="rect">
            <a:avLst/>
          </a:prstGeom>
          <a:noFill/>
        </p:spPr>
        <p:txBody>
          <a:bodyPr wrap="square" anchor="ctr">
            <a:spAutoFit/>
          </a:bodyPr>
          <a:lstStyle/>
          <a:p>
            <a:pPr algn="l">
              <a:spcAft>
                <a:spcPts val="400"/>
              </a:spcAft>
            </a:pPr>
            <a:r>
              <a:rPr sz="1250" b="0">
                <a:solidFill>
                  <a:srgbClr val="161B26"/>
                </a:solidFill>
                <a:latin typeface="Arial"/>
              </a:rPr>
              <a:t>Open first to understand, closed second to confirm. Reversing the order is the most common needs-identification failure.</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 LADDER, NOT A MENU</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Four Levels of Addressing Customer Needs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our_levels.png"/>
          <p:cNvPicPr>
            <a:picLocks noChangeAspect="1"/>
          </p:cNvPicPr>
          <p:nvPr/>
        </p:nvPicPr>
        <p:blipFill>
          <a:blip r:embed="rId2"/>
          <a:stretch>
            <a:fillRect/>
          </a:stretch>
        </p:blipFill>
        <p:spPr>
          <a:xfrm>
            <a:off x="777240" y="2093799"/>
            <a:ext cx="6126480" cy="3356200"/>
          </a:xfrm>
          <a:prstGeom prst="rect">
            <a:avLst/>
          </a:prstGeom>
        </p:spPr>
      </p:pic>
      <p:sp>
        <p:nvSpPr>
          <p:cNvPr id="8" name="Rectangle 7"/>
          <p:cNvSpPr/>
          <p:nvPr/>
        </p:nvSpPr>
        <p:spPr>
          <a:xfrm>
            <a:off x="7223760" y="1783080"/>
            <a:ext cx="4187952" cy="85724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223760" y="1783080"/>
            <a:ext cx="82296" cy="85724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79792" y="1783080"/>
            <a:ext cx="3730752" cy="857249"/>
          </a:xfrm>
          <a:prstGeom prst="rect">
            <a:avLst/>
          </a:prstGeom>
          <a:noFill/>
        </p:spPr>
        <p:txBody>
          <a:bodyPr wrap="square" anchor="ctr">
            <a:spAutoFit/>
          </a:bodyPr>
          <a:lstStyle/>
          <a:p>
            <a:pPr algn="l">
              <a:spcAft>
                <a:spcPts val="200"/>
              </a:spcAft>
            </a:pPr>
            <a:r>
              <a:rPr sz="1400" b="1">
                <a:solidFill>
                  <a:srgbClr val="1F6FEB"/>
                </a:solidFill>
                <a:latin typeface="Arial"/>
              </a:rPr>
              <a:t>1 · Understand</a:t>
            </a:r>
          </a:p>
          <a:p>
            <a:pPr algn="l">
              <a:spcAft>
                <a:spcPts val="200"/>
              </a:spcAft>
            </a:pPr>
            <a:r>
              <a:rPr sz="1200" b="0">
                <a:solidFill>
                  <a:srgbClr val="161B26"/>
                </a:solidFill>
                <a:latin typeface="Arial"/>
              </a:rPr>
              <a:t>Diagnose the actual problem before offering any solution.</a:t>
            </a:r>
          </a:p>
        </p:txBody>
      </p:sp>
      <p:sp>
        <p:nvSpPr>
          <p:cNvPr id="11" name="Rectangle 10"/>
          <p:cNvSpPr/>
          <p:nvPr/>
        </p:nvSpPr>
        <p:spPr>
          <a:xfrm>
            <a:off x="7223760" y="2823209"/>
            <a:ext cx="4187952" cy="85724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23760" y="2823209"/>
            <a:ext cx="82296" cy="85724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79792" y="2823209"/>
            <a:ext cx="3730752" cy="857249"/>
          </a:xfrm>
          <a:prstGeom prst="rect">
            <a:avLst/>
          </a:prstGeom>
          <a:noFill/>
        </p:spPr>
        <p:txBody>
          <a:bodyPr wrap="square" anchor="ctr">
            <a:spAutoFit/>
          </a:bodyPr>
          <a:lstStyle/>
          <a:p>
            <a:pPr algn="l">
              <a:spcAft>
                <a:spcPts val="200"/>
              </a:spcAft>
            </a:pPr>
            <a:r>
              <a:rPr sz="1400" b="1">
                <a:solidFill>
                  <a:srgbClr val="10B981"/>
                </a:solidFill>
                <a:latin typeface="Arial"/>
              </a:rPr>
              <a:t>2 · Meet the basic need</a:t>
            </a:r>
          </a:p>
          <a:p>
            <a:pPr algn="l">
              <a:spcAft>
                <a:spcPts val="200"/>
              </a:spcAft>
            </a:pPr>
            <a:r>
              <a:rPr sz="1200" b="0">
                <a:solidFill>
                  <a:srgbClr val="161B26"/>
                </a:solidFill>
                <a:latin typeface="Arial"/>
              </a:rPr>
              <a:t>Deliver what was promised, accurately and on time. Non-negotiable.</a:t>
            </a:r>
          </a:p>
        </p:txBody>
      </p:sp>
      <p:sp>
        <p:nvSpPr>
          <p:cNvPr id="14" name="Rectangle 13"/>
          <p:cNvSpPr/>
          <p:nvPr/>
        </p:nvSpPr>
        <p:spPr>
          <a:xfrm>
            <a:off x="7223760" y="3863338"/>
            <a:ext cx="4187952" cy="85724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223760" y="3863338"/>
            <a:ext cx="82296" cy="85724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79792" y="3863338"/>
            <a:ext cx="3730752" cy="857249"/>
          </a:xfrm>
          <a:prstGeom prst="rect">
            <a:avLst/>
          </a:prstGeom>
          <a:noFill/>
        </p:spPr>
        <p:txBody>
          <a:bodyPr wrap="square" anchor="ctr">
            <a:spAutoFit/>
          </a:bodyPr>
          <a:lstStyle/>
          <a:p>
            <a:pPr algn="l">
              <a:spcAft>
                <a:spcPts val="200"/>
              </a:spcAft>
            </a:pPr>
            <a:r>
              <a:rPr sz="1400" b="1">
                <a:solidFill>
                  <a:srgbClr val="7C3AED"/>
                </a:solidFill>
                <a:latin typeface="Arial"/>
              </a:rPr>
              <a:t>3 · Outside the box</a:t>
            </a:r>
          </a:p>
          <a:p>
            <a:pPr algn="l">
              <a:spcAft>
                <a:spcPts val="200"/>
              </a:spcAft>
            </a:pPr>
            <a:r>
              <a:rPr sz="1200" b="0">
                <a:solidFill>
                  <a:srgbClr val="161B26"/>
                </a:solidFill>
                <a:latin typeface="Arial"/>
              </a:rPr>
              <a:t>Find a route when the standard answer is 'no'.</a:t>
            </a:r>
          </a:p>
        </p:txBody>
      </p:sp>
      <p:sp>
        <p:nvSpPr>
          <p:cNvPr id="17" name="Rectangle 16"/>
          <p:cNvSpPr/>
          <p:nvPr/>
        </p:nvSpPr>
        <p:spPr>
          <a:xfrm>
            <a:off x="7223760" y="4903467"/>
            <a:ext cx="4187952" cy="85724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223760" y="4903467"/>
            <a:ext cx="82296" cy="85724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79792" y="4903467"/>
            <a:ext cx="3730752" cy="857249"/>
          </a:xfrm>
          <a:prstGeom prst="rect">
            <a:avLst/>
          </a:prstGeom>
          <a:noFill/>
        </p:spPr>
        <p:txBody>
          <a:bodyPr wrap="square" anchor="ctr">
            <a:spAutoFit/>
          </a:bodyPr>
          <a:lstStyle/>
          <a:p>
            <a:pPr algn="l">
              <a:spcAft>
                <a:spcPts val="200"/>
              </a:spcAft>
            </a:pPr>
            <a:r>
              <a:rPr sz="1400" b="1">
                <a:solidFill>
                  <a:srgbClr val="F59E0B"/>
                </a:solidFill>
                <a:latin typeface="Arial"/>
              </a:rPr>
              <a:t>4 · The extra mile</a:t>
            </a:r>
          </a:p>
          <a:p>
            <a:pPr algn="l">
              <a:spcAft>
                <a:spcPts val="200"/>
              </a:spcAft>
            </a:pPr>
            <a:r>
              <a:rPr sz="1200" b="0">
                <a:solidFill>
                  <a:srgbClr val="161B26"/>
                </a:solidFill>
                <a:latin typeface="Arial"/>
              </a:rPr>
              <a:t>Give what was never asked for but was exactly what was needed.</a:t>
            </a:r>
          </a:p>
        </p:txBody>
      </p:sp>
      <p:sp>
        <p:nvSpPr>
          <p:cNvPr id="20" name="TextBox 19"/>
          <p:cNvSpPr txBox="1"/>
          <p:nvPr/>
        </p:nvSpPr>
        <p:spPr>
          <a:xfrm>
            <a:off x="777240" y="5852160"/>
            <a:ext cx="10698480" cy="457200"/>
          </a:xfrm>
          <a:prstGeom prst="rect">
            <a:avLst/>
          </a:prstGeom>
          <a:noFill/>
        </p:spPr>
        <p:txBody>
          <a:bodyPr wrap="square" anchor="t">
            <a:spAutoFit/>
          </a:bodyPr>
          <a:lstStyle/>
          <a:p>
            <a:pPr algn="ctr">
              <a:spcAft>
                <a:spcPts val="400"/>
              </a:spcAft>
            </a:pPr>
            <a:r>
              <a:rPr sz="1300" b="0">
                <a:solidFill>
                  <a:srgbClr val="5B6372"/>
                </a:solidFill>
                <a:latin typeface="Arial"/>
              </a:rPr>
              <a:t>Level 4 delivered while level 2 is failing reads as a distraction — you cannot skip the rungs.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INFERENCE THAT MATTERS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What They Said vs What They Need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aid_vs_needed.png"/>
          <p:cNvPicPr>
            <a:picLocks noChangeAspect="1"/>
          </p:cNvPicPr>
          <p:nvPr/>
        </p:nvPicPr>
        <p:blipFill>
          <a:blip r:embed="rId2"/>
          <a:stretch>
            <a:fillRect/>
          </a:stretch>
        </p:blipFill>
        <p:spPr>
          <a:xfrm>
            <a:off x="777240" y="2469033"/>
            <a:ext cx="6583680" cy="2971493"/>
          </a:xfrm>
          <a:prstGeom prst="rect">
            <a:avLst/>
          </a:prstGeom>
        </p:spPr>
      </p:pic>
      <p:sp>
        <p:nvSpPr>
          <p:cNvPr id="8" name="Rectangle 7"/>
          <p:cNvSpPr/>
          <p:nvPr/>
        </p:nvSpPr>
        <p:spPr>
          <a:xfrm>
            <a:off x="7680960" y="1783080"/>
            <a:ext cx="373075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36992" y="1783080"/>
            <a:ext cx="3273552" cy="948690"/>
          </a:xfrm>
          <a:prstGeom prst="rect">
            <a:avLst/>
          </a:prstGeom>
          <a:noFill/>
        </p:spPr>
        <p:txBody>
          <a:bodyPr wrap="square" anchor="ctr">
            <a:spAutoFit/>
          </a:bodyPr>
          <a:lstStyle/>
          <a:p>
            <a:pPr algn="l">
              <a:spcAft>
                <a:spcPts val="200"/>
              </a:spcAft>
            </a:pPr>
            <a:r>
              <a:rPr sz="1400" b="1">
                <a:solidFill>
                  <a:srgbClr val="1F6FEB"/>
                </a:solidFill>
                <a:latin typeface="Arial"/>
              </a:rPr>
              <a:t>Complaints are symptoms</a:t>
            </a:r>
          </a:p>
          <a:p>
            <a:pPr algn="l">
              <a:spcAft>
                <a:spcPts val="200"/>
              </a:spcAft>
            </a:pPr>
            <a:r>
              <a:rPr sz="1200" b="0">
                <a:solidFill>
                  <a:srgbClr val="161B26"/>
                </a:solidFill>
                <a:latin typeface="Arial"/>
              </a:rPr>
              <a:t>The stated problem is where they started, not where the need lives.</a:t>
            </a:r>
          </a:p>
        </p:txBody>
      </p:sp>
      <p:sp>
        <p:nvSpPr>
          <p:cNvPr id="11" name="Rectangle 10"/>
          <p:cNvSpPr/>
          <p:nvPr/>
        </p:nvSpPr>
        <p:spPr>
          <a:xfrm>
            <a:off x="7680960" y="2914650"/>
            <a:ext cx="373075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36992" y="2914650"/>
            <a:ext cx="3273552" cy="948690"/>
          </a:xfrm>
          <a:prstGeom prst="rect">
            <a:avLst/>
          </a:prstGeom>
          <a:noFill/>
        </p:spPr>
        <p:txBody>
          <a:bodyPr wrap="square" anchor="ctr">
            <a:spAutoFit/>
          </a:bodyPr>
          <a:lstStyle/>
          <a:p>
            <a:pPr algn="l">
              <a:spcAft>
                <a:spcPts val="200"/>
              </a:spcAft>
            </a:pPr>
            <a:r>
              <a:rPr sz="1400" b="1">
                <a:solidFill>
                  <a:srgbClr val="10B981"/>
                </a:solidFill>
                <a:latin typeface="Arial"/>
              </a:rPr>
              <a:t>Functional vs emotional</a:t>
            </a:r>
          </a:p>
          <a:p>
            <a:pPr algn="l">
              <a:spcAft>
                <a:spcPts val="200"/>
              </a:spcAft>
            </a:pPr>
            <a:r>
              <a:rPr sz="1200" b="0">
                <a:solidFill>
                  <a:srgbClr val="161B26"/>
                </a:solidFill>
                <a:latin typeface="Arial"/>
              </a:rPr>
              <a:t>The product must work AND the customer must feel valued.</a:t>
            </a:r>
          </a:p>
        </p:txBody>
      </p:sp>
      <p:sp>
        <p:nvSpPr>
          <p:cNvPr id="14" name="Rectangle 13"/>
          <p:cNvSpPr/>
          <p:nvPr/>
        </p:nvSpPr>
        <p:spPr>
          <a:xfrm>
            <a:off x="7680960" y="4046220"/>
            <a:ext cx="373075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36992" y="4046220"/>
            <a:ext cx="3273552" cy="948690"/>
          </a:xfrm>
          <a:prstGeom prst="rect">
            <a:avLst/>
          </a:prstGeom>
          <a:noFill/>
        </p:spPr>
        <p:txBody>
          <a:bodyPr wrap="square" anchor="ctr">
            <a:spAutoFit/>
          </a:bodyPr>
          <a:lstStyle/>
          <a:p>
            <a:pPr algn="l">
              <a:spcAft>
                <a:spcPts val="200"/>
              </a:spcAft>
            </a:pPr>
            <a:r>
              <a:rPr sz="1400" b="1">
                <a:solidFill>
                  <a:srgbClr val="7C3AED"/>
                </a:solidFill>
                <a:latin typeface="Arial"/>
              </a:rPr>
              <a:t>Listen for the deadline</a:t>
            </a:r>
          </a:p>
          <a:p>
            <a:pPr algn="l">
              <a:spcAft>
                <a:spcPts val="200"/>
              </a:spcAft>
            </a:pPr>
            <a:r>
              <a:rPr sz="1200" b="0">
                <a:solidFill>
                  <a:srgbClr val="161B26"/>
                </a:solidFill>
                <a:latin typeface="Arial"/>
              </a:rPr>
              <a:t>The real brief is often the last sentence, not the first.</a:t>
            </a:r>
          </a:p>
        </p:txBody>
      </p:sp>
      <p:sp>
        <p:nvSpPr>
          <p:cNvPr id="17" name="Rectangle 16"/>
          <p:cNvSpPr/>
          <p:nvPr/>
        </p:nvSpPr>
        <p:spPr>
          <a:xfrm>
            <a:off x="7680960" y="5177790"/>
            <a:ext cx="373075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36992" y="5177790"/>
            <a:ext cx="3273552" cy="948690"/>
          </a:xfrm>
          <a:prstGeom prst="rect">
            <a:avLst/>
          </a:prstGeom>
          <a:noFill/>
        </p:spPr>
        <p:txBody>
          <a:bodyPr wrap="square" anchor="ctr">
            <a:spAutoFit/>
          </a:bodyPr>
          <a:lstStyle/>
          <a:p>
            <a:pPr algn="l">
              <a:spcAft>
                <a:spcPts val="200"/>
              </a:spcAft>
            </a:pPr>
            <a:r>
              <a:rPr sz="1400" b="1">
                <a:solidFill>
                  <a:srgbClr val="F59E0B"/>
                </a:solidFill>
                <a:latin typeface="Arial"/>
              </a:rPr>
              <a:t>Attentiveness reads patterns</a:t>
            </a:r>
          </a:p>
          <a:p>
            <a:pPr algn="l">
              <a:spcAft>
                <a:spcPts val="200"/>
              </a:spcAft>
            </a:pPr>
            <a:r>
              <a:rPr sz="1200" b="0">
                <a:solidFill>
                  <a:srgbClr val="161B26"/>
                </a:solidFill>
                <a:latin typeface="Arial"/>
              </a:rPr>
              <a:t>The same complaint from many customers is a defect report.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CASE STUDY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3 — Diagnosing Customer Needs at a Growing SME — TechNova Account Review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200" b="1">
                <a:solidFill>
                  <a:srgbClr val="FFFFFF"/>
                </a:solidFill>
                <a:latin typeface="Arial"/>
              </a:rPr>
              <a:t>ACTIVITY 3  ·  35 MIN</a:t>
            </a:r>
          </a:p>
        </p:txBody>
      </p:sp>
      <p:sp>
        <p:nvSpPr>
          <p:cNvPr id="9" name="Rectangle 8"/>
          <p:cNvSpPr/>
          <p:nvPr/>
        </p:nvSpPr>
        <p:spPr>
          <a:xfrm>
            <a:off x="777240" y="1783080"/>
            <a:ext cx="10634472" cy="3310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91440" cy="3310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190195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SCENARIO</a:t>
            </a:r>
          </a:p>
        </p:txBody>
      </p:sp>
      <p:sp>
        <p:nvSpPr>
          <p:cNvPr id="12" name="TextBox 11"/>
          <p:cNvSpPr txBox="1"/>
          <p:nvPr/>
        </p:nvSpPr>
        <p:spPr>
          <a:xfrm>
            <a:off x="1051560" y="2240280"/>
            <a:ext cx="10149840" cy="2743200"/>
          </a:xfrm>
          <a:prstGeom prst="rect">
            <a:avLst/>
          </a:prstGeom>
          <a:noFill/>
        </p:spPr>
        <p:txBody>
          <a:bodyPr wrap="square" anchor="t">
            <a:spAutoFit/>
          </a:bodyPr>
          <a:lstStyle/>
          <a:p>
            <a:pPr algn="l">
              <a:spcAft>
                <a:spcPts val="700"/>
              </a:spcAft>
            </a:pPr>
            <a:r>
              <a:rPr sz="1150" b="0">
                <a:solidFill>
                  <a:srgbClr val="161B26"/>
                </a:solidFill>
                <a:latin typeface="Arial"/>
              </a:rPr>
              <a:t>TechNova Solutions (Singapore) supplies a cloud project-management platform. Mr Daniel Lim is Operations Director at Horizon Builders Pte Ltd, a Woodlands-based construction firm and a customer for 6 years. Horizon has grown from 12 to 50 employees. Daniel emails: 'Uploads are painfully slow, the reports are useless for what we need, and it took your support team 4 days to answer my last ticket. Competitors are offering us more for less. I need to justify this renewal to my MD by end of month.'</a:t>
            </a:r>
          </a:p>
          <a:p>
            <a:pPr algn="l">
              <a:spcAft>
                <a:spcPts val="700"/>
              </a:spcAft>
            </a:pPr>
            <a:r>
              <a:rPr sz="1150" b="0">
                <a:solidFill>
                  <a:srgbClr val="161B26"/>
                </a:solidFill>
                <a:latin typeface="Arial"/>
              </a:rPr>
              <a:t>What the account record shows: Horizon is on Team Pro (a 15-seat plan) with 50 users sharing logins. Upload slowness correlates with 200MB+ site photo batches — the plan caps concurrent uploads. The reporting Daniel wants (cost-per-project roll-up) exists in the Enterprise tier. The 4-day ticket was logged during the Chinese New Year holiday period. Daniel has never had a formal account review in 6 years.</a:t>
            </a:r>
          </a:p>
        </p:txBody>
      </p:sp>
      <p:sp>
        <p:nvSpPr>
          <p:cNvPr id="13" name="Rectangle 12"/>
          <p:cNvSpPr/>
          <p:nvPr/>
        </p:nvSpPr>
        <p:spPr>
          <a:xfrm>
            <a:off x="777240" y="5230368"/>
            <a:ext cx="5230368" cy="676656"/>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230368"/>
            <a:ext cx="4846320" cy="676656"/>
          </a:xfrm>
          <a:prstGeom prst="rect">
            <a:avLst/>
          </a:prstGeom>
          <a:noFill/>
        </p:spPr>
        <p:txBody>
          <a:bodyPr wrap="square" anchor="ctr">
            <a:spAutoFit/>
          </a:bodyPr>
          <a:lstStyle/>
          <a:p>
            <a:pPr algn="l">
              <a:spcAft>
                <a:spcPts val="400"/>
              </a:spcAft>
            </a:pPr>
            <a:r>
              <a:rPr sz="1050" b="1">
                <a:solidFill>
                  <a:srgbClr val="1F6FEB"/>
                </a:solidFill>
                <a:latin typeface="Arial"/>
              </a:rPr>
              <a:t>FORMAT   </a:t>
            </a:r>
            <a:r>
              <a:rPr sz="1150" b="0">
                <a:solidFill>
                  <a:srgbClr val="161B26"/>
                </a:solidFill>
                <a:latin typeface="Arial"/>
              </a:rPr>
              <a:t>Case Study + Role Play</a:t>
            </a:r>
          </a:p>
        </p:txBody>
      </p:sp>
      <p:sp>
        <p:nvSpPr>
          <p:cNvPr id="15" name="Rectangle 14"/>
          <p:cNvSpPr/>
          <p:nvPr/>
        </p:nvSpPr>
        <p:spPr>
          <a:xfrm>
            <a:off x="6181344" y="5230368"/>
            <a:ext cx="5230368" cy="67665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9944" y="5230368"/>
            <a:ext cx="4846320" cy="676656"/>
          </a:xfrm>
          <a:prstGeom prst="rect">
            <a:avLst/>
          </a:prstGeom>
          <a:noFill/>
        </p:spPr>
        <p:txBody>
          <a:bodyPr wrap="square" anchor="ctr">
            <a:spAutoFit/>
          </a:bodyPr>
          <a:lstStyle/>
          <a:p>
            <a:pPr algn="l">
              <a:spcAft>
                <a:spcPts val="400"/>
              </a:spcAft>
            </a:pPr>
            <a:r>
              <a:rPr sz="1050" b="1">
                <a:solidFill>
                  <a:srgbClr val="16845B"/>
                </a:solidFill>
                <a:latin typeface="Arial"/>
              </a:rPr>
              <a:t>ROLES   </a:t>
            </a:r>
            <a:r>
              <a:rPr sz="1150" b="0">
                <a:solidFill>
                  <a:srgbClr val="161B26"/>
                </a:solidFill>
                <a:latin typeface="Arial"/>
              </a:rPr>
              <a:t>Pairs. Role A = TechNova Account Manager, Role B = Daniel Lim. Assessor-style observer optional.</a:t>
            </a:r>
          </a:p>
        </p:txBody>
      </p:sp>
      <p:sp>
        <p:nvSpPr>
          <p:cNvPr id="17" name="TextBox 16"/>
          <p:cNvSpPr txBox="1"/>
          <p:nvPr/>
        </p:nvSpPr>
        <p:spPr>
          <a:xfrm>
            <a:off x="777240" y="5998464"/>
            <a:ext cx="10634472" cy="365760"/>
          </a:xfrm>
          <a:prstGeom prst="rect">
            <a:avLst/>
          </a:prstGeom>
          <a:noFill/>
        </p:spPr>
        <p:txBody>
          <a:bodyPr wrap="square" anchor="t">
            <a:spAutoFit/>
          </a:bodyPr>
          <a:lstStyle/>
          <a:p>
            <a:pPr algn="ctr">
              <a:spcAft>
                <a:spcPts val="400"/>
              </a:spcAft>
            </a:pPr>
            <a:r>
              <a:rPr sz="1100" b="0">
                <a:solidFill>
                  <a:srgbClr val="5B6372"/>
                </a:solidFill>
                <a:latin typeface="Arial"/>
              </a:rPr>
              <a:t>Full step-by-step instructions: Learner Guide, Activity 3  ·  Activities folder: activities/activity-03/</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 IN YOUR GROUP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3 — Discussion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6217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01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01952"/>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572768" y="1783080"/>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Separate what Daniel SAID from what Daniel NEEDS. Write two columns. They are not the same list.</a:t>
            </a:r>
          </a:p>
        </p:txBody>
      </p:sp>
      <p:sp>
        <p:nvSpPr>
          <p:cNvPr id="12" name="Rectangle 11"/>
          <p:cNvSpPr/>
          <p:nvPr/>
        </p:nvSpPr>
        <p:spPr>
          <a:xfrm>
            <a:off x="777240" y="2532888"/>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32888"/>
            <a:ext cx="82296" cy="6217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265176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2651760"/>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572768" y="2532888"/>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Identify Daniel's FUNCTIONAL needs and his EMOTIONAL needs. Which one is driving the email's tone?</a:t>
            </a:r>
          </a:p>
        </p:txBody>
      </p:sp>
      <p:sp>
        <p:nvSpPr>
          <p:cNvPr id="17" name="Rectangle 16"/>
          <p:cNvSpPr/>
          <p:nvPr/>
        </p:nvSpPr>
        <p:spPr>
          <a:xfrm>
            <a:off x="777240" y="3282696"/>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282696"/>
            <a:ext cx="82296" cy="6217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3401568"/>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40156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572768" y="3282696"/>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'I need to justify this renewal to my MD by end of month.' What does this sentence tell you that the complaints do not?</a:t>
            </a:r>
          </a:p>
        </p:txBody>
      </p:sp>
      <p:sp>
        <p:nvSpPr>
          <p:cNvPr id="22" name="Rectangle 21"/>
          <p:cNvSpPr/>
          <p:nvPr/>
        </p:nvSpPr>
        <p:spPr>
          <a:xfrm>
            <a:off x="777240" y="4032504"/>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32504"/>
            <a:ext cx="82296" cy="6217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05840" y="4151376"/>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415137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572768" y="4032504"/>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Map your findings to the four levels: understand the problem / meet basic needs / think outside the box / go the extra mile. What sits at each level?</a:t>
            </a:r>
          </a:p>
        </p:txBody>
      </p:sp>
      <p:sp>
        <p:nvSpPr>
          <p:cNvPr id="27" name="Rectangle 26"/>
          <p:cNvSpPr/>
          <p:nvPr/>
        </p:nvSpPr>
        <p:spPr>
          <a:xfrm>
            <a:off x="777240" y="4782312"/>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782312"/>
            <a:ext cx="82296" cy="6217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5840" y="490118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490118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1" name="TextBox 30"/>
          <p:cNvSpPr txBox="1"/>
          <p:nvPr/>
        </p:nvSpPr>
        <p:spPr>
          <a:xfrm>
            <a:off x="1572768" y="4782312"/>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Horizon has 50 users on a 15-seat plan. This is a contract breach AND the cause of the slowness. How do you raise it without turning a save into a fight?</a:t>
            </a:r>
          </a:p>
        </p:txBody>
      </p:sp>
      <p:sp>
        <p:nvSpPr>
          <p:cNvPr id="32" name="Rectangle 31"/>
          <p:cNvSpPr/>
          <p:nvPr/>
        </p:nvSpPr>
        <p:spPr>
          <a:xfrm>
            <a:off x="777240" y="5532120"/>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532120"/>
            <a:ext cx="82296" cy="6217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05840" y="5650992"/>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40" y="5650992"/>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572768" y="5532120"/>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Six years, no account review. What does that reveal about TechNova's own service process — and what should change?</a:t>
            </a:r>
          </a:p>
        </p:txBody>
      </p:sp>
      <p:sp>
        <p:nvSpPr>
          <p:cNvPr id="37" name="TextBox 36"/>
          <p:cNvSpPr txBox="1"/>
          <p:nvPr/>
        </p:nvSpPr>
        <p:spPr>
          <a:xfrm>
            <a:off x="777240" y="6272784"/>
            <a:ext cx="10634472" cy="256032"/>
          </a:xfrm>
          <a:prstGeom prst="rect">
            <a:avLst/>
          </a:prstGeom>
          <a:noFill/>
        </p:spPr>
        <p:txBody>
          <a:bodyPr wrap="square" anchor="t">
            <a:spAutoFit/>
          </a:bodyPr>
          <a:lstStyle/>
          <a:p>
            <a:pPr algn="ctr">
              <a:spcAft>
                <a:spcPts val="400"/>
              </a:spcAft>
            </a:pPr>
            <a:r>
              <a:rPr sz="1050" b="0">
                <a:solidFill>
                  <a:srgbClr val="5B6372"/>
                </a:solidFill>
                <a:latin typeface="Arial"/>
              </a:rPr>
              <a:t>35 minutes  ·  Pairs. Role A = TechNova Account Manager, Role B = Daniel Lim. Assessor-style observer optional.</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6845B"/>
                </a:solidFill>
                <a:latin typeface="Arial"/>
              </a:rPr>
              <a:t>TOPIC 03 · WHAT GOOD LOOKS LIKE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3 — Debrief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Said vs needed: he SAYS slow uploads, useless reports, slow support. He NEEDS a defensible business case for his MD by month end. Solve only the first three and you still lose the account.</a:t>
            </a:r>
          </a:p>
        </p:txBody>
      </p:sp>
      <p:sp>
        <p:nvSpPr>
          <p:cNvPr id="10" name="Rectangle 9"/>
          <p:cNvSpPr/>
          <p:nvPr/>
        </p:nvSpPr>
        <p:spPr>
          <a:xfrm>
            <a:off x="777240" y="243840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43840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43840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The emotional need is dominant: Daniel is exposed in front of his MD. The functional fixes are the evidence he needs to not look foolish for having stayed 6 years.</a:t>
            </a:r>
          </a:p>
        </p:txBody>
      </p:sp>
      <p:sp>
        <p:nvSpPr>
          <p:cNvPr id="13" name="Rectangle 12"/>
          <p:cNvSpPr/>
          <p:nvPr/>
        </p:nvSpPr>
        <p:spPr>
          <a:xfrm>
            <a:off x="777240" y="309372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09372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309372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The last sentence is the actual brief. Everything before it is symptoms. Learners who spot this are doing genuine needs identification rather than complaint triage.</a:t>
            </a:r>
          </a:p>
        </p:txBody>
      </p:sp>
      <p:sp>
        <p:nvSpPr>
          <p:cNvPr id="16" name="Rectangle 15"/>
          <p:cNvSpPr/>
          <p:nvPr/>
        </p:nvSpPr>
        <p:spPr>
          <a:xfrm>
            <a:off x="777240" y="374904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74904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374904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Four levels — understand: the plan no longer fits a 50-person firm. Basic: fix the upload cap and the ticket SLA. Outside the box: the seat overage is leverage for a migration, not a penalty. Extra mile: build the cost-per-project report FOR his MD deck.</a:t>
            </a:r>
          </a:p>
        </p:txBody>
      </p:sp>
      <p:sp>
        <p:nvSpPr>
          <p:cNvPr id="19" name="Rectangle 18"/>
          <p:cNvSpPr/>
          <p:nvPr/>
        </p:nvSpPr>
        <p:spPr>
          <a:xfrm>
            <a:off x="777240" y="440436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40436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440436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The 15-seat breach must be raised as a discovery, not an accusation: 'your growth has outrun the plan we sold you six years ago — that's on us for not reviewing it.'</a:t>
            </a:r>
          </a:p>
        </p:txBody>
      </p:sp>
      <p:sp>
        <p:nvSpPr>
          <p:cNvPr id="22" name="Rectangle 21"/>
          <p:cNvSpPr/>
          <p:nvPr/>
        </p:nvSpPr>
        <p:spPr>
          <a:xfrm>
            <a:off x="777240" y="505968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05968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505968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The real service failure is TechNova's: no account review in 6 years means nobody was listening until the customer shouted. The process fix is a scheduled review cadence — this is a Topic 7 closed-loop point arriving early.</a:t>
            </a:r>
          </a:p>
        </p:txBody>
      </p:sp>
      <p:sp>
        <p:nvSpPr>
          <p:cNvPr id="25" name="Rectangle 24"/>
          <p:cNvSpPr/>
          <p:nvPr/>
        </p:nvSpPr>
        <p:spPr>
          <a:xfrm>
            <a:off x="777240" y="574243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5742432"/>
            <a:ext cx="10195560" cy="566928"/>
          </a:xfrm>
          <a:prstGeom prst="rect">
            <a:avLst/>
          </a:prstGeom>
          <a:noFill/>
        </p:spPr>
        <p:txBody>
          <a:bodyPr wrap="square" anchor="ctr">
            <a:spAutoFit/>
          </a:bodyPr>
          <a:lstStyle/>
          <a:p>
            <a:pPr algn="l">
              <a:spcAft>
                <a:spcPts val="400"/>
              </a:spcAft>
            </a:pPr>
            <a:r>
              <a:rPr sz="1100" b="1">
                <a:solidFill>
                  <a:srgbClr val="10B981"/>
                </a:solidFill>
                <a:latin typeface="Arial"/>
              </a:rPr>
              <a:t>TEST IT   </a:t>
            </a:r>
            <a:r>
              <a:rPr sz="1150" b="0">
                <a:solidFill>
                  <a:srgbClr val="161B26"/>
                </a:solidFill>
                <a:latin typeface="Arial"/>
              </a:rPr>
              <a:t>Your needs analysis has at least one emotional need identified, all four levels populated, and your role-play partner confirms you surfaced the MD deadline as the real brief.</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In-Person Customer Service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Walk-ins and at-your-desk requests · body language · advantages and limits of face-to-face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LU1 · K1, A1 · 45 min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Topic 4 — Key Concepts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Face-to-face is highest bandwidth</a:t>
            </a:r>
          </a:p>
          <a:p>
            <a:pPr algn="l">
              <a:spcAft>
                <a:spcPts val="300"/>
              </a:spcAft>
            </a:pPr>
            <a:r>
              <a:rPr sz="1100" b="0">
                <a:solidFill>
                  <a:srgbClr val="5B6372"/>
                </a:solidFill>
                <a:latin typeface="Arial"/>
              </a:rPr>
              <a:t>Tone, posture, expression and timing all carry meaning that text channels strip away.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Immediate feedback loop</a:t>
            </a:r>
          </a:p>
          <a:p>
            <a:pPr algn="l">
              <a:spcAft>
                <a:spcPts val="300"/>
              </a:spcAft>
            </a:pPr>
            <a:r>
              <a:rPr sz="1100" b="0">
                <a:solidFill>
                  <a:srgbClr val="5B6372"/>
                </a:solidFill>
                <a:latin typeface="Arial"/>
              </a:rPr>
              <a:t>Misunderstandings surface and are corrected within seconds — the strongest advantage over email or chat.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Body language you control</a:t>
            </a:r>
          </a:p>
          <a:p>
            <a:pPr algn="l">
              <a:spcAft>
                <a:spcPts val="300"/>
              </a:spcAft>
            </a:pPr>
            <a:r>
              <a:rPr sz="1100" b="0">
                <a:solidFill>
                  <a:srgbClr val="5B6372"/>
                </a:solidFill>
                <a:latin typeface="Arial"/>
              </a:rPr>
              <a:t>Open posture, ~70% eye contact, a slight forward lean and subtle mirroring build rapport without a word.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Signals that cost you trust</a:t>
            </a:r>
          </a:p>
          <a:p>
            <a:pPr algn="l">
              <a:spcAft>
                <a:spcPts val="300"/>
              </a:spcAft>
            </a:pPr>
            <a:r>
              <a:rPr sz="1100" b="0">
                <a:solidFill>
                  <a:srgbClr val="5B6372"/>
                </a:solidFill>
                <a:latin typeface="Arial"/>
              </a:rPr>
              <a:t>Crossed arms, glancing at a phone, turning away or a fixed forced smile all read as disengagement.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Acknowledge within seconds</a:t>
            </a:r>
          </a:p>
          <a:p>
            <a:pPr algn="l">
              <a:spcAft>
                <a:spcPts val="300"/>
              </a:spcAft>
            </a:pPr>
            <a:r>
              <a:rPr sz="1100" b="0">
                <a:solidFill>
                  <a:srgbClr val="5B6372"/>
                </a:solidFill>
                <a:latin typeface="Arial"/>
              </a:rPr>
              <a:t>Greet a walk-in within about 3 seconds even when occupied; being seen matters before being served.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limits of in-person</a:t>
            </a:r>
          </a:p>
          <a:p>
            <a:pPr algn="l">
              <a:spcAft>
                <a:spcPts val="300"/>
              </a:spcAft>
            </a:pPr>
            <a:r>
              <a:rPr sz="1100" b="0">
                <a:solidFill>
                  <a:srgbClr val="5B6372"/>
                </a:solidFill>
                <a:latin typeface="Arial"/>
              </a:rPr>
              <a:t>No automatic record, queueing pressure and scheduling conflicts — document afterwards or it never happened.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CHOOSING FACE-TO-FACE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In-Person Service — Strengths and Limits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30368" cy="393192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30368" cy="38404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783080"/>
            <a:ext cx="4754880" cy="384048"/>
          </a:xfrm>
          <a:prstGeom prst="rect">
            <a:avLst/>
          </a:prstGeom>
          <a:noFill/>
        </p:spPr>
        <p:txBody>
          <a:bodyPr wrap="square" anchor="ctr">
            <a:spAutoFit/>
          </a:bodyPr>
          <a:lstStyle/>
          <a:p>
            <a:pPr algn="l">
              <a:spcAft>
                <a:spcPts val="400"/>
              </a:spcAft>
            </a:pPr>
            <a:r>
              <a:rPr sz="1350" b="1">
                <a:solidFill>
                  <a:srgbClr val="FFFFFF"/>
                </a:solidFill>
                <a:latin typeface="Arial"/>
              </a:rPr>
              <a:t>THE LIMITATIONS</a:t>
            </a:r>
          </a:p>
        </p:txBody>
      </p:sp>
      <p:sp>
        <p:nvSpPr>
          <p:cNvPr id="10" name="Rectangle 9"/>
          <p:cNvSpPr/>
          <p:nvPr/>
        </p:nvSpPr>
        <p:spPr>
          <a:xfrm>
            <a:off x="6181344" y="1783080"/>
            <a:ext cx="5230368" cy="39319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81344" y="1783080"/>
            <a:ext cx="5230368" cy="38404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9944" y="1783080"/>
            <a:ext cx="4754880" cy="384048"/>
          </a:xfrm>
          <a:prstGeom prst="rect">
            <a:avLst/>
          </a:prstGeom>
          <a:noFill/>
        </p:spPr>
        <p:txBody>
          <a:bodyPr wrap="square" anchor="ctr">
            <a:spAutoFit/>
          </a:bodyPr>
          <a:lstStyle/>
          <a:p>
            <a:pPr algn="l">
              <a:spcAft>
                <a:spcPts val="400"/>
              </a:spcAft>
            </a:pPr>
            <a:r>
              <a:rPr sz="1350" b="1">
                <a:solidFill>
                  <a:srgbClr val="FFFFFF"/>
                </a:solidFill>
                <a:latin typeface="Arial"/>
              </a:rPr>
              <a:t>THE ADVANTAGES</a:t>
            </a:r>
          </a:p>
        </p:txBody>
      </p:sp>
      <p:sp>
        <p:nvSpPr>
          <p:cNvPr id="13" name="TextBox 12"/>
          <p:cNvSpPr txBox="1"/>
          <p:nvPr/>
        </p:nvSpPr>
        <p:spPr>
          <a:xfrm>
            <a:off x="1005840" y="2331720"/>
            <a:ext cx="4800600" cy="3246120"/>
          </a:xfrm>
          <a:prstGeom prst="rect">
            <a:avLst/>
          </a:prstGeom>
          <a:noFill/>
        </p:spPr>
        <p:txBody>
          <a:bodyPr wrap="square">
            <a:spAutoFit/>
          </a:bodyPr>
          <a:lstStyle/>
          <a:p>
            <a:pPr>
              <a:spcAft>
                <a:spcPts val="900"/>
              </a:spcAft>
            </a:pPr>
            <a:r>
              <a:rPr sz="1300" b="0">
                <a:solidFill>
                  <a:srgbClr val="161B26"/>
                </a:solidFill>
                <a:latin typeface="Arial"/>
              </a:rPr>
              <a:t>•  No automatic record — if you don't write it down, it didn't happen.</a:t>
            </a:r>
          </a:p>
          <a:p>
            <a:pPr>
              <a:spcAft>
                <a:spcPts val="900"/>
              </a:spcAft>
            </a:pPr>
            <a:r>
              <a:rPr sz="1300" b="0">
                <a:solidFill>
                  <a:srgbClr val="161B26"/>
                </a:solidFill>
                <a:latin typeface="Arial"/>
              </a:rPr>
              <a:t>•  Queueing pressure: everyone waiting sees how long you take.</a:t>
            </a:r>
          </a:p>
          <a:p>
            <a:pPr>
              <a:spcAft>
                <a:spcPts val="900"/>
              </a:spcAft>
            </a:pPr>
            <a:r>
              <a:rPr sz="1300" b="0">
                <a:solidFill>
                  <a:srgbClr val="161B26"/>
                </a:solidFill>
                <a:latin typeface="Arial"/>
              </a:rPr>
              <a:t>•  You can only serve one person at a time.</a:t>
            </a:r>
          </a:p>
          <a:p>
            <a:pPr>
              <a:spcAft>
                <a:spcPts val="900"/>
              </a:spcAft>
            </a:pPr>
            <a:r>
              <a:rPr sz="1300" b="0">
                <a:solidFill>
                  <a:srgbClr val="161B26"/>
                </a:solidFill>
                <a:latin typeface="Arial"/>
              </a:rPr>
              <a:t>•  Scheduling conflicts and walk-in unpredictability.</a:t>
            </a:r>
          </a:p>
          <a:p>
            <a:pPr>
              <a:spcAft>
                <a:spcPts val="900"/>
              </a:spcAft>
            </a:pPr>
            <a:r>
              <a:rPr sz="1300" b="0">
                <a:solidFill>
                  <a:srgbClr val="161B26"/>
                </a:solidFill>
                <a:latin typeface="Arial"/>
              </a:rPr>
              <a:t>•  Harder to escalate discreetly with an audience present.</a:t>
            </a:r>
          </a:p>
        </p:txBody>
      </p:sp>
      <p:sp>
        <p:nvSpPr>
          <p:cNvPr id="14" name="TextBox 13"/>
          <p:cNvSpPr txBox="1"/>
          <p:nvPr/>
        </p:nvSpPr>
        <p:spPr>
          <a:xfrm>
            <a:off x="6409944" y="2331720"/>
            <a:ext cx="4800600" cy="3246120"/>
          </a:xfrm>
          <a:prstGeom prst="rect">
            <a:avLst/>
          </a:prstGeom>
          <a:noFill/>
        </p:spPr>
        <p:txBody>
          <a:bodyPr wrap="square">
            <a:spAutoFit/>
          </a:bodyPr>
          <a:lstStyle/>
          <a:p>
            <a:pPr>
              <a:spcAft>
                <a:spcPts val="900"/>
              </a:spcAft>
            </a:pPr>
            <a:r>
              <a:rPr sz="1300" b="0">
                <a:solidFill>
                  <a:srgbClr val="161B26"/>
                </a:solidFill>
                <a:latin typeface="Arial"/>
              </a:rPr>
              <a:t>•  Immediate feedback — misunderstandings die in seconds.</a:t>
            </a:r>
          </a:p>
          <a:p>
            <a:pPr>
              <a:spcAft>
                <a:spcPts val="900"/>
              </a:spcAft>
            </a:pPr>
            <a:r>
              <a:rPr sz="1300" b="0">
                <a:solidFill>
                  <a:srgbClr val="161B26"/>
                </a:solidFill>
                <a:latin typeface="Arial"/>
              </a:rPr>
              <a:t>•  Full non-verbal bandwidth: posture, expression, timing.</a:t>
            </a:r>
          </a:p>
          <a:p>
            <a:pPr>
              <a:spcAft>
                <a:spcPts val="900"/>
              </a:spcAft>
            </a:pPr>
            <a:r>
              <a:rPr sz="1300" b="0">
                <a:solidFill>
                  <a:srgbClr val="161B26"/>
                </a:solidFill>
                <a:latin typeface="Arial"/>
              </a:rPr>
              <a:t>•  Strongest channel for building trust and rapport.</a:t>
            </a:r>
          </a:p>
          <a:p>
            <a:pPr>
              <a:spcAft>
                <a:spcPts val="900"/>
              </a:spcAft>
            </a:pPr>
            <a:r>
              <a:rPr sz="1300" b="0">
                <a:solidFill>
                  <a:srgbClr val="161B26"/>
                </a:solidFill>
                <a:latin typeface="Arial"/>
              </a:rPr>
              <a:t>•  Easiest channel on which to de-escalate genuine anger.</a:t>
            </a:r>
          </a:p>
          <a:p>
            <a:pPr>
              <a:spcAft>
                <a:spcPts val="900"/>
              </a:spcAft>
            </a:pPr>
            <a:r>
              <a:rPr sz="1300" b="0">
                <a:solidFill>
                  <a:srgbClr val="161B26"/>
                </a:solidFill>
                <a:latin typeface="Arial"/>
              </a:rPr>
              <a:t>•  You can show, demonstrate and hand over physically.</a:t>
            </a:r>
          </a:p>
        </p:txBody>
      </p:sp>
      <p:sp>
        <p:nvSpPr>
          <p:cNvPr id="15" name="Rectangle 14"/>
          <p:cNvSpPr/>
          <p:nvPr/>
        </p:nvSpPr>
        <p:spPr>
          <a:xfrm>
            <a:off x="777240" y="580644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806440"/>
            <a:ext cx="10195560" cy="566928"/>
          </a:xfrm>
          <a:prstGeom prst="rect">
            <a:avLst/>
          </a:prstGeom>
          <a:noFill/>
        </p:spPr>
        <p:txBody>
          <a:bodyPr wrap="square" anchor="ctr">
            <a:spAutoFit/>
          </a:bodyPr>
          <a:lstStyle/>
          <a:p>
            <a:pPr algn="l">
              <a:spcAft>
                <a:spcPts val="400"/>
              </a:spcAft>
            </a:pPr>
            <a:r>
              <a:rPr sz="1250" b="0">
                <a:solidFill>
                  <a:srgbClr val="161B26"/>
                </a:solidFill>
                <a:latin typeface="Arial"/>
              </a:rPr>
              <a:t>The channel's great weakness is memory: always follow a face-to-face resolution with a written summary.</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NON-VERBAL CHANNEL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Body Language You Control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487168" cy="3566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3566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6"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527048" y="1911095"/>
            <a:ext cx="1618488" cy="548640"/>
          </a:xfrm>
          <a:prstGeom prst="rect">
            <a:avLst/>
          </a:prstGeom>
          <a:noFill/>
        </p:spPr>
        <p:txBody>
          <a:bodyPr wrap="square" anchor="t">
            <a:spAutoFit/>
          </a:bodyPr>
          <a:lstStyle/>
          <a:p>
            <a:pPr algn="l">
              <a:spcAft>
                <a:spcPts val="400"/>
              </a:spcAft>
            </a:pPr>
            <a:r>
              <a:rPr sz="1350" b="1">
                <a:solidFill>
                  <a:srgbClr val="1F6FEB"/>
                </a:solidFill>
                <a:latin typeface="Arial"/>
              </a:rPr>
              <a:t>POSTURE</a:t>
            </a:r>
          </a:p>
        </p:txBody>
      </p:sp>
      <p:sp>
        <p:nvSpPr>
          <p:cNvPr id="12" name="TextBox 11"/>
          <p:cNvSpPr txBox="1"/>
          <p:nvPr/>
        </p:nvSpPr>
        <p:spPr>
          <a:xfrm>
            <a:off x="1033272" y="2542032"/>
            <a:ext cx="1993392" cy="2651760"/>
          </a:xfrm>
          <a:prstGeom prst="rect">
            <a:avLst/>
          </a:prstGeom>
          <a:noFill/>
        </p:spPr>
        <p:txBody>
          <a:bodyPr wrap="square" anchor="t">
            <a:spAutoFit/>
          </a:bodyPr>
          <a:lstStyle/>
          <a:p>
            <a:pPr algn="l">
              <a:spcAft>
                <a:spcPts val="400"/>
              </a:spcAft>
            </a:pPr>
            <a:r>
              <a:rPr sz="1150" b="0">
                <a:solidFill>
                  <a:srgbClr val="161B26"/>
                </a:solidFill>
                <a:latin typeface="Arial"/>
              </a:rPr>
              <a:t>Open and uncrossed, with a slight forward lean. Signals engagement and honesty.</a:t>
            </a:r>
          </a:p>
        </p:txBody>
      </p:sp>
      <p:sp>
        <p:nvSpPr>
          <p:cNvPr id="13" name="Rectangle 12"/>
          <p:cNvSpPr/>
          <p:nvPr/>
        </p:nvSpPr>
        <p:spPr>
          <a:xfrm>
            <a:off x="3520440" y="1783080"/>
            <a:ext cx="2487168" cy="3566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783080"/>
            <a:ext cx="82296" cy="3566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739896"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39896"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4270248" y="1911095"/>
            <a:ext cx="1618488" cy="548640"/>
          </a:xfrm>
          <a:prstGeom prst="rect">
            <a:avLst/>
          </a:prstGeom>
          <a:noFill/>
        </p:spPr>
        <p:txBody>
          <a:bodyPr wrap="square" anchor="t">
            <a:spAutoFit/>
          </a:bodyPr>
          <a:lstStyle/>
          <a:p>
            <a:pPr algn="l">
              <a:spcAft>
                <a:spcPts val="400"/>
              </a:spcAft>
            </a:pPr>
            <a:r>
              <a:rPr sz="1350" b="1">
                <a:solidFill>
                  <a:srgbClr val="10B981"/>
                </a:solidFill>
                <a:latin typeface="Arial"/>
              </a:rPr>
              <a:t>EYE CONTACT</a:t>
            </a:r>
          </a:p>
        </p:txBody>
      </p:sp>
      <p:sp>
        <p:nvSpPr>
          <p:cNvPr id="18" name="TextBox 17"/>
          <p:cNvSpPr txBox="1"/>
          <p:nvPr/>
        </p:nvSpPr>
        <p:spPr>
          <a:xfrm>
            <a:off x="3776472" y="2542032"/>
            <a:ext cx="1993392" cy="2651760"/>
          </a:xfrm>
          <a:prstGeom prst="rect">
            <a:avLst/>
          </a:prstGeom>
          <a:noFill/>
        </p:spPr>
        <p:txBody>
          <a:bodyPr wrap="square" anchor="t">
            <a:spAutoFit/>
          </a:bodyPr>
          <a:lstStyle/>
          <a:p>
            <a:pPr algn="l">
              <a:spcAft>
                <a:spcPts val="400"/>
              </a:spcAft>
            </a:pPr>
            <a:r>
              <a:rPr sz="1150" b="0">
                <a:solidFill>
                  <a:srgbClr val="161B26"/>
                </a:solidFill>
                <a:latin typeface="Arial"/>
              </a:rPr>
              <a:t>Around 70% of the time. Constant staring intimidates; avoidance reads as dishonesty.</a:t>
            </a:r>
          </a:p>
        </p:txBody>
      </p:sp>
      <p:sp>
        <p:nvSpPr>
          <p:cNvPr id="19" name="Rectangle 18"/>
          <p:cNvSpPr/>
          <p:nvPr/>
        </p:nvSpPr>
        <p:spPr>
          <a:xfrm>
            <a:off x="6263640" y="1783080"/>
            <a:ext cx="2487168" cy="3566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1783080"/>
            <a:ext cx="82296" cy="3566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83096"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83096"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7013448" y="1911095"/>
            <a:ext cx="1618488" cy="548640"/>
          </a:xfrm>
          <a:prstGeom prst="rect">
            <a:avLst/>
          </a:prstGeom>
          <a:noFill/>
        </p:spPr>
        <p:txBody>
          <a:bodyPr wrap="square" anchor="t">
            <a:spAutoFit/>
          </a:bodyPr>
          <a:lstStyle/>
          <a:p>
            <a:pPr algn="l">
              <a:spcAft>
                <a:spcPts val="400"/>
              </a:spcAft>
            </a:pPr>
            <a:r>
              <a:rPr sz="1350" b="1">
                <a:solidFill>
                  <a:srgbClr val="7C3AED"/>
                </a:solidFill>
                <a:latin typeface="Arial"/>
              </a:rPr>
              <a:t>MIRRORING</a:t>
            </a:r>
          </a:p>
        </p:txBody>
      </p:sp>
      <p:sp>
        <p:nvSpPr>
          <p:cNvPr id="24" name="TextBox 23"/>
          <p:cNvSpPr txBox="1"/>
          <p:nvPr/>
        </p:nvSpPr>
        <p:spPr>
          <a:xfrm>
            <a:off x="6519672" y="2542032"/>
            <a:ext cx="1993392" cy="2651760"/>
          </a:xfrm>
          <a:prstGeom prst="rect">
            <a:avLst/>
          </a:prstGeom>
          <a:noFill/>
        </p:spPr>
        <p:txBody>
          <a:bodyPr wrap="square" anchor="t">
            <a:spAutoFit/>
          </a:bodyPr>
          <a:lstStyle/>
          <a:p>
            <a:pPr algn="l">
              <a:spcAft>
                <a:spcPts val="400"/>
              </a:spcAft>
            </a:pPr>
            <a:r>
              <a:rPr sz="1150" b="0">
                <a:solidFill>
                  <a:srgbClr val="161B26"/>
                </a:solidFill>
                <a:latin typeface="Arial"/>
              </a:rPr>
              <a:t>Subtly match their pace and energy. Builds rapport below conscious awareness.</a:t>
            </a:r>
          </a:p>
        </p:txBody>
      </p:sp>
      <p:sp>
        <p:nvSpPr>
          <p:cNvPr id="25" name="Rectangle 24"/>
          <p:cNvSpPr/>
          <p:nvPr/>
        </p:nvSpPr>
        <p:spPr>
          <a:xfrm>
            <a:off x="9006840" y="1783080"/>
            <a:ext cx="2487168" cy="3566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06840" y="1783080"/>
            <a:ext cx="82296" cy="3566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226296" y="19659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26296"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9" name="TextBox 28"/>
          <p:cNvSpPr txBox="1"/>
          <p:nvPr/>
        </p:nvSpPr>
        <p:spPr>
          <a:xfrm>
            <a:off x="9756648" y="1911095"/>
            <a:ext cx="1618488" cy="548640"/>
          </a:xfrm>
          <a:prstGeom prst="rect">
            <a:avLst/>
          </a:prstGeom>
          <a:noFill/>
        </p:spPr>
        <p:txBody>
          <a:bodyPr wrap="square" anchor="t">
            <a:spAutoFit/>
          </a:bodyPr>
          <a:lstStyle/>
          <a:p>
            <a:pPr algn="l">
              <a:spcAft>
                <a:spcPts val="400"/>
              </a:spcAft>
            </a:pPr>
            <a:r>
              <a:rPr sz="1350" b="1">
                <a:solidFill>
                  <a:srgbClr val="F59E0B"/>
                </a:solidFill>
                <a:latin typeface="Arial"/>
              </a:rPr>
              <a:t>THE SMILE</a:t>
            </a:r>
          </a:p>
        </p:txBody>
      </p:sp>
      <p:sp>
        <p:nvSpPr>
          <p:cNvPr id="30" name="TextBox 29"/>
          <p:cNvSpPr txBox="1"/>
          <p:nvPr/>
        </p:nvSpPr>
        <p:spPr>
          <a:xfrm>
            <a:off x="9262872" y="2542032"/>
            <a:ext cx="1993392" cy="2651760"/>
          </a:xfrm>
          <a:prstGeom prst="rect">
            <a:avLst/>
          </a:prstGeom>
          <a:noFill/>
        </p:spPr>
        <p:txBody>
          <a:bodyPr wrap="square" anchor="t">
            <a:spAutoFit/>
          </a:bodyPr>
          <a:lstStyle/>
          <a:p>
            <a:pPr algn="l">
              <a:spcAft>
                <a:spcPts val="400"/>
              </a:spcAft>
            </a:pPr>
            <a:r>
              <a:rPr sz="1150" b="0">
                <a:solidFill>
                  <a:srgbClr val="161B26"/>
                </a:solidFill>
                <a:latin typeface="Arial"/>
              </a:rPr>
              <a:t>Genuine and brief at greeting. It sets the emotional tone for everything after.</a:t>
            </a:r>
          </a:p>
        </p:txBody>
      </p:sp>
      <p:sp>
        <p:nvSpPr>
          <p:cNvPr id="31" name="Rectangle 30"/>
          <p:cNvSpPr/>
          <p:nvPr/>
        </p:nvSpPr>
        <p:spPr>
          <a:xfrm>
            <a:off x="777240" y="553212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5532120"/>
            <a:ext cx="10195560" cy="822960"/>
          </a:xfrm>
          <a:prstGeom prst="rect">
            <a:avLst/>
          </a:prstGeom>
          <a:noFill/>
        </p:spPr>
        <p:txBody>
          <a:bodyPr wrap="square" anchor="ctr">
            <a:spAutoFit/>
          </a:bodyPr>
          <a:lstStyle/>
          <a:p>
            <a:pPr algn="l">
              <a:spcAft>
                <a:spcPts val="400"/>
              </a:spcAft>
            </a:pPr>
            <a:r>
              <a:rPr sz="1250" b="0">
                <a:solidFill>
                  <a:srgbClr val="161B26"/>
                </a:solidFill>
                <a:latin typeface="Arial"/>
              </a:rPr>
              <a:t>Signals that cost you trust: crossed arms, glancing at your phone, turning your torso away, or a fixed forced smile.</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PARK AND RETURN METHOD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Handling a Walk-In While You Are Already Busy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410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5410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24128" y="1824990"/>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182499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9601200" cy="541020"/>
          </a:xfrm>
          <a:prstGeom prst="rect">
            <a:avLst/>
          </a:prstGeom>
          <a:noFill/>
        </p:spPr>
        <p:txBody>
          <a:bodyPr wrap="square" anchor="ctr">
            <a:spAutoFit/>
          </a:bodyPr>
          <a:lstStyle/>
          <a:p>
            <a:pPr algn="l">
              <a:spcAft>
                <a:spcPts val="200"/>
              </a:spcAft>
            </a:pPr>
            <a:r>
              <a:rPr sz="1400" b="1">
                <a:solidFill>
                  <a:srgbClr val="1F6FEB"/>
                </a:solidFill>
                <a:latin typeface="Arial"/>
              </a:rPr>
              <a:t>Acknowledge within 3 seconds</a:t>
            </a:r>
          </a:p>
          <a:p>
            <a:pPr algn="l">
              <a:spcAft>
                <a:spcPts val="200"/>
              </a:spcAft>
            </a:pPr>
            <a:r>
              <a:rPr sz="1150" b="0">
                <a:solidFill>
                  <a:srgbClr val="161B26"/>
                </a:solidFill>
                <a:latin typeface="Arial"/>
              </a:rPr>
              <a:t>Eye contact, a raised hand, 'I'll be right with you.' Being SEEN precedes being served.</a:t>
            </a:r>
          </a:p>
        </p:txBody>
      </p:sp>
      <p:sp>
        <p:nvSpPr>
          <p:cNvPr id="12" name="Rectangle 11"/>
          <p:cNvSpPr/>
          <p:nvPr/>
        </p:nvSpPr>
        <p:spPr>
          <a:xfrm>
            <a:off x="777240" y="2461260"/>
            <a:ext cx="10634472" cy="5410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61260"/>
            <a:ext cx="82296" cy="5410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4128" y="250317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250317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691640" y="2461260"/>
            <a:ext cx="9601200" cy="541020"/>
          </a:xfrm>
          <a:prstGeom prst="rect">
            <a:avLst/>
          </a:prstGeom>
          <a:noFill/>
        </p:spPr>
        <p:txBody>
          <a:bodyPr wrap="square" anchor="ctr">
            <a:spAutoFit/>
          </a:bodyPr>
          <a:lstStyle/>
          <a:p>
            <a:pPr algn="l">
              <a:spcAft>
                <a:spcPts val="200"/>
              </a:spcAft>
            </a:pPr>
            <a:r>
              <a:rPr sz="1400" b="1">
                <a:solidFill>
                  <a:srgbClr val="10B981"/>
                </a:solidFill>
                <a:latin typeface="Arial"/>
              </a:rPr>
              <a:t>Give a realistic wait</a:t>
            </a:r>
          </a:p>
          <a:p>
            <a:pPr algn="l">
              <a:spcAft>
                <a:spcPts val="200"/>
              </a:spcAft>
            </a:pPr>
            <a:r>
              <a:rPr sz="1150" b="0">
                <a:solidFill>
                  <a:srgbClr val="161B26"/>
                </a:solidFill>
                <a:latin typeface="Arial"/>
              </a:rPr>
              <a:t>'About two minutes' buys you two minutes. A vague wait buys you nothing.</a:t>
            </a:r>
          </a:p>
        </p:txBody>
      </p:sp>
      <p:sp>
        <p:nvSpPr>
          <p:cNvPr id="17" name="Rectangle 16"/>
          <p:cNvSpPr/>
          <p:nvPr/>
        </p:nvSpPr>
        <p:spPr>
          <a:xfrm>
            <a:off x="777240" y="3139440"/>
            <a:ext cx="10634472" cy="5410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139440"/>
            <a:ext cx="82296" cy="5410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24128" y="318135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31813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691640" y="3139440"/>
            <a:ext cx="9601200" cy="541020"/>
          </a:xfrm>
          <a:prstGeom prst="rect">
            <a:avLst/>
          </a:prstGeom>
          <a:noFill/>
        </p:spPr>
        <p:txBody>
          <a:bodyPr wrap="square" anchor="ctr">
            <a:spAutoFit/>
          </a:bodyPr>
          <a:lstStyle/>
          <a:p>
            <a:pPr algn="l">
              <a:spcAft>
                <a:spcPts val="200"/>
              </a:spcAft>
            </a:pPr>
            <a:r>
              <a:rPr sz="1400" b="1">
                <a:solidFill>
                  <a:srgbClr val="7C3AED"/>
                </a:solidFill>
                <a:latin typeface="Arial"/>
              </a:rPr>
              <a:t>Protect the active customer</a:t>
            </a:r>
          </a:p>
          <a:p>
            <a:pPr algn="l">
              <a:spcAft>
                <a:spcPts val="200"/>
              </a:spcAft>
            </a:pPr>
            <a:r>
              <a:rPr sz="1150" b="0">
                <a:solidFill>
                  <a:srgbClr val="161B26"/>
                </a:solidFill>
                <a:latin typeface="Arial"/>
              </a:rPr>
              <a:t>The person you are serving keeps priority — say so openly so the queue hears the rule.</a:t>
            </a:r>
          </a:p>
        </p:txBody>
      </p:sp>
      <p:sp>
        <p:nvSpPr>
          <p:cNvPr id="22" name="Rectangle 21"/>
          <p:cNvSpPr/>
          <p:nvPr/>
        </p:nvSpPr>
        <p:spPr>
          <a:xfrm>
            <a:off x="777240" y="3817620"/>
            <a:ext cx="10634472" cy="5410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817620"/>
            <a:ext cx="82296" cy="5410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24128" y="385953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 y="385953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691640" y="3817620"/>
            <a:ext cx="9601200" cy="541020"/>
          </a:xfrm>
          <a:prstGeom prst="rect">
            <a:avLst/>
          </a:prstGeom>
          <a:noFill/>
        </p:spPr>
        <p:txBody>
          <a:bodyPr wrap="square" anchor="ctr">
            <a:spAutoFit/>
          </a:bodyPr>
          <a:lstStyle/>
          <a:p>
            <a:pPr algn="l">
              <a:spcAft>
                <a:spcPts val="200"/>
              </a:spcAft>
            </a:pPr>
            <a:r>
              <a:rPr sz="1400" b="1">
                <a:solidFill>
                  <a:srgbClr val="F59E0B"/>
                </a:solidFill>
                <a:latin typeface="Arial"/>
              </a:rPr>
              <a:t>Note your park point</a:t>
            </a:r>
          </a:p>
          <a:p>
            <a:pPr algn="l">
              <a:spcAft>
                <a:spcPts val="200"/>
              </a:spcAft>
            </a:pPr>
            <a:r>
              <a:rPr sz="1150" b="0">
                <a:solidFill>
                  <a:srgbClr val="161B26"/>
                </a:solidFill>
                <a:latin typeface="Arial"/>
              </a:rPr>
              <a:t>Record where you stopped so you resume without making anyone repeat themselves.</a:t>
            </a:r>
          </a:p>
        </p:txBody>
      </p:sp>
      <p:sp>
        <p:nvSpPr>
          <p:cNvPr id="27" name="Rectangle 26"/>
          <p:cNvSpPr/>
          <p:nvPr/>
        </p:nvSpPr>
        <p:spPr>
          <a:xfrm>
            <a:off x="777240" y="4495800"/>
            <a:ext cx="10634472" cy="5410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95800"/>
            <a:ext cx="82296" cy="5410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24128" y="4537710"/>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4128" y="453771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691640" y="4495800"/>
            <a:ext cx="9601200" cy="541020"/>
          </a:xfrm>
          <a:prstGeom prst="rect">
            <a:avLst/>
          </a:prstGeom>
          <a:noFill/>
        </p:spPr>
        <p:txBody>
          <a:bodyPr wrap="square" anchor="ctr">
            <a:spAutoFit/>
          </a:bodyPr>
          <a:lstStyle/>
          <a:p>
            <a:pPr algn="l">
              <a:spcAft>
                <a:spcPts val="200"/>
              </a:spcAft>
            </a:pPr>
            <a:r>
              <a:rPr sz="1400" b="1">
                <a:solidFill>
                  <a:srgbClr val="1F6FEB"/>
                </a:solidFill>
                <a:latin typeface="Arial"/>
              </a:rPr>
              <a:t>Return and reference</a:t>
            </a:r>
          </a:p>
          <a:p>
            <a:pPr algn="l">
              <a:spcAft>
                <a:spcPts val="200"/>
              </a:spcAft>
            </a:pPr>
            <a:r>
              <a:rPr sz="1150" b="0">
                <a:solidFill>
                  <a:srgbClr val="161B26"/>
                </a:solidFill>
                <a:latin typeface="Arial"/>
              </a:rPr>
              <a:t>Open with what they told you: 'you mentioned a cracked screen' proves you were listening.</a:t>
            </a:r>
          </a:p>
        </p:txBody>
      </p:sp>
      <p:sp>
        <p:nvSpPr>
          <p:cNvPr id="32" name="Rectangle 31"/>
          <p:cNvSpPr/>
          <p:nvPr/>
        </p:nvSpPr>
        <p:spPr>
          <a:xfrm>
            <a:off x="777240" y="5173980"/>
            <a:ext cx="10634472" cy="5410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173980"/>
            <a:ext cx="82296" cy="5410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24128" y="521589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24128" y="521589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36" name="TextBox 35"/>
          <p:cNvSpPr txBox="1"/>
          <p:nvPr/>
        </p:nvSpPr>
        <p:spPr>
          <a:xfrm>
            <a:off x="1691640" y="5173980"/>
            <a:ext cx="9601200" cy="541020"/>
          </a:xfrm>
          <a:prstGeom prst="rect">
            <a:avLst/>
          </a:prstGeom>
          <a:noFill/>
        </p:spPr>
        <p:txBody>
          <a:bodyPr wrap="square" anchor="ctr">
            <a:spAutoFit/>
          </a:bodyPr>
          <a:lstStyle/>
          <a:p>
            <a:pPr algn="l">
              <a:spcAft>
                <a:spcPts val="200"/>
              </a:spcAft>
            </a:pPr>
            <a:r>
              <a:rPr sz="1400" b="1">
                <a:solidFill>
                  <a:srgbClr val="10B981"/>
                </a:solidFill>
                <a:latin typeface="Arial"/>
              </a:rPr>
              <a:t>Close with next steps</a:t>
            </a:r>
          </a:p>
          <a:p>
            <a:pPr algn="l">
              <a:spcAft>
                <a:spcPts val="200"/>
              </a:spcAft>
            </a:pPr>
            <a:r>
              <a:rPr sz="1150" b="0">
                <a:solidFill>
                  <a:srgbClr val="161B26"/>
                </a:solidFill>
                <a:latin typeface="Arial"/>
              </a:rPr>
              <a:t>Summarise what happens now, so they leave with certainty rather than hope.</a:t>
            </a:r>
          </a:p>
        </p:txBody>
      </p:sp>
      <p:sp>
        <p:nvSpPr>
          <p:cNvPr id="37" name="Rectangle 36"/>
          <p:cNvSpPr/>
          <p:nvPr/>
        </p:nvSpPr>
        <p:spPr>
          <a:xfrm>
            <a:off x="777240" y="580644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806440"/>
            <a:ext cx="10195560" cy="566928"/>
          </a:xfrm>
          <a:prstGeom prst="rect">
            <a:avLst/>
          </a:prstGeom>
          <a:noFill/>
        </p:spPr>
        <p:txBody>
          <a:bodyPr wrap="square" anchor="ctr">
            <a:spAutoFit/>
          </a:bodyPr>
          <a:lstStyle/>
          <a:p>
            <a:pPr algn="l">
              <a:spcAft>
                <a:spcPts val="400"/>
              </a:spcAft>
            </a:pPr>
            <a:r>
              <a:rPr sz="1250" b="0">
                <a:solidFill>
                  <a:srgbClr val="161B26"/>
                </a:solidFill>
                <a:latin typeface="Arial"/>
              </a:rPr>
              <a:t>Making a customer re-explain their problem is the single failure this method exists to prevent.</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CASE STUDY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4 — The Walk-In Interruption — Retail Service Counter, Bugis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200" b="1">
                <a:solidFill>
                  <a:srgbClr val="FFFFFF"/>
                </a:solidFill>
                <a:latin typeface="Arial"/>
              </a:rPr>
              <a:t>ACTIVITY 4  ·  25 MIN</a:t>
            </a:r>
          </a:p>
        </p:txBody>
      </p:sp>
      <p:sp>
        <p:nvSpPr>
          <p:cNvPr id="9" name="Rectangle 8"/>
          <p:cNvSpPr/>
          <p:nvPr/>
        </p:nvSpPr>
        <p:spPr>
          <a:xfrm>
            <a:off x="777240" y="1783080"/>
            <a:ext cx="10634472" cy="3310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91440" cy="3310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190195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SCENARIO</a:t>
            </a:r>
          </a:p>
        </p:txBody>
      </p:sp>
      <p:sp>
        <p:nvSpPr>
          <p:cNvPr id="12" name="TextBox 11"/>
          <p:cNvSpPr txBox="1"/>
          <p:nvPr/>
        </p:nvSpPr>
        <p:spPr>
          <a:xfrm>
            <a:off x="1051560" y="2240280"/>
            <a:ext cx="10149840" cy="2743200"/>
          </a:xfrm>
          <a:prstGeom prst="rect">
            <a:avLst/>
          </a:prstGeom>
          <a:noFill/>
        </p:spPr>
        <p:txBody>
          <a:bodyPr wrap="square" anchor="t">
            <a:spAutoFit/>
          </a:bodyPr>
          <a:lstStyle/>
          <a:p>
            <a:pPr algn="l">
              <a:spcAft>
                <a:spcPts val="700"/>
              </a:spcAft>
            </a:pPr>
            <a:r>
              <a:rPr sz="1150" b="0">
                <a:solidFill>
                  <a:srgbClr val="161B26"/>
                </a:solidFill>
                <a:latin typeface="Arial"/>
              </a:rPr>
              <a:t>A telco retail store at Bugis Junction, Saturday 2pm. You are at the service counter finishing a SIM registration for a customer who is standing beside you waiting for the confirmation SMS. The store phone rings. At the same moment, Ms Chen walks up to your counter holding a phone with a cracked screen and says 'Excuse me, I just need a quick answer' — she has been in the store for 20 minutes looking for someone. Two more customers are visibly waiting behind her.</a:t>
            </a:r>
          </a:p>
          <a:p>
            <a:pPr algn="l">
              <a:spcAft>
                <a:spcPts val="700"/>
              </a:spcAft>
            </a:pPr>
            <a:r>
              <a:rPr sz="1150" b="0">
                <a:solidFill>
                  <a:srgbClr val="161B26"/>
                </a:solidFill>
                <a:latin typeface="Arial"/>
              </a:rPr>
              <a:t>You cannot serve three people at once. Everything you do in the next 15 seconds is visible to all of them.</a:t>
            </a:r>
          </a:p>
        </p:txBody>
      </p:sp>
      <p:sp>
        <p:nvSpPr>
          <p:cNvPr id="13" name="Rectangle 12"/>
          <p:cNvSpPr/>
          <p:nvPr/>
        </p:nvSpPr>
        <p:spPr>
          <a:xfrm>
            <a:off x="777240" y="5230368"/>
            <a:ext cx="5230368" cy="676656"/>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230368"/>
            <a:ext cx="4846320" cy="676656"/>
          </a:xfrm>
          <a:prstGeom prst="rect">
            <a:avLst/>
          </a:prstGeom>
          <a:noFill/>
        </p:spPr>
        <p:txBody>
          <a:bodyPr wrap="square" anchor="ctr">
            <a:spAutoFit/>
          </a:bodyPr>
          <a:lstStyle/>
          <a:p>
            <a:pPr algn="l">
              <a:spcAft>
                <a:spcPts val="400"/>
              </a:spcAft>
            </a:pPr>
            <a:r>
              <a:rPr sz="1050" b="1">
                <a:solidFill>
                  <a:srgbClr val="1F6FEB"/>
                </a:solidFill>
                <a:latin typeface="Arial"/>
              </a:rPr>
              <a:t>FORMAT   </a:t>
            </a:r>
            <a:r>
              <a:rPr sz="1150" b="0">
                <a:solidFill>
                  <a:srgbClr val="161B26"/>
                </a:solidFill>
                <a:latin typeface="Arial"/>
              </a:rPr>
              <a:t>Role Play</a:t>
            </a:r>
          </a:p>
        </p:txBody>
      </p:sp>
      <p:sp>
        <p:nvSpPr>
          <p:cNvPr id="15" name="Rectangle 14"/>
          <p:cNvSpPr/>
          <p:nvPr/>
        </p:nvSpPr>
        <p:spPr>
          <a:xfrm>
            <a:off x="6181344" y="5230368"/>
            <a:ext cx="5230368" cy="67665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9944" y="5230368"/>
            <a:ext cx="4846320" cy="676656"/>
          </a:xfrm>
          <a:prstGeom prst="rect">
            <a:avLst/>
          </a:prstGeom>
          <a:noFill/>
        </p:spPr>
        <p:txBody>
          <a:bodyPr wrap="square" anchor="ctr">
            <a:spAutoFit/>
          </a:bodyPr>
          <a:lstStyle/>
          <a:p>
            <a:pPr algn="l">
              <a:spcAft>
                <a:spcPts val="400"/>
              </a:spcAft>
            </a:pPr>
            <a:r>
              <a:rPr sz="1050" b="1">
                <a:solidFill>
                  <a:srgbClr val="16845B"/>
                </a:solidFill>
                <a:latin typeface="Arial"/>
              </a:rPr>
              <a:t>ROLES   </a:t>
            </a:r>
            <a:r>
              <a:rPr sz="1150" b="0">
                <a:solidFill>
                  <a:srgbClr val="161B26"/>
                </a:solidFill>
                <a:latin typeface="Arial"/>
              </a:rPr>
              <a:t>Groups of 4. Role A = Service Officer, B = SIM customer, C = Ms Chen, D = observer/phone caller.</a:t>
            </a:r>
          </a:p>
        </p:txBody>
      </p:sp>
      <p:sp>
        <p:nvSpPr>
          <p:cNvPr id="17" name="TextBox 16"/>
          <p:cNvSpPr txBox="1"/>
          <p:nvPr/>
        </p:nvSpPr>
        <p:spPr>
          <a:xfrm>
            <a:off x="777240" y="5998464"/>
            <a:ext cx="10634472" cy="365760"/>
          </a:xfrm>
          <a:prstGeom prst="rect">
            <a:avLst/>
          </a:prstGeom>
          <a:noFill/>
        </p:spPr>
        <p:txBody>
          <a:bodyPr wrap="square" anchor="t">
            <a:spAutoFit/>
          </a:bodyPr>
          <a:lstStyle/>
          <a:p>
            <a:pPr algn="ctr">
              <a:spcAft>
                <a:spcPts val="400"/>
              </a:spcAft>
            </a:pPr>
            <a:r>
              <a:rPr sz="1100" b="0">
                <a:solidFill>
                  <a:srgbClr val="5B6372"/>
                </a:solidFill>
                <a:latin typeface="Arial"/>
              </a:rPr>
              <a:t>Full step-by-step instructions: Learner Guide, Activity 4  ·  Activities folder: activities/activity-04/</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WORK IN YOUR GROUP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4 — Discussion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6217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01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01952"/>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572768" y="1783080"/>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In the first 15 seconds, what do you do — and in what order? Be specific about words, eyes and hands.</a:t>
            </a:r>
          </a:p>
        </p:txBody>
      </p:sp>
      <p:sp>
        <p:nvSpPr>
          <p:cNvPr id="12" name="Rectangle 11"/>
          <p:cNvSpPr/>
          <p:nvPr/>
        </p:nvSpPr>
        <p:spPr>
          <a:xfrm>
            <a:off x="777240" y="2532888"/>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32888"/>
            <a:ext cx="82296" cy="6217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265176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2651760"/>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572768" y="2532888"/>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Ms Chen says 'I just need a quick answer'. Is it ever actually quick? What is the risk of treating it as quick?</a:t>
            </a:r>
          </a:p>
        </p:txBody>
      </p:sp>
      <p:sp>
        <p:nvSpPr>
          <p:cNvPr id="17" name="Rectangle 16"/>
          <p:cNvSpPr/>
          <p:nvPr/>
        </p:nvSpPr>
        <p:spPr>
          <a:xfrm>
            <a:off x="777240" y="3282696"/>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282696"/>
            <a:ext cx="82296" cy="6217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3401568"/>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40156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572768" y="3282696"/>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How do you acknowledge Ms Chen without abandoning the customer already at your counter?</a:t>
            </a:r>
          </a:p>
        </p:txBody>
      </p:sp>
      <p:sp>
        <p:nvSpPr>
          <p:cNvPr id="22" name="Rectangle 21"/>
          <p:cNvSpPr/>
          <p:nvPr/>
        </p:nvSpPr>
        <p:spPr>
          <a:xfrm>
            <a:off x="777240" y="4032504"/>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32504"/>
            <a:ext cx="82296" cy="6217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05840" y="4151376"/>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415137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572768" y="4032504"/>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The phone is ringing and no one else can take it. What do you do, and what does the customer in front of you see you do?</a:t>
            </a:r>
          </a:p>
        </p:txBody>
      </p:sp>
      <p:sp>
        <p:nvSpPr>
          <p:cNvPr id="27" name="Rectangle 26"/>
          <p:cNvSpPr/>
          <p:nvPr/>
        </p:nvSpPr>
        <p:spPr>
          <a:xfrm>
            <a:off x="777240" y="4782312"/>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782312"/>
            <a:ext cx="82296" cy="6217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5840" y="490118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490118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1" name="TextBox 30"/>
          <p:cNvSpPr txBox="1"/>
          <p:nvPr/>
        </p:nvSpPr>
        <p:spPr>
          <a:xfrm>
            <a:off x="1572768" y="4782312"/>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What body language keeps all three parties feeling attended to while you can only serve one?</a:t>
            </a:r>
          </a:p>
        </p:txBody>
      </p:sp>
      <p:sp>
        <p:nvSpPr>
          <p:cNvPr id="32" name="Rectangle 31"/>
          <p:cNvSpPr/>
          <p:nvPr/>
        </p:nvSpPr>
        <p:spPr>
          <a:xfrm>
            <a:off x="777240" y="5532120"/>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532120"/>
            <a:ext cx="82296" cy="6217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05840" y="5650992"/>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40" y="5650992"/>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572768" y="5532120"/>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What is the 'park and return' method, and where exactly would you use it here?</a:t>
            </a:r>
          </a:p>
        </p:txBody>
      </p:sp>
      <p:sp>
        <p:nvSpPr>
          <p:cNvPr id="37" name="TextBox 36"/>
          <p:cNvSpPr txBox="1"/>
          <p:nvPr/>
        </p:nvSpPr>
        <p:spPr>
          <a:xfrm>
            <a:off x="777240" y="6272784"/>
            <a:ext cx="10634472" cy="256032"/>
          </a:xfrm>
          <a:prstGeom prst="rect">
            <a:avLst/>
          </a:prstGeom>
          <a:noFill/>
        </p:spPr>
        <p:txBody>
          <a:bodyPr wrap="square" anchor="t">
            <a:spAutoFit/>
          </a:bodyPr>
          <a:lstStyle/>
          <a:p>
            <a:pPr algn="ctr">
              <a:spcAft>
                <a:spcPts val="400"/>
              </a:spcAft>
            </a:pPr>
            <a:r>
              <a:rPr sz="1050" b="0">
                <a:solidFill>
                  <a:srgbClr val="5B6372"/>
                </a:solidFill>
                <a:latin typeface="Arial"/>
              </a:rPr>
              <a:t>25 minutes  ·  Groups of 4. Role A = Service Officer, B = SIM customer, C = Ms Chen, D = observer/phone caller.</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6845B"/>
                </a:solidFill>
                <a:latin typeface="Arial"/>
              </a:rPr>
              <a:t>TOPIC 04 · WHAT GOOD LOOKS LIKE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4 — Debrief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Order matters: eye contact + a raised hand + 'I'll be right with you, about two minutes' to Ms Chen takes 3 seconds and buys 2 minutes. Being SEEN precedes being served.</a:t>
            </a:r>
          </a:p>
        </p:txBody>
      </p:sp>
      <p:sp>
        <p:nvSpPr>
          <p:cNvPr id="10" name="Rectangle 9"/>
          <p:cNvSpPr/>
          <p:nvPr/>
        </p:nvSpPr>
        <p:spPr>
          <a:xfrm>
            <a:off x="777240" y="243840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43840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43840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'Quick answer' is almost never quick — a cracked screen means warranty status, purchase date, insurance and a repair booking. Treating it as quick means starting something you cannot finish and now failing two customers.</a:t>
            </a:r>
          </a:p>
        </p:txBody>
      </p:sp>
      <p:sp>
        <p:nvSpPr>
          <p:cNvPr id="13" name="Rectangle 12"/>
          <p:cNvSpPr/>
          <p:nvPr/>
        </p:nvSpPr>
        <p:spPr>
          <a:xfrm>
            <a:off x="777240" y="309372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09372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309372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The customer in front of you keeps priority. State that openly to the room: it reassures the person you are serving AND tells the queue there is a fair rule.</a:t>
            </a:r>
          </a:p>
        </p:txBody>
      </p:sp>
      <p:sp>
        <p:nvSpPr>
          <p:cNvPr id="16" name="Rectangle 15"/>
          <p:cNvSpPr/>
          <p:nvPr/>
        </p:nvSpPr>
        <p:spPr>
          <a:xfrm>
            <a:off x="777240" y="374904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74904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374904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The phone: let it go to the queue or answer with 'may I take your number and call you back in five minutes?' Never leave a physical customer standing while you have a full phone conversation — the person present outranks the person calling.</a:t>
            </a:r>
          </a:p>
        </p:txBody>
      </p:sp>
      <p:sp>
        <p:nvSpPr>
          <p:cNvPr id="19" name="Rectangle 18"/>
          <p:cNvSpPr/>
          <p:nvPr/>
        </p:nvSpPr>
        <p:spPr>
          <a:xfrm>
            <a:off x="777240" y="440436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40436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440436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Body language: keep your torso oriented to the counter customer, turn only your head to Ms Chen, and use an open palm rather than a pointed finger. Turning your whole body away is the abandonment signal.</a:t>
            </a:r>
          </a:p>
        </p:txBody>
      </p:sp>
      <p:sp>
        <p:nvSpPr>
          <p:cNvPr id="22" name="Rectangle 21"/>
          <p:cNvSpPr/>
          <p:nvPr/>
        </p:nvSpPr>
        <p:spPr>
          <a:xfrm>
            <a:off x="777240" y="505968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05968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505968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Park and return: note where you were in the SIM registration before you turn away, so you resume without asking the first customer to repeat anything. Making a customer re-explain is the failure this method exists to prevent.</a:t>
            </a:r>
          </a:p>
        </p:txBody>
      </p:sp>
      <p:sp>
        <p:nvSpPr>
          <p:cNvPr id="25" name="Rectangle 24"/>
          <p:cNvSpPr/>
          <p:nvPr/>
        </p:nvSpPr>
        <p:spPr>
          <a:xfrm>
            <a:off x="777240" y="574243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5742432"/>
            <a:ext cx="10195560" cy="566928"/>
          </a:xfrm>
          <a:prstGeom prst="rect">
            <a:avLst/>
          </a:prstGeom>
          <a:noFill/>
        </p:spPr>
        <p:txBody>
          <a:bodyPr wrap="square" anchor="ctr">
            <a:spAutoFit/>
          </a:bodyPr>
          <a:lstStyle/>
          <a:p>
            <a:pPr algn="l">
              <a:spcAft>
                <a:spcPts val="400"/>
              </a:spcAft>
            </a:pPr>
            <a:r>
              <a:rPr sz="1100" b="1">
                <a:solidFill>
                  <a:srgbClr val="10B981"/>
                </a:solidFill>
                <a:latin typeface="Arial"/>
              </a:rPr>
              <a:t>TEST IT   </a:t>
            </a:r>
            <a:r>
              <a:rPr sz="1150" b="0">
                <a:solidFill>
                  <a:srgbClr val="161B26"/>
                </a:solidFill>
                <a:latin typeface="Arial"/>
              </a:rPr>
              <a:t>You acknowledged the walk-in within 5 seconds, no customer was asked to repeat themselves, and the observer confirms you never fully turned away from the customer you were actively serving.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1:00pm – 2:00pm</a:t>
            </a:r>
          </a:p>
        </p:txBody>
      </p:sp>
    </p:spTree>
  </p:cSld>
  <p:clrMapOvr>
    <a:masterClrMapping/>
  </p:clrMapOvr>
  <p:transition spd="med" advClick="1">
    <p:push/>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Customer Service Over the Phone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Telephone etiquette · voice as the whole channel · hold and transfer · call structure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LU1 · K1, A1 · 45 min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Topic 5 — Key Concepts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Voice carries everything</a:t>
            </a:r>
          </a:p>
          <a:p>
            <a:pPr algn="l">
              <a:spcAft>
                <a:spcPts val="300"/>
              </a:spcAft>
            </a:pPr>
            <a:r>
              <a:rPr sz="1100" b="0">
                <a:solidFill>
                  <a:srgbClr val="5B6372"/>
                </a:solidFill>
                <a:latin typeface="Arial"/>
              </a:rPr>
              <a:t>With no visual channel, tone, pace and warmth do all the work that body language does in person.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Phone still dominates complex issues</a:t>
            </a:r>
          </a:p>
          <a:p>
            <a:pPr algn="l">
              <a:spcAft>
                <a:spcPts val="300"/>
              </a:spcAft>
            </a:pPr>
            <a:r>
              <a:rPr sz="1100" b="0">
                <a:solidFill>
                  <a:srgbClr val="5B6372"/>
                </a:solidFill>
                <a:latin typeface="Arial"/>
              </a:rPr>
              <a:t>When an issue needs back-and-forth clarification, customers still reach for the phone over text channels.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Etiquette is measurable</a:t>
            </a:r>
          </a:p>
          <a:p>
            <a:pPr algn="l">
              <a:spcAft>
                <a:spcPts val="300"/>
              </a:spcAft>
            </a:pPr>
            <a:r>
              <a:rPr sz="1100" b="0">
                <a:solidFill>
                  <a:srgbClr val="5B6372"/>
                </a:solidFill>
                <a:latin typeface="Arial"/>
              </a:rPr>
              <a:t>Answer within three rings, smile while speaking, never interrupt, avoid jargon, always close with next steps.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Hold is a permission, not an action</a:t>
            </a:r>
          </a:p>
          <a:p>
            <a:pPr algn="l">
              <a:spcAft>
                <a:spcPts val="300"/>
              </a:spcAft>
            </a:pPr>
            <a:r>
              <a:rPr sz="1100" b="0">
                <a:solidFill>
                  <a:srgbClr val="5B6372"/>
                </a:solidFill>
                <a:latin typeface="Arial"/>
              </a:rPr>
              <a:t>Ask before holding, explain why, give a time, thank them on return — otherwise it reads as being dumped.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Paraphrase to prove you listened</a:t>
            </a:r>
          </a:p>
          <a:p>
            <a:pPr algn="l">
              <a:spcAft>
                <a:spcPts val="300"/>
              </a:spcAft>
            </a:pPr>
            <a:r>
              <a:rPr sz="1100" b="0">
                <a:solidFill>
                  <a:srgbClr val="5B6372"/>
                </a:solidFill>
                <a:latin typeface="Arial"/>
              </a:rPr>
              <a:t>'So the order was due Monday and hasn't arrived' converts a vent into a defined, solvable problem.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Scripts guide, they don't speak</a:t>
            </a:r>
          </a:p>
          <a:p>
            <a:pPr algn="l">
              <a:spcAft>
                <a:spcPts val="300"/>
              </a:spcAft>
            </a:pPr>
            <a:r>
              <a:rPr sz="1100" b="0">
                <a:solidFill>
                  <a:srgbClr val="5B6372"/>
                </a:solidFill>
                <a:latin typeface="Arial"/>
              </a:rPr>
              <a:t>Rigid scripts sound robotic. Use them as a spine and personalise the words to the caller in front of you.</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CALL STRUCTURE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Professional Call — Six Stages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hone_flow.png"/>
          <p:cNvPicPr>
            <a:picLocks noChangeAspect="1"/>
          </p:cNvPicPr>
          <p:nvPr/>
        </p:nvPicPr>
        <p:blipFill>
          <a:blip r:embed="rId2"/>
          <a:stretch>
            <a:fillRect/>
          </a:stretch>
        </p:blipFill>
        <p:spPr>
          <a:xfrm>
            <a:off x="777240" y="2901094"/>
            <a:ext cx="6766560" cy="2107371"/>
          </a:xfrm>
          <a:prstGeom prst="rect">
            <a:avLst/>
          </a:prstGeom>
        </p:spPr>
      </p:pic>
      <p:sp>
        <p:nvSpPr>
          <p:cNvPr id="8" name="Rectangle 7"/>
          <p:cNvSpPr/>
          <p:nvPr/>
        </p:nvSpPr>
        <p:spPr>
          <a:xfrm>
            <a:off x="7863840" y="1783080"/>
            <a:ext cx="354787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6384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19872" y="1783080"/>
            <a:ext cx="3090672" cy="948690"/>
          </a:xfrm>
          <a:prstGeom prst="rect">
            <a:avLst/>
          </a:prstGeom>
          <a:noFill/>
        </p:spPr>
        <p:txBody>
          <a:bodyPr wrap="square" anchor="ctr">
            <a:spAutoFit/>
          </a:bodyPr>
          <a:lstStyle/>
          <a:p>
            <a:pPr algn="l">
              <a:spcAft>
                <a:spcPts val="200"/>
              </a:spcAft>
            </a:pPr>
            <a:r>
              <a:rPr sz="1400" b="1">
                <a:solidFill>
                  <a:srgbClr val="1F6FEB"/>
                </a:solidFill>
                <a:latin typeface="Arial"/>
              </a:rPr>
              <a:t>Greet and listen</a:t>
            </a:r>
          </a:p>
          <a:p>
            <a:pPr algn="l">
              <a:spcAft>
                <a:spcPts val="200"/>
              </a:spcAft>
            </a:pPr>
            <a:r>
              <a:rPr sz="1200" b="0">
                <a:solidFill>
                  <a:srgbClr val="161B26"/>
                </a:solidFill>
                <a:latin typeface="Arial"/>
              </a:rPr>
              <a:t>Within three rings, smile first, then let them finish without interruption.</a:t>
            </a:r>
          </a:p>
        </p:txBody>
      </p:sp>
      <p:sp>
        <p:nvSpPr>
          <p:cNvPr id="11" name="Rectangle 10"/>
          <p:cNvSpPr/>
          <p:nvPr/>
        </p:nvSpPr>
        <p:spPr>
          <a:xfrm>
            <a:off x="7863840" y="2914650"/>
            <a:ext cx="354787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6384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19872" y="2914650"/>
            <a:ext cx="3090672" cy="948690"/>
          </a:xfrm>
          <a:prstGeom prst="rect">
            <a:avLst/>
          </a:prstGeom>
          <a:noFill/>
        </p:spPr>
        <p:txBody>
          <a:bodyPr wrap="square" anchor="ctr">
            <a:spAutoFit/>
          </a:bodyPr>
          <a:lstStyle/>
          <a:p>
            <a:pPr algn="l">
              <a:spcAft>
                <a:spcPts val="200"/>
              </a:spcAft>
            </a:pPr>
            <a:r>
              <a:rPr sz="1400" b="1">
                <a:solidFill>
                  <a:srgbClr val="10B981"/>
                </a:solidFill>
                <a:latin typeface="Arial"/>
              </a:rPr>
              <a:t>Paraphrase and confirm</a:t>
            </a:r>
          </a:p>
          <a:p>
            <a:pPr algn="l">
              <a:spcAft>
                <a:spcPts val="200"/>
              </a:spcAft>
            </a:pPr>
            <a:r>
              <a:rPr sz="1200" b="0">
                <a:solidFill>
                  <a:srgbClr val="161B26"/>
                </a:solidFill>
                <a:latin typeface="Arial"/>
              </a:rPr>
              <a:t>Say the whole issue back. Wait for their yes before moving on.</a:t>
            </a:r>
          </a:p>
        </p:txBody>
      </p:sp>
      <p:sp>
        <p:nvSpPr>
          <p:cNvPr id="14" name="Rectangle 13"/>
          <p:cNvSpPr/>
          <p:nvPr/>
        </p:nvSpPr>
        <p:spPr>
          <a:xfrm>
            <a:off x="7863840" y="4046220"/>
            <a:ext cx="354787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86384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19872" y="4046220"/>
            <a:ext cx="3090672" cy="948690"/>
          </a:xfrm>
          <a:prstGeom prst="rect">
            <a:avLst/>
          </a:prstGeom>
          <a:noFill/>
        </p:spPr>
        <p:txBody>
          <a:bodyPr wrap="square" anchor="ctr">
            <a:spAutoFit/>
          </a:bodyPr>
          <a:lstStyle/>
          <a:p>
            <a:pPr algn="l">
              <a:spcAft>
                <a:spcPts val="200"/>
              </a:spcAft>
            </a:pPr>
            <a:r>
              <a:rPr sz="1400" b="1">
                <a:solidFill>
                  <a:srgbClr val="7C3AED"/>
                </a:solidFill>
                <a:latin typeface="Arial"/>
              </a:rPr>
              <a:t>Hold properly</a:t>
            </a:r>
          </a:p>
          <a:p>
            <a:pPr algn="l">
              <a:spcAft>
                <a:spcPts val="200"/>
              </a:spcAft>
            </a:pPr>
            <a:r>
              <a:rPr sz="1200" b="0">
                <a:solidFill>
                  <a:srgbClr val="161B26"/>
                </a:solidFill>
                <a:latin typeface="Arial"/>
              </a:rPr>
              <a:t>Ask, explain, give a duration, thank them on return. All four, every time.</a:t>
            </a:r>
          </a:p>
        </p:txBody>
      </p:sp>
      <p:sp>
        <p:nvSpPr>
          <p:cNvPr id="17" name="Rectangle 16"/>
          <p:cNvSpPr/>
          <p:nvPr/>
        </p:nvSpPr>
        <p:spPr>
          <a:xfrm>
            <a:off x="7863840" y="5177790"/>
            <a:ext cx="354787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86384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19872" y="5177790"/>
            <a:ext cx="3090672" cy="948690"/>
          </a:xfrm>
          <a:prstGeom prst="rect">
            <a:avLst/>
          </a:prstGeom>
          <a:noFill/>
        </p:spPr>
        <p:txBody>
          <a:bodyPr wrap="square" anchor="ctr">
            <a:spAutoFit/>
          </a:bodyPr>
          <a:lstStyle/>
          <a:p>
            <a:pPr algn="l">
              <a:spcAft>
                <a:spcPts val="200"/>
              </a:spcAft>
            </a:pPr>
            <a:r>
              <a:rPr sz="1400" b="1">
                <a:solidFill>
                  <a:srgbClr val="F59E0B"/>
                </a:solidFill>
                <a:latin typeface="Arial"/>
              </a:rPr>
              <a:t>Resolve and close</a:t>
            </a:r>
          </a:p>
          <a:p>
            <a:pPr algn="l">
              <a:spcAft>
                <a:spcPts val="200"/>
              </a:spcAft>
            </a:pPr>
            <a:r>
              <a:rPr sz="1200" b="0">
                <a:solidFill>
                  <a:srgbClr val="161B26"/>
                </a:solidFill>
                <a:latin typeface="Arial"/>
              </a:rPr>
              <a:t>Options with a recommendation, then a time, an owner and a reference number.</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TELEPHONE ETIQUETTE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Telephone Service — What Loses and Wins Calls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30368" cy="393192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30368" cy="38404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783080"/>
            <a:ext cx="4754880" cy="384048"/>
          </a:xfrm>
          <a:prstGeom prst="rect">
            <a:avLst/>
          </a:prstGeom>
          <a:noFill/>
        </p:spPr>
        <p:txBody>
          <a:bodyPr wrap="square" anchor="ctr">
            <a:spAutoFit/>
          </a:bodyPr>
          <a:lstStyle/>
          <a:p>
            <a:pPr algn="l">
              <a:spcAft>
                <a:spcPts val="400"/>
              </a:spcAft>
            </a:pPr>
            <a:r>
              <a:rPr sz="1350" b="1">
                <a:solidFill>
                  <a:srgbClr val="FFFFFF"/>
                </a:solidFill>
                <a:latin typeface="Arial"/>
              </a:rPr>
              <a:t>WHAT LOSES THE CALL</a:t>
            </a:r>
          </a:p>
        </p:txBody>
      </p:sp>
      <p:sp>
        <p:nvSpPr>
          <p:cNvPr id="10" name="Rectangle 9"/>
          <p:cNvSpPr/>
          <p:nvPr/>
        </p:nvSpPr>
        <p:spPr>
          <a:xfrm>
            <a:off x="6181344" y="1783080"/>
            <a:ext cx="5230368" cy="39319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81344" y="1783080"/>
            <a:ext cx="5230368" cy="38404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9944" y="1783080"/>
            <a:ext cx="4754880" cy="384048"/>
          </a:xfrm>
          <a:prstGeom prst="rect">
            <a:avLst/>
          </a:prstGeom>
          <a:noFill/>
        </p:spPr>
        <p:txBody>
          <a:bodyPr wrap="square" anchor="ctr">
            <a:spAutoFit/>
          </a:bodyPr>
          <a:lstStyle/>
          <a:p>
            <a:pPr algn="l">
              <a:spcAft>
                <a:spcPts val="400"/>
              </a:spcAft>
            </a:pPr>
            <a:r>
              <a:rPr sz="1350" b="1">
                <a:solidFill>
                  <a:srgbClr val="FFFFFF"/>
                </a:solidFill>
                <a:latin typeface="Arial"/>
              </a:rPr>
              <a:t>WHAT WINS THE CALL</a:t>
            </a:r>
          </a:p>
        </p:txBody>
      </p:sp>
      <p:sp>
        <p:nvSpPr>
          <p:cNvPr id="13" name="TextBox 12"/>
          <p:cNvSpPr txBox="1"/>
          <p:nvPr/>
        </p:nvSpPr>
        <p:spPr>
          <a:xfrm>
            <a:off x="1005840" y="2331720"/>
            <a:ext cx="4800600" cy="3246120"/>
          </a:xfrm>
          <a:prstGeom prst="rect">
            <a:avLst/>
          </a:prstGeom>
          <a:noFill/>
        </p:spPr>
        <p:txBody>
          <a:bodyPr wrap="square">
            <a:spAutoFit/>
          </a:bodyPr>
          <a:lstStyle/>
          <a:p>
            <a:pPr>
              <a:spcAft>
                <a:spcPts val="900"/>
              </a:spcAft>
            </a:pPr>
            <a:r>
              <a:rPr sz="1300" b="0">
                <a:solidFill>
                  <a:srgbClr val="161B26"/>
                </a:solidFill>
                <a:latin typeface="Arial"/>
              </a:rPr>
              <a:t>•  Interrupting to defend the company mid-vent.</a:t>
            </a:r>
          </a:p>
          <a:p>
            <a:pPr>
              <a:spcAft>
                <a:spcPts val="900"/>
              </a:spcAft>
            </a:pPr>
            <a:r>
              <a:rPr sz="1300" b="0">
                <a:solidFill>
                  <a:srgbClr val="161B26"/>
                </a:solidFill>
                <a:latin typeface="Arial"/>
              </a:rPr>
              <a:t>•  Silent hold with no reason and no time given.</a:t>
            </a:r>
          </a:p>
          <a:p>
            <a:pPr>
              <a:spcAft>
                <a:spcPts val="900"/>
              </a:spcAft>
            </a:pPr>
            <a:r>
              <a:rPr sz="1300" b="0">
                <a:solidFill>
                  <a:srgbClr val="161B26"/>
                </a:solidFill>
                <a:latin typeface="Arial"/>
              </a:rPr>
              <a:t>•  Reading a rigid script — it sounds robotic instantly.</a:t>
            </a:r>
          </a:p>
          <a:p>
            <a:pPr>
              <a:spcAft>
                <a:spcPts val="900"/>
              </a:spcAft>
            </a:pPr>
            <a:r>
              <a:rPr sz="1300" b="0">
                <a:solidFill>
                  <a:srgbClr val="161B26"/>
                </a:solidFill>
                <a:latin typeface="Arial"/>
              </a:rPr>
              <a:t>•  Jargon and internal system names.</a:t>
            </a:r>
          </a:p>
          <a:p>
            <a:pPr>
              <a:spcAft>
                <a:spcPts val="900"/>
              </a:spcAft>
            </a:pPr>
            <a:r>
              <a:rPr sz="1300" b="0">
                <a:solidFill>
                  <a:srgbClr val="161B26"/>
                </a:solidFill>
                <a:latin typeface="Arial"/>
              </a:rPr>
              <a:t>•  Vague closes: 'we'll look into it and get back to you.'</a:t>
            </a:r>
          </a:p>
          <a:p>
            <a:pPr>
              <a:spcAft>
                <a:spcPts val="900"/>
              </a:spcAft>
            </a:pPr>
            <a:r>
              <a:rPr sz="1300" b="0">
                <a:solidFill>
                  <a:srgbClr val="161B26"/>
                </a:solidFill>
                <a:latin typeface="Arial"/>
              </a:rPr>
              <a:t>•  Transferring without explaining or introducing.</a:t>
            </a:r>
          </a:p>
        </p:txBody>
      </p:sp>
      <p:sp>
        <p:nvSpPr>
          <p:cNvPr id="14" name="TextBox 13"/>
          <p:cNvSpPr txBox="1"/>
          <p:nvPr/>
        </p:nvSpPr>
        <p:spPr>
          <a:xfrm>
            <a:off x="6409944" y="2331720"/>
            <a:ext cx="4800600" cy="3246120"/>
          </a:xfrm>
          <a:prstGeom prst="rect">
            <a:avLst/>
          </a:prstGeom>
          <a:noFill/>
        </p:spPr>
        <p:txBody>
          <a:bodyPr wrap="square">
            <a:spAutoFit/>
          </a:bodyPr>
          <a:lstStyle/>
          <a:p>
            <a:pPr>
              <a:spcAft>
                <a:spcPts val="900"/>
              </a:spcAft>
            </a:pPr>
            <a:r>
              <a:rPr sz="1300" b="0">
                <a:solidFill>
                  <a:srgbClr val="161B26"/>
                </a:solidFill>
                <a:latin typeface="Arial"/>
              </a:rPr>
              <a:t>•  Letting the first 30–45 seconds run — the key fact is in there.</a:t>
            </a:r>
          </a:p>
          <a:p>
            <a:pPr>
              <a:spcAft>
                <a:spcPts val="900"/>
              </a:spcAft>
            </a:pPr>
            <a:r>
              <a:rPr sz="1300" b="0">
                <a:solidFill>
                  <a:srgbClr val="161B26"/>
                </a:solidFill>
                <a:latin typeface="Arial"/>
              </a:rPr>
              <a:t>•  Smiling before you speak — it changes your voice audibly.</a:t>
            </a:r>
          </a:p>
          <a:p>
            <a:pPr>
              <a:spcAft>
                <a:spcPts val="900"/>
              </a:spcAft>
            </a:pPr>
            <a:r>
              <a:rPr sz="1300" b="0">
                <a:solidFill>
                  <a:srgbClr val="161B26"/>
                </a:solidFill>
                <a:latin typeface="Arial"/>
              </a:rPr>
              <a:t>•  Using their name naturally, two or three times.</a:t>
            </a:r>
          </a:p>
          <a:p>
            <a:pPr>
              <a:spcAft>
                <a:spcPts val="900"/>
              </a:spcAft>
            </a:pPr>
            <a:r>
              <a:rPr sz="1300" b="0">
                <a:solidFill>
                  <a:srgbClr val="161B26"/>
                </a:solidFill>
                <a:latin typeface="Arial"/>
              </a:rPr>
              <a:t>•  Paraphrasing before proposing anything.</a:t>
            </a:r>
          </a:p>
          <a:p>
            <a:pPr>
              <a:spcAft>
                <a:spcPts val="900"/>
              </a:spcAft>
            </a:pPr>
            <a:r>
              <a:rPr sz="1300" b="0">
                <a:solidFill>
                  <a:srgbClr val="161B26"/>
                </a:solidFill>
                <a:latin typeface="Arial"/>
              </a:rPr>
              <a:t>•  A specific time, a named owner and a reference number.</a:t>
            </a:r>
          </a:p>
          <a:p>
            <a:pPr>
              <a:spcAft>
                <a:spcPts val="900"/>
              </a:spcAft>
            </a:pPr>
            <a:r>
              <a:rPr sz="1300" b="0">
                <a:solidFill>
                  <a:srgbClr val="161B26"/>
                </a:solidFill>
                <a:latin typeface="Arial"/>
              </a:rPr>
              <a:t>•  One proactive follow-up call, made whether or not it worked.</a:t>
            </a:r>
          </a:p>
        </p:txBody>
      </p:sp>
      <p:sp>
        <p:nvSpPr>
          <p:cNvPr id="15" name="Rectangle 14"/>
          <p:cNvSpPr/>
          <p:nvPr/>
        </p:nvSpPr>
        <p:spPr>
          <a:xfrm>
            <a:off x="777240" y="580644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806440"/>
            <a:ext cx="10195560" cy="566928"/>
          </a:xfrm>
          <a:prstGeom prst="rect">
            <a:avLst/>
          </a:prstGeom>
          <a:noFill/>
        </p:spPr>
        <p:txBody>
          <a:bodyPr wrap="square" anchor="ctr">
            <a:spAutoFit/>
          </a:bodyPr>
          <a:lstStyle/>
          <a:p>
            <a:pPr algn="l">
              <a:spcAft>
                <a:spcPts val="400"/>
              </a:spcAft>
            </a:pPr>
            <a:r>
              <a:rPr sz="1250" b="0">
                <a:solidFill>
                  <a:srgbClr val="161B26"/>
                </a:solidFill>
                <a:latin typeface="Arial"/>
              </a:rPr>
              <a:t>With no visual channel, tone and pace do all the work that posture and expression do in person.</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WHERE MOST CALLS ARE LOST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Placing a Customer on Hold — the Four Parts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88011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8801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24128" y="1994535"/>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1994535"/>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9601200" cy="880110"/>
          </a:xfrm>
          <a:prstGeom prst="rect">
            <a:avLst/>
          </a:prstGeom>
          <a:noFill/>
        </p:spPr>
        <p:txBody>
          <a:bodyPr wrap="square" anchor="ctr">
            <a:spAutoFit/>
          </a:bodyPr>
          <a:lstStyle/>
          <a:p>
            <a:pPr algn="l">
              <a:spcAft>
                <a:spcPts val="200"/>
              </a:spcAft>
            </a:pPr>
            <a:r>
              <a:rPr sz="1400" b="1">
                <a:solidFill>
                  <a:srgbClr val="1F6FEB"/>
                </a:solidFill>
                <a:latin typeface="Arial"/>
              </a:rPr>
              <a:t>Ask permission</a:t>
            </a:r>
          </a:p>
          <a:p>
            <a:pPr algn="l">
              <a:spcAft>
                <a:spcPts val="200"/>
              </a:spcAft>
            </a:pPr>
            <a:r>
              <a:rPr sz="1150" b="0">
                <a:solidFill>
                  <a:srgbClr val="161B26"/>
                </a:solidFill>
                <a:latin typeface="Arial"/>
              </a:rPr>
              <a:t>'May I put you on hold for a moment?' — then actually wait for the answer.</a:t>
            </a:r>
          </a:p>
        </p:txBody>
      </p:sp>
      <p:sp>
        <p:nvSpPr>
          <p:cNvPr id="12" name="Rectangle 11"/>
          <p:cNvSpPr/>
          <p:nvPr/>
        </p:nvSpPr>
        <p:spPr>
          <a:xfrm>
            <a:off x="777240" y="2800350"/>
            <a:ext cx="10634472" cy="88011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00350"/>
            <a:ext cx="82296" cy="88011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4128" y="3011805"/>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3011805"/>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691640" y="2800350"/>
            <a:ext cx="9601200" cy="880110"/>
          </a:xfrm>
          <a:prstGeom prst="rect">
            <a:avLst/>
          </a:prstGeom>
          <a:noFill/>
        </p:spPr>
        <p:txBody>
          <a:bodyPr wrap="square" anchor="ctr">
            <a:spAutoFit/>
          </a:bodyPr>
          <a:lstStyle/>
          <a:p>
            <a:pPr algn="l">
              <a:spcAft>
                <a:spcPts val="200"/>
              </a:spcAft>
            </a:pPr>
            <a:r>
              <a:rPr sz="1400" b="1">
                <a:solidFill>
                  <a:srgbClr val="10B981"/>
                </a:solidFill>
                <a:latin typeface="Arial"/>
              </a:rPr>
              <a:t>State the reason</a:t>
            </a:r>
          </a:p>
          <a:p>
            <a:pPr algn="l">
              <a:spcAft>
                <a:spcPts val="200"/>
              </a:spcAft>
            </a:pPr>
            <a:r>
              <a:rPr sz="1150" b="0">
                <a:solidFill>
                  <a:srgbClr val="161B26"/>
                </a:solidFill>
                <a:latin typeface="Arial"/>
              </a:rPr>
              <a:t>'…while I get my supervisor to authorise the re-route.' Reason converts waiting into progress.</a:t>
            </a:r>
          </a:p>
        </p:txBody>
      </p:sp>
      <p:sp>
        <p:nvSpPr>
          <p:cNvPr id="17" name="Rectangle 16"/>
          <p:cNvSpPr/>
          <p:nvPr/>
        </p:nvSpPr>
        <p:spPr>
          <a:xfrm>
            <a:off x="777240" y="3817620"/>
            <a:ext cx="10634472" cy="88011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817620"/>
            <a:ext cx="82296" cy="88011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24128" y="4029075"/>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4029075"/>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691640" y="3817620"/>
            <a:ext cx="9601200" cy="880110"/>
          </a:xfrm>
          <a:prstGeom prst="rect">
            <a:avLst/>
          </a:prstGeom>
          <a:noFill/>
        </p:spPr>
        <p:txBody>
          <a:bodyPr wrap="square" anchor="ctr">
            <a:spAutoFit/>
          </a:bodyPr>
          <a:lstStyle/>
          <a:p>
            <a:pPr algn="l">
              <a:spcAft>
                <a:spcPts val="200"/>
              </a:spcAft>
            </a:pPr>
            <a:r>
              <a:rPr sz="1400" b="1">
                <a:solidFill>
                  <a:srgbClr val="7C3AED"/>
                </a:solidFill>
                <a:latin typeface="Arial"/>
              </a:rPr>
              <a:t>Give a realistic duration</a:t>
            </a:r>
          </a:p>
          <a:p>
            <a:pPr algn="l">
              <a:spcAft>
                <a:spcPts val="200"/>
              </a:spcAft>
            </a:pPr>
            <a:r>
              <a:rPr sz="1150" b="0">
                <a:solidFill>
                  <a:srgbClr val="161B26"/>
                </a:solidFill>
                <a:latin typeface="Arial"/>
              </a:rPr>
              <a:t>'About three minutes.' Then beat it, or come back and re-contract.</a:t>
            </a:r>
          </a:p>
        </p:txBody>
      </p:sp>
      <p:sp>
        <p:nvSpPr>
          <p:cNvPr id="22" name="Rectangle 21"/>
          <p:cNvSpPr/>
          <p:nvPr/>
        </p:nvSpPr>
        <p:spPr>
          <a:xfrm>
            <a:off x="777240" y="4834890"/>
            <a:ext cx="10634472" cy="88011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834890"/>
            <a:ext cx="82296" cy="88011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24128" y="5046345"/>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 y="5046345"/>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691640" y="4834890"/>
            <a:ext cx="9601200" cy="880110"/>
          </a:xfrm>
          <a:prstGeom prst="rect">
            <a:avLst/>
          </a:prstGeom>
          <a:noFill/>
        </p:spPr>
        <p:txBody>
          <a:bodyPr wrap="square" anchor="ctr">
            <a:spAutoFit/>
          </a:bodyPr>
          <a:lstStyle/>
          <a:p>
            <a:pPr algn="l">
              <a:spcAft>
                <a:spcPts val="200"/>
              </a:spcAft>
            </a:pPr>
            <a:r>
              <a:rPr sz="1400" b="1">
                <a:solidFill>
                  <a:srgbClr val="F59E0B"/>
                </a:solidFill>
                <a:latin typeface="Arial"/>
              </a:rPr>
              <a:t>Thank them on return</a:t>
            </a:r>
          </a:p>
          <a:p>
            <a:pPr algn="l">
              <a:spcAft>
                <a:spcPts val="200"/>
              </a:spcAft>
            </a:pPr>
            <a:r>
              <a:rPr sz="1150" b="0">
                <a:solidFill>
                  <a:srgbClr val="161B26"/>
                </a:solidFill>
                <a:latin typeface="Arial"/>
              </a:rPr>
              <a:t>'Thank you for waiting.' Missing this one part makes the whole hold feel like being dumped.</a:t>
            </a:r>
          </a:p>
        </p:txBody>
      </p:sp>
      <p:sp>
        <p:nvSpPr>
          <p:cNvPr id="27" name="Rectangle 26"/>
          <p:cNvSpPr/>
          <p:nvPr/>
        </p:nvSpPr>
        <p:spPr>
          <a:xfrm>
            <a:off x="777240" y="580644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5806440"/>
            <a:ext cx="10195560" cy="566928"/>
          </a:xfrm>
          <a:prstGeom prst="rect">
            <a:avLst/>
          </a:prstGeom>
          <a:noFill/>
        </p:spPr>
        <p:txBody>
          <a:bodyPr wrap="square" anchor="ctr">
            <a:spAutoFit/>
          </a:bodyPr>
          <a:lstStyle/>
          <a:p>
            <a:pPr algn="l">
              <a:spcAft>
                <a:spcPts val="400"/>
              </a:spcAft>
            </a:pPr>
            <a:r>
              <a:rPr sz="1250" b="0">
                <a:solidFill>
                  <a:srgbClr val="161B26"/>
                </a:solidFill>
                <a:latin typeface="Arial"/>
              </a:rPr>
              <a:t>A hold is a permission you are granted, not an action you perform on the customer.</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CASE STUDY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5 — The Angry Delivery Call — Logistics Hotline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200" b="1">
                <a:solidFill>
                  <a:srgbClr val="FFFFFF"/>
                </a:solidFill>
                <a:latin typeface="Arial"/>
              </a:rPr>
              <a:t>ACTIVITY 5  ·  30 MIN</a:t>
            </a:r>
          </a:p>
        </p:txBody>
      </p:sp>
      <p:sp>
        <p:nvSpPr>
          <p:cNvPr id="9" name="Rectangle 8"/>
          <p:cNvSpPr/>
          <p:nvPr/>
        </p:nvSpPr>
        <p:spPr>
          <a:xfrm>
            <a:off x="777240" y="1783080"/>
            <a:ext cx="10634472" cy="3310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91440" cy="3310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190195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SCENARIO</a:t>
            </a:r>
          </a:p>
        </p:txBody>
      </p:sp>
      <p:sp>
        <p:nvSpPr>
          <p:cNvPr id="12" name="TextBox 11"/>
          <p:cNvSpPr txBox="1"/>
          <p:nvPr/>
        </p:nvSpPr>
        <p:spPr>
          <a:xfrm>
            <a:off x="1051560" y="2240280"/>
            <a:ext cx="10149840" cy="2743200"/>
          </a:xfrm>
          <a:prstGeom prst="rect">
            <a:avLst/>
          </a:prstGeom>
          <a:noFill/>
        </p:spPr>
        <p:txBody>
          <a:bodyPr wrap="square" anchor="t">
            <a:spAutoFit/>
          </a:bodyPr>
          <a:lstStyle/>
          <a:p>
            <a:pPr algn="l">
              <a:spcAft>
                <a:spcPts val="700"/>
              </a:spcAft>
            </a:pPr>
            <a:r>
              <a:rPr sz="1150" b="0">
                <a:solidFill>
                  <a:srgbClr val="161B26"/>
                </a:solidFill>
                <a:latin typeface="Arial"/>
              </a:rPr>
              <a:t>You work the customer hotline for a Singapore last-mile logistics firm. Mr Faisal calls at 4:15pm. His package — a replacement CPAP machine part his father needs — was due Monday. It is now Thursday. Tracking has said 'out for delivery' for three days. He has called twice before; both times he was told 'it will be delivered today'. He opens the call at volume: 'I've been lied to twice. Don't tell me it's out for delivery. Where is my package?'</a:t>
            </a:r>
          </a:p>
          <a:p>
            <a:pPr algn="l">
              <a:spcAft>
                <a:spcPts val="700"/>
              </a:spcAft>
            </a:pPr>
            <a:r>
              <a:rPr sz="1150" b="0">
                <a:solidFill>
                  <a:srgbClr val="161B26"/>
                </a:solidFill>
                <a:latin typeface="Arial"/>
              </a:rPr>
              <a:t>What you find while he is talking: the parcel was mis-sorted to the Jurong hub on Monday, scanned back out Wednesday, and is genuinely on a van today — but the van's route ends at 9pm and he is stop 61 of 68. You can request a priority re-route (needs hub supervisor approval, ~10 minutes) or offer next-morning guaranteed delivery before 10am.</a:t>
            </a:r>
          </a:p>
        </p:txBody>
      </p:sp>
      <p:sp>
        <p:nvSpPr>
          <p:cNvPr id="13" name="Rectangle 12"/>
          <p:cNvSpPr/>
          <p:nvPr/>
        </p:nvSpPr>
        <p:spPr>
          <a:xfrm>
            <a:off x="777240" y="5230368"/>
            <a:ext cx="5230368" cy="676656"/>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230368"/>
            <a:ext cx="4846320" cy="676656"/>
          </a:xfrm>
          <a:prstGeom prst="rect">
            <a:avLst/>
          </a:prstGeom>
          <a:noFill/>
        </p:spPr>
        <p:txBody>
          <a:bodyPr wrap="square" anchor="ctr">
            <a:spAutoFit/>
          </a:bodyPr>
          <a:lstStyle/>
          <a:p>
            <a:pPr algn="l">
              <a:spcAft>
                <a:spcPts val="400"/>
              </a:spcAft>
            </a:pPr>
            <a:r>
              <a:rPr sz="1050" b="1">
                <a:solidFill>
                  <a:srgbClr val="1F6FEB"/>
                </a:solidFill>
                <a:latin typeface="Arial"/>
              </a:rPr>
              <a:t>FORMAT   </a:t>
            </a:r>
            <a:r>
              <a:rPr sz="1150" b="0">
                <a:solidFill>
                  <a:srgbClr val="161B26"/>
                </a:solidFill>
                <a:latin typeface="Arial"/>
              </a:rPr>
              <a:t>Role Play</a:t>
            </a:r>
          </a:p>
        </p:txBody>
      </p:sp>
      <p:sp>
        <p:nvSpPr>
          <p:cNvPr id="15" name="Rectangle 14"/>
          <p:cNvSpPr/>
          <p:nvPr/>
        </p:nvSpPr>
        <p:spPr>
          <a:xfrm>
            <a:off x="6181344" y="5230368"/>
            <a:ext cx="5230368" cy="67665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9944" y="5230368"/>
            <a:ext cx="4846320" cy="676656"/>
          </a:xfrm>
          <a:prstGeom prst="rect">
            <a:avLst/>
          </a:prstGeom>
          <a:noFill/>
        </p:spPr>
        <p:txBody>
          <a:bodyPr wrap="square" anchor="ctr">
            <a:spAutoFit/>
          </a:bodyPr>
          <a:lstStyle/>
          <a:p>
            <a:pPr algn="l">
              <a:spcAft>
                <a:spcPts val="400"/>
              </a:spcAft>
            </a:pPr>
            <a:r>
              <a:rPr sz="1050" b="1">
                <a:solidFill>
                  <a:srgbClr val="16845B"/>
                </a:solidFill>
                <a:latin typeface="Arial"/>
              </a:rPr>
              <a:t>ROLES   </a:t>
            </a:r>
            <a:r>
              <a:rPr sz="1150" b="0">
                <a:solidFill>
                  <a:srgbClr val="161B26"/>
                </a:solidFill>
                <a:latin typeface="Arial"/>
              </a:rPr>
              <a:t>Pairs, seated back to back so there is no visual channel. A = Hotline Officer, B = Mr Faisal.</a:t>
            </a:r>
          </a:p>
        </p:txBody>
      </p:sp>
      <p:sp>
        <p:nvSpPr>
          <p:cNvPr id="17" name="TextBox 16"/>
          <p:cNvSpPr txBox="1"/>
          <p:nvPr/>
        </p:nvSpPr>
        <p:spPr>
          <a:xfrm>
            <a:off x="777240" y="5998464"/>
            <a:ext cx="10634472" cy="365760"/>
          </a:xfrm>
          <a:prstGeom prst="rect">
            <a:avLst/>
          </a:prstGeom>
          <a:noFill/>
        </p:spPr>
        <p:txBody>
          <a:bodyPr wrap="square" anchor="t">
            <a:spAutoFit/>
          </a:bodyPr>
          <a:lstStyle/>
          <a:p>
            <a:pPr algn="ctr">
              <a:spcAft>
                <a:spcPts val="400"/>
              </a:spcAft>
            </a:pPr>
            <a:r>
              <a:rPr sz="1100" b="0">
                <a:solidFill>
                  <a:srgbClr val="5B6372"/>
                </a:solidFill>
                <a:latin typeface="Arial"/>
              </a:rPr>
              <a:t>Full step-by-step instructions: Learner Guide, Activity 5  ·  Activities folder: activities/activity-05/</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WORK IN YOUR GROUP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5 — Discussion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6217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01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01952"/>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572768" y="1783080"/>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Mr Faisal opens by shouting. What are your first words, and how long do you let him talk before you speak?</a:t>
            </a:r>
          </a:p>
        </p:txBody>
      </p:sp>
      <p:sp>
        <p:nvSpPr>
          <p:cNvPr id="12" name="Rectangle 11"/>
          <p:cNvSpPr/>
          <p:nvPr/>
        </p:nvSpPr>
        <p:spPr>
          <a:xfrm>
            <a:off x="777240" y="2532888"/>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32888"/>
            <a:ext cx="82296" cy="6217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265176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2651760"/>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572768" y="2532888"/>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He says 'I've been lied to twice.' Is that true? How do you respond to it without blaming a colleague or defending the company?</a:t>
            </a:r>
          </a:p>
        </p:txBody>
      </p:sp>
      <p:sp>
        <p:nvSpPr>
          <p:cNvPr id="17" name="Rectangle 16"/>
          <p:cNvSpPr/>
          <p:nvPr/>
        </p:nvSpPr>
        <p:spPr>
          <a:xfrm>
            <a:off x="777240" y="3282696"/>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282696"/>
            <a:ext cx="82296" cy="6217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3401568"/>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40156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572768" y="3282696"/>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Write the exact sentence you would use to paraphrase his issue back to him.</a:t>
            </a:r>
          </a:p>
        </p:txBody>
      </p:sp>
      <p:sp>
        <p:nvSpPr>
          <p:cNvPr id="22" name="Rectangle 21"/>
          <p:cNvSpPr/>
          <p:nvPr/>
        </p:nvSpPr>
        <p:spPr>
          <a:xfrm>
            <a:off x="777240" y="4032504"/>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32504"/>
            <a:ext cx="82296" cy="6217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05840" y="4151376"/>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415137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572768" y="4032504"/>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You need 10 minutes to get supervisor approval. How do you place him on hold correctly — what four things must you say?</a:t>
            </a:r>
          </a:p>
        </p:txBody>
      </p:sp>
      <p:sp>
        <p:nvSpPr>
          <p:cNvPr id="27" name="Rectangle 26"/>
          <p:cNvSpPr/>
          <p:nvPr/>
        </p:nvSpPr>
        <p:spPr>
          <a:xfrm>
            <a:off x="777240" y="4782312"/>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782312"/>
            <a:ext cx="82296" cy="6217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5840" y="490118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490118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1" name="TextBox 30"/>
          <p:cNvSpPr txBox="1"/>
          <p:nvPr/>
        </p:nvSpPr>
        <p:spPr>
          <a:xfrm>
            <a:off x="1572768" y="4782312"/>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You have two options (priority re-route vs guaranteed next morning). Do you choose for him or offer both? Why?</a:t>
            </a:r>
          </a:p>
        </p:txBody>
      </p:sp>
      <p:sp>
        <p:nvSpPr>
          <p:cNvPr id="32" name="Rectangle 31"/>
          <p:cNvSpPr/>
          <p:nvPr/>
        </p:nvSpPr>
        <p:spPr>
          <a:xfrm>
            <a:off x="777240" y="5532120"/>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532120"/>
            <a:ext cx="82296" cy="6217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05840" y="5650992"/>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40" y="5650992"/>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572768" y="5532120"/>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Why does the CPAP detail change how you handle this call, and what would you have missed if you had interrupted him?</a:t>
            </a:r>
          </a:p>
        </p:txBody>
      </p:sp>
      <p:sp>
        <p:nvSpPr>
          <p:cNvPr id="37" name="TextBox 36"/>
          <p:cNvSpPr txBox="1"/>
          <p:nvPr/>
        </p:nvSpPr>
        <p:spPr>
          <a:xfrm>
            <a:off x="777240" y="6272784"/>
            <a:ext cx="10634472" cy="256032"/>
          </a:xfrm>
          <a:prstGeom prst="rect">
            <a:avLst/>
          </a:prstGeom>
          <a:noFill/>
        </p:spPr>
        <p:txBody>
          <a:bodyPr wrap="square" anchor="t">
            <a:spAutoFit/>
          </a:bodyPr>
          <a:lstStyle/>
          <a:p>
            <a:pPr algn="ctr">
              <a:spcAft>
                <a:spcPts val="400"/>
              </a:spcAft>
            </a:pPr>
            <a:r>
              <a:rPr sz="1050" b="0">
                <a:solidFill>
                  <a:srgbClr val="5B6372"/>
                </a:solidFill>
                <a:latin typeface="Arial"/>
              </a:rPr>
              <a:t>30 minutes  ·  Pairs, seated back to back so there is no visual channel. A = Hotline Officer, B = Mr Faisal.</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6845B"/>
                </a:solidFill>
                <a:latin typeface="Arial"/>
              </a:rPr>
              <a:t>TOPIC 05 · WHAT GOOD LOOKS LIKE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5 — Debrief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Let him finish. The first 30–45 seconds are venting and contain the CPAP detail — the single most important fact in the call. An officer who interrupts to defend the tracking system never learns why this parcel matters.</a:t>
            </a:r>
          </a:p>
        </p:txBody>
      </p:sp>
      <p:sp>
        <p:nvSpPr>
          <p:cNvPr id="10" name="Rectangle 9"/>
          <p:cNvSpPr/>
          <p:nvPr/>
        </p:nvSpPr>
        <p:spPr>
          <a:xfrm>
            <a:off x="777240" y="243840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43840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43840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'I've been lied to twice' — do not defend and do not blame. 'You were given a delivery promise twice and it did not happen. That's on us.' Acknowledging the customer's EXPERIENCE is not admitting to a lie.</a:t>
            </a:r>
          </a:p>
        </p:txBody>
      </p:sp>
      <p:sp>
        <p:nvSpPr>
          <p:cNvPr id="13" name="Rectangle 12"/>
          <p:cNvSpPr/>
          <p:nvPr/>
        </p:nvSpPr>
        <p:spPr>
          <a:xfrm>
            <a:off x="777240" y="309372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09372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309372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Good paraphrase: 'So your father's CPAP part was promised Monday, you've called twice, been told it's out for delivery each time, and four days on you still have nothing.' Naming the father is what proves you listened.</a:t>
            </a:r>
          </a:p>
        </p:txBody>
      </p:sp>
      <p:sp>
        <p:nvSpPr>
          <p:cNvPr id="16" name="Rectangle 15"/>
          <p:cNvSpPr/>
          <p:nvPr/>
        </p:nvSpPr>
        <p:spPr>
          <a:xfrm>
            <a:off x="777240" y="374904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74904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374904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Correct hold has four parts: ask permission, state the reason, give a realistic duration, thank them on return. Missing any one of these makes the hold feel like being dumped.</a:t>
            </a:r>
          </a:p>
        </p:txBody>
      </p:sp>
      <p:sp>
        <p:nvSpPr>
          <p:cNvPr id="19" name="Rectangle 18"/>
          <p:cNvSpPr/>
          <p:nvPr/>
        </p:nvSpPr>
        <p:spPr>
          <a:xfrm>
            <a:off x="777240" y="440436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40436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440436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Offer both options with a recommendation. The CPAP context makes guaranteed 10am delivery likely better than stop 61 at 9pm — but it is his father and his call. Choosing FOR the customer removes the one piece of control he still has.</a:t>
            </a:r>
          </a:p>
        </p:txBody>
      </p:sp>
      <p:sp>
        <p:nvSpPr>
          <p:cNvPr id="22" name="Rectangle 21"/>
          <p:cNvSpPr/>
          <p:nvPr/>
        </p:nvSpPr>
        <p:spPr>
          <a:xfrm>
            <a:off x="777240" y="505968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05968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505968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This call is a Topic 7 case in disguise: the mis-sort is the fault, but the SERVICE failure is two false promises. Note it for the feedback loop — the fix is not promising a date the system cannot see.</a:t>
            </a:r>
          </a:p>
        </p:txBody>
      </p:sp>
      <p:sp>
        <p:nvSpPr>
          <p:cNvPr id="25" name="Rectangle 24"/>
          <p:cNvSpPr/>
          <p:nvPr/>
        </p:nvSpPr>
        <p:spPr>
          <a:xfrm>
            <a:off x="777240" y="574243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5742432"/>
            <a:ext cx="10195560" cy="566928"/>
          </a:xfrm>
          <a:prstGeom prst="rect">
            <a:avLst/>
          </a:prstGeom>
          <a:noFill/>
        </p:spPr>
        <p:txBody>
          <a:bodyPr wrap="square" anchor="ctr">
            <a:spAutoFit/>
          </a:bodyPr>
          <a:lstStyle/>
          <a:p>
            <a:pPr algn="l">
              <a:spcAft>
                <a:spcPts val="400"/>
              </a:spcAft>
            </a:pPr>
            <a:r>
              <a:rPr sz="1100" b="1">
                <a:solidFill>
                  <a:srgbClr val="10B981"/>
                </a:solidFill>
                <a:latin typeface="Arial"/>
              </a:rPr>
              <a:t>TEST IT   </a:t>
            </a:r>
            <a:r>
              <a:rPr sz="1150" b="0">
                <a:solidFill>
                  <a:srgbClr val="161B26"/>
                </a:solidFill>
                <a:latin typeface="Arial"/>
              </a:rPr>
              <a:t>You did not interrupt during the opening vent, your paraphrase included the father/CPAP detail, your hold had all four elements, and your close named a specific time and owner.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Customer Service via Email and Chat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Netiquette · email structure · written tone · choosing between email and live chat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06</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  LU1 · K1, K2, A1 · 40 min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Topic 6 — Key Concepts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Writing is a service skill</a:t>
            </a:r>
          </a:p>
          <a:p>
            <a:pPr algn="l">
              <a:spcAft>
                <a:spcPts val="300"/>
              </a:spcAft>
            </a:pPr>
            <a:r>
              <a:rPr sz="1100" b="0">
                <a:solidFill>
                  <a:srgbClr val="5B6372"/>
                </a:solidFill>
                <a:latin typeface="Arial"/>
              </a:rPr>
              <a:t>'You have to log out first' and 'Logging out should fix that quickly!' carry identical information and opposite tone.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Email creates the record</a:t>
            </a:r>
          </a:p>
          <a:p>
            <a:pPr algn="l">
              <a:spcAft>
                <a:spcPts val="300"/>
              </a:spcAft>
            </a:pPr>
            <a:r>
              <a:rPr sz="1100" b="0">
                <a:solidFill>
                  <a:srgbClr val="5B6372"/>
                </a:solidFill>
                <a:latin typeface="Arial"/>
              </a:rPr>
              <a:t>The written trail is the channel's real advantage: the customer can re-read it and you can prove what was agreed.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Netiquette rules are not optional</a:t>
            </a:r>
          </a:p>
          <a:p>
            <a:pPr algn="l">
              <a:spcAft>
                <a:spcPts val="300"/>
              </a:spcAft>
            </a:pPr>
            <a:r>
              <a:rPr sz="1100" b="0">
                <a:solidFill>
                  <a:srgbClr val="5B6372"/>
                </a:solidFill>
                <a:latin typeface="Arial"/>
              </a:rPr>
              <a:t>No ALL CAPS, no unexplained jargon, a clear action-oriented subject line and a real signature block.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 five-part email structure</a:t>
            </a:r>
          </a:p>
          <a:p>
            <a:pPr algn="l">
              <a:spcAft>
                <a:spcPts val="300"/>
              </a:spcAft>
            </a:pPr>
            <a:r>
              <a:rPr sz="1100" b="0">
                <a:solidFill>
                  <a:srgbClr val="5B6372"/>
                </a:solidFill>
                <a:latin typeface="Arial"/>
              </a:rPr>
              <a:t>Personalised greeting → acknowledge the issue → give the solution → state next steps → professional sign-off.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Email vs live chat</a:t>
            </a:r>
          </a:p>
          <a:p>
            <a:pPr algn="l">
              <a:spcAft>
                <a:spcPts val="300"/>
              </a:spcAft>
            </a:pPr>
            <a:r>
              <a:rPr sz="1100" b="0">
                <a:solidFill>
                  <a:srgbClr val="5B6372"/>
                </a:solidFill>
                <a:latin typeface="Arial"/>
              </a:rPr>
              <a:t>Email suits complex, documented, attachment-bearing issues; chat suits short, real-time, single-question issues.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Proofread before you send</a:t>
            </a:r>
          </a:p>
          <a:p>
            <a:pPr algn="l">
              <a:spcAft>
                <a:spcPts val="300"/>
              </a:spcAft>
            </a:pPr>
            <a:r>
              <a:rPr sz="1100" b="0">
                <a:solidFill>
                  <a:srgbClr val="5B6372"/>
                </a:solidFill>
                <a:latin typeface="Arial"/>
              </a:rPr>
              <a:t>Grammar and spelling errors read as carelessness and quietly transfer to how the customer rates your competence.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FIVE-PART STRUCTURE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Anatomy of a Service Email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mail_anatomy.png"/>
          <p:cNvPicPr>
            <a:picLocks noChangeAspect="1"/>
          </p:cNvPicPr>
          <p:nvPr/>
        </p:nvPicPr>
        <p:blipFill>
          <a:blip r:embed="rId2"/>
          <a:stretch>
            <a:fillRect/>
          </a:stretch>
        </p:blipFill>
        <p:spPr>
          <a:xfrm>
            <a:off x="777240" y="2195398"/>
            <a:ext cx="6400800" cy="3518764"/>
          </a:xfrm>
          <a:prstGeom prst="rect">
            <a:avLst/>
          </a:prstGeom>
        </p:spPr>
      </p:pic>
      <p:sp>
        <p:nvSpPr>
          <p:cNvPr id="8" name="Rectangle 7"/>
          <p:cNvSpPr/>
          <p:nvPr/>
        </p:nvSpPr>
        <p:spPr>
          <a:xfrm>
            <a:off x="7498080" y="178308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8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54112" y="1783080"/>
            <a:ext cx="3456432" cy="948690"/>
          </a:xfrm>
          <a:prstGeom prst="rect">
            <a:avLst/>
          </a:prstGeom>
          <a:noFill/>
        </p:spPr>
        <p:txBody>
          <a:bodyPr wrap="square" anchor="ctr">
            <a:spAutoFit/>
          </a:bodyPr>
          <a:lstStyle/>
          <a:p>
            <a:pPr algn="l">
              <a:spcAft>
                <a:spcPts val="200"/>
              </a:spcAft>
            </a:pPr>
            <a:r>
              <a:rPr sz="1400" b="1">
                <a:solidFill>
                  <a:srgbClr val="1F6FEB"/>
                </a:solidFill>
                <a:latin typeface="Arial"/>
              </a:rPr>
              <a:t>Greeting</a:t>
            </a:r>
          </a:p>
          <a:p>
            <a:pPr algn="l">
              <a:spcAft>
                <a:spcPts val="200"/>
              </a:spcAft>
            </a:pPr>
            <a:r>
              <a:rPr sz="1200" b="0">
                <a:solidFill>
                  <a:srgbClr val="161B26"/>
                </a:solidFill>
                <a:latin typeface="Arial"/>
              </a:rPr>
              <a:t>Their name, always. 'Dear Customer' announces that nobody read the file.</a:t>
            </a:r>
          </a:p>
        </p:txBody>
      </p:sp>
      <p:sp>
        <p:nvSpPr>
          <p:cNvPr id="11" name="Rectangle 10"/>
          <p:cNvSpPr/>
          <p:nvPr/>
        </p:nvSpPr>
        <p:spPr>
          <a:xfrm>
            <a:off x="7498080" y="291465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54112" y="2914650"/>
            <a:ext cx="3456432" cy="948690"/>
          </a:xfrm>
          <a:prstGeom prst="rect">
            <a:avLst/>
          </a:prstGeom>
          <a:noFill/>
        </p:spPr>
        <p:txBody>
          <a:bodyPr wrap="square" anchor="ctr">
            <a:spAutoFit/>
          </a:bodyPr>
          <a:lstStyle/>
          <a:p>
            <a:pPr algn="l">
              <a:spcAft>
                <a:spcPts val="200"/>
              </a:spcAft>
            </a:pPr>
            <a:r>
              <a:rPr sz="1400" b="1">
                <a:solidFill>
                  <a:srgbClr val="10B981"/>
                </a:solidFill>
                <a:latin typeface="Arial"/>
              </a:rPr>
              <a:t>Acknowledge</a:t>
            </a:r>
          </a:p>
          <a:p>
            <a:pPr algn="l">
              <a:spcAft>
                <a:spcPts val="200"/>
              </a:spcAft>
            </a:pPr>
            <a:r>
              <a:rPr sz="1200" b="0">
                <a:solidFill>
                  <a:srgbClr val="161B26"/>
                </a:solidFill>
                <a:latin typeface="Arial"/>
              </a:rPr>
              <a:t>Name the wait, the prior contacts and the real deadline before anything else.</a:t>
            </a:r>
          </a:p>
        </p:txBody>
      </p:sp>
      <p:sp>
        <p:nvSpPr>
          <p:cNvPr id="14" name="Rectangle 13"/>
          <p:cNvSpPr/>
          <p:nvPr/>
        </p:nvSpPr>
        <p:spPr>
          <a:xfrm>
            <a:off x="7498080" y="404622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9808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54112" y="4046220"/>
            <a:ext cx="3456432" cy="948690"/>
          </a:xfrm>
          <a:prstGeom prst="rect">
            <a:avLst/>
          </a:prstGeom>
          <a:noFill/>
        </p:spPr>
        <p:txBody>
          <a:bodyPr wrap="square" anchor="ctr">
            <a:spAutoFit/>
          </a:bodyPr>
          <a:lstStyle/>
          <a:p>
            <a:pPr algn="l">
              <a:spcAft>
                <a:spcPts val="200"/>
              </a:spcAft>
            </a:pPr>
            <a:r>
              <a:rPr sz="1400" b="1">
                <a:solidFill>
                  <a:srgbClr val="7C3AED"/>
                </a:solidFill>
                <a:latin typeface="Arial"/>
              </a:rPr>
              <a:t>Solution</a:t>
            </a:r>
          </a:p>
          <a:p>
            <a:pPr algn="l">
              <a:spcAft>
                <a:spcPts val="200"/>
              </a:spcAft>
            </a:pPr>
            <a:r>
              <a:rPr sz="1200" b="0">
                <a:solidFill>
                  <a:srgbClr val="161B26"/>
                </a:solidFill>
                <a:latin typeface="Arial"/>
              </a:rPr>
              <a:t>A calendar date, not a working-day range. Ranges read as evasion.</a:t>
            </a:r>
          </a:p>
        </p:txBody>
      </p:sp>
      <p:sp>
        <p:nvSpPr>
          <p:cNvPr id="17" name="Rectangle 16"/>
          <p:cNvSpPr/>
          <p:nvPr/>
        </p:nvSpPr>
        <p:spPr>
          <a:xfrm>
            <a:off x="7498080" y="517779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9808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54112" y="5177790"/>
            <a:ext cx="3456432" cy="948690"/>
          </a:xfrm>
          <a:prstGeom prst="rect">
            <a:avLst/>
          </a:prstGeom>
          <a:noFill/>
        </p:spPr>
        <p:txBody>
          <a:bodyPr wrap="square" anchor="ctr">
            <a:spAutoFit/>
          </a:bodyPr>
          <a:lstStyle/>
          <a:p>
            <a:pPr algn="l">
              <a:spcAft>
                <a:spcPts val="200"/>
              </a:spcAft>
            </a:pPr>
            <a:r>
              <a:rPr sz="1400" b="1">
                <a:solidFill>
                  <a:srgbClr val="F59E0B"/>
                </a:solidFill>
                <a:latin typeface="Arial"/>
              </a:rPr>
              <a:t>Next steps + sign-off</a:t>
            </a:r>
          </a:p>
          <a:p>
            <a:pPr algn="l">
              <a:spcAft>
                <a:spcPts val="200"/>
              </a:spcAft>
            </a:pPr>
            <a:r>
              <a:rPr sz="1200" b="0">
                <a:solidFill>
                  <a:srgbClr val="161B26"/>
                </a:solidFill>
                <a:latin typeface="Arial"/>
              </a:rPr>
              <a:t>Who does what by when — signed by a real, named person.</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WRITTEN TONE IS A SERVICE SKILL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Netiquette — What Breaks a Service Email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30368" cy="393192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30368" cy="38404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783080"/>
            <a:ext cx="4754880" cy="384048"/>
          </a:xfrm>
          <a:prstGeom prst="rect">
            <a:avLst/>
          </a:prstGeom>
          <a:noFill/>
        </p:spPr>
        <p:txBody>
          <a:bodyPr wrap="square" anchor="ctr">
            <a:spAutoFit/>
          </a:bodyPr>
          <a:lstStyle/>
          <a:p>
            <a:pPr algn="l">
              <a:spcAft>
                <a:spcPts val="400"/>
              </a:spcAft>
            </a:pPr>
            <a:r>
              <a:rPr sz="1350" b="1">
                <a:solidFill>
                  <a:srgbClr val="FFFFFF"/>
                </a:solidFill>
                <a:latin typeface="Arial"/>
              </a:rPr>
              <a:t>NEVER</a:t>
            </a:r>
          </a:p>
        </p:txBody>
      </p:sp>
      <p:sp>
        <p:nvSpPr>
          <p:cNvPr id="10" name="Rectangle 9"/>
          <p:cNvSpPr/>
          <p:nvPr/>
        </p:nvSpPr>
        <p:spPr>
          <a:xfrm>
            <a:off x="6181344" y="1783080"/>
            <a:ext cx="5230368" cy="39319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81344" y="1783080"/>
            <a:ext cx="5230368" cy="38404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9944" y="1783080"/>
            <a:ext cx="4754880" cy="384048"/>
          </a:xfrm>
          <a:prstGeom prst="rect">
            <a:avLst/>
          </a:prstGeom>
          <a:noFill/>
        </p:spPr>
        <p:txBody>
          <a:bodyPr wrap="square" anchor="ctr">
            <a:spAutoFit/>
          </a:bodyPr>
          <a:lstStyle/>
          <a:p>
            <a:pPr algn="l">
              <a:spcAft>
                <a:spcPts val="400"/>
              </a:spcAft>
            </a:pPr>
            <a:r>
              <a:rPr sz="1350" b="1">
                <a:solidFill>
                  <a:srgbClr val="FFFFFF"/>
                </a:solidFill>
                <a:latin typeface="Arial"/>
              </a:rPr>
              <a:t>ALWAYS</a:t>
            </a:r>
          </a:p>
        </p:txBody>
      </p:sp>
      <p:sp>
        <p:nvSpPr>
          <p:cNvPr id="13" name="TextBox 12"/>
          <p:cNvSpPr txBox="1"/>
          <p:nvPr/>
        </p:nvSpPr>
        <p:spPr>
          <a:xfrm>
            <a:off x="1005840" y="2331720"/>
            <a:ext cx="4800600" cy="3246120"/>
          </a:xfrm>
          <a:prstGeom prst="rect">
            <a:avLst/>
          </a:prstGeom>
          <a:noFill/>
        </p:spPr>
        <p:txBody>
          <a:bodyPr wrap="square">
            <a:spAutoFit/>
          </a:bodyPr>
          <a:lstStyle/>
          <a:p>
            <a:pPr>
              <a:spcAft>
                <a:spcPts val="900"/>
              </a:spcAft>
            </a:pPr>
            <a:r>
              <a:rPr sz="1300" b="0">
                <a:solidFill>
                  <a:srgbClr val="161B26"/>
                </a:solidFill>
                <a:latin typeface="Arial"/>
              </a:rPr>
              <a:t>•  ALL CAPS — it reads as shouting.</a:t>
            </a:r>
          </a:p>
          <a:p>
            <a:pPr>
              <a:spcAft>
                <a:spcPts val="900"/>
              </a:spcAft>
            </a:pPr>
            <a:r>
              <a:rPr sz="1300" b="0">
                <a:solidFill>
                  <a:srgbClr val="161B26"/>
                </a:solidFill>
                <a:latin typeface="Arial"/>
              </a:rPr>
              <a:t>•  'Dear Customer' when you have their name on file.</a:t>
            </a:r>
          </a:p>
          <a:p>
            <a:pPr>
              <a:spcAft>
                <a:spcPts val="900"/>
              </a:spcAft>
            </a:pPr>
            <a:r>
              <a:rPr sz="1300" b="0">
                <a:solidFill>
                  <a:srgbClr val="161B26"/>
                </a:solidFill>
                <a:latin typeface="Arial"/>
              </a:rPr>
              <a:t>•  Policy citations as an answer ('per T&amp;C 7.3').</a:t>
            </a:r>
          </a:p>
          <a:p>
            <a:pPr>
              <a:spcAft>
                <a:spcPts val="900"/>
              </a:spcAft>
            </a:pPr>
            <a:r>
              <a:rPr sz="1300" b="0">
                <a:solidFill>
                  <a:srgbClr val="161B26"/>
                </a:solidFill>
                <a:latin typeface="Arial"/>
              </a:rPr>
              <a:t>•  'Please do not email again' — you just closed their only channel.</a:t>
            </a:r>
          </a:p>
          <a:p>
            <a:pPr>
              <a:spcAft>
                <a:spcPts val="900"/>
              </a:spcAft>
            </a:pPr>
            <a:r>
              <a:rPr sz="1300" b="0">
                <a:solidFill>
                  <a:srgbClr val="161B26"/>
                </a:solidFill>
                <a:latin typeface="Arial"/>
              </a:rPr>
              <a:t>•  Unsigned 'Support Team' with no human name.</a:t>
            </a:r>
          </a:p>
          <a:p>
            <a:pPr>
              <a:spcAft>
                <a:spcPts val="900"/>
              </a:spcAft>
            </a:pPr>
            <a:r>
              <a:rPr sz="1300" b="0">
                <a:solidFill>
                  <a:srgbClr val="161B26"/>
                </a:solidFill>
                <a:latin typeface="Arial"/>
              </a:rPr>
              <a:t>•  Dead subject lines: 'RE: RE: FW: order'.</a:t>
            </a:r>
          </a:p>
        </p:txBody>
      </p:sp>
      <p:sp>
        <p:nvSpPr>
          <p:cNvPr id="14" name="TextBox 13"/>
          <p:cNvSpPr txBox="1"/>
          <p:nvPr/>
        </p:nvSpPr>
        <p:spPr>
          <a:xfrm>
            <a:off x="6409944" y="2331720"/>
            <a:ext cx="4800600" cy="3246120"/>
          </a:xfrm>
          <a:prstGeom prst="rect">
            <a:avLst/>
          </a:prstGeom>
          <a:noFill/>
        </p:spPr>
        <p:txBody>
          <a:bodyPr wrap="square">
            <a:spAutoFit/>
          </a:bodyPr>
          <a:lstStyle/>
          <a:p>
            <a:pPr>
              <a:spcAft>
                <a:spcPts val="900"/>
              </a:spcAft>
            </a:pPr>
            <a:r>
              <a:rPr sz="1300" b="0">
                <a:solidFill>
                  <a:srgbClr val="161B26"/>
                </a:solidFill>
                <a:latin typeface="Arial"/>
              </a:rPr>
              <a:t>•  A clear, action-oriented subject line.</a:t>
            </a:r>
          </a:p>
          <a:p>
            <a:pPr>
              <a:spcAft>
                <a:spcPts val="900"/>
              </a:spcAft>
            </a:pPr>
            <a:r>
              <a:rPr sz="1300" b="0">
                <a:solidFill>
                  <a:srgbClr val="161B26"/>
                </a:solidFill>
                <a:latin typeface="Arial"/>
              </a:rPr>
              <a:t>•  Their name, and a reference to their history with you.</a:t>
            </a:r>
          </a:p>
          <a:p>
            <a:pPr>
              <a:spcAft>
                <a:spcPts val="900"/>
              </a:spcAft>
            </a:pPr>
            <a:r>
              <a:rPr sz="1300" b="0">
                <a:solidFill>
                  <a:srgbClr val="161B26"/>
                </a:solidFill>
                <a:latin typeface="Arial"/>
              </a:rPr>
              <a:t>•  Plain language — explain the policy, don't cite it.</a:t>
            </a:r>
          </a:p>
          <a:p>
            <a:pPr>
              <a:spcAft>
                <a:spcPts val="900"/>
              </a:spcAft>
            </a:pPr>
            <a:r>
              <a:rPr sz="1300" b="0">
                <a:solidFill>
                  <a:srgbClr val="161B26"/>
                </a:solidFill>
                <a:latin typeface="Arial"/>
              </a:rPr>
              <a:t>•  A concrete date and a named owner.</a:t>
            </a:r>
          </a:p>
          <a:p>
            <a:pPr>
              <a:spcAft>
                <a:spcPts val="900"/>
              </a:spcAft>
            </a:pPr>
            <a:r>
              <a:rPr sz="1300" b="0">
                <a:solidFill>
                  <a:srgbClr val="161B26"/>
                </a:solidFill>
                <a:latin typeface="Arial"/>
              </a:rPr>
              <a:t>•  A real signature: name, role, direct contact.</a:t>
            </a:r>
          </a:p>
          <a:p>
            <a:pPr>
              <a:spcAft>
                <a:spcPts val="900"/>
              </a:spcAft>
            </a:pPr>
            <a:r>
              <a:rPr sz="1300" b="0">
                <a:solidFill>
                  <a:srgbClr val="161B26"/>
                </a:solidFill>
                <a:latin typeface="Arial"/>
              </a:rPr>
              <a:t>•  A proofread pass before you send.</a:t>
            </a:r>
          </a:p>
        </p:txBody>
      </p:sp>
      <p:sp>
        <p:nvSpPr>
          <p:cNvPr id="15" name="Rectangle 14"/>
          <p:cNvSpPr/>
          <p:nvPr/>
        </p:nvSpPr>
        <p:spPr>
          <a:xfrm>
            <a:off x="777240" y="580644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806440"/>
            <a:ext cx="10195560" cy="566928"/>
          </a:xfrm>
          <a:prstGeom prst="rect">
            <a:avLst/>
          </a:prstGeom>
          <a:noFill/>
        </p:spPr>
        <p:txBody>
          <a:bodyPr wrap="square" anchor="ctr">
            <a:spAutoFit/>
          </a:bodyPr>
          <a:lstStyle/>
          <a:p>
            <a:pPr algn="l">
              <a:spcAft>
                <a:spcPts val="400"/>
              </a:spcAft>
            </a:pPr>
            <a:r>
              <a:rPr sz="1250" b="0">
                <a:solidFill>
                  <a:srgbClr val="161B26"/>
                </a:solidFill>
                <a:latin typeface="Arial"/>
              </a:rPr>
              <a:t>An email can be 100% factually correct and still be a total service failure — accuracy is not the same as service.</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MATCH THE CHANNEL TO THE ISSUE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Choosing the Right Channel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annel_matrix.png"/>
          <p:cNvPicPr>
            <a:picLocks noChangeAspect="1"/>
          </p:cNvPicPr>
          <p:nvPr/>
        </p:nvPicPr>
        <p:blipFill>
          <a:blip r:embed="rId2"/>
          <a:stretch>
            <a:fillRect/>
          </a:stretch>
        </p:blipFill>
        <p:spPr>
          <a:xfrm>
            <a:off x="777240" y="1783080"/>
            <a:ext cx="6002795" cy="3977639"/>
          </a:xfrm>
          <a:prstGeom prst="rect">
            <a:avLst/>
          </a:prstGeom>
        </p:spPr>
      </p:pic>
      <p:sp>
        <p:nvSpPr>
          <p:cNvPr id="8" name="Rectangle 7"/>
          <p:cNvSpPr/>
          <p:nvPr/>
        </p:nvSpPr>
        <p:spPr>
          <a:xfrm>
            <a:off x="7100075" y="1783080"/>
            <a:ext cx="4311637" cy="85724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100075" y="1783080"/>
            <a:ext cx="82296" cy="85724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56107" y="1783080"/>
            <a:ext cx="3854437" cy="857249"/>
          </a:xfrm>
          <a:prstGeom prst="rect">
            <a:avLst/>
          </a:prstGeom>
          <a:noFill/>
        </p:spPr>
        <p:txBody>
          <a:bodyPr wrap="square" anchor="ctr">
            <a:spAutoFit/>
          </a:bodyPr>
          <a:lstStyle/>
          <a:p>
            <a:pPr algn="l">
              <a:spcAft>
                <a:spcPts val="200"/>
              </a:spcAft>
            </a:pPr>
            <a:r>
              <a:rPr sz="1400" b="1">
                <a:solidFill>
                  <a:srgbClr val="1F6FEB"/>
                </a:solidFill>
                <a:latin typeface="Arial"/>
              </a:rPr>
              <a:t>Phone</a:t>
            </a:r>
          </a:p>
          <a:p>
            <a:pPr algn="l">
              <a:spcAft>
                <a:spcPts val="200"/>
              </a:spcAft>
            </a:pPr>
            <a:r>
              <a:rPr sz="1200" b="0">
                <a:solidFill>
                  <a:srgbClr val="161B26"/>
                </a:solidFill>
                <a:latin typeface="Arial"/>
              </a:rPr>
              <a:t>Complex and urgent, or emotionally charged. Voice carries what text cannot.</a:t>
            </a:r>
          </a:p>
        </p:txBody>
      </p:sp>
      <p:sp>
        <p:nvSpPr>
          <p:cNvPr id="11" name="Rectangle 10"/>
          <p:cNvSpPr/>
          <p:nvPr/>
        </p:nvSpPr>
        <p:spPr>
          <a:xfrm>
            <a:off x="7100075" y="2823209"/>
            <a:ext cx="4311637" cy="85724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00075" y="2823209"/>
            <a:ext cx="82296" cy="85724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56107" y="2823209"/>
            <a:ext cx="3854437" cy="857249"/>
          </a:xfrm>
          <a:prstGeom prst="rect">
            <a:avLst/>
          </a:prstGeom>
          <a:noFill/>
        </p:spPr>
        <p:txBody>
          <a:bodyPr wrap="square" anchor="ctr">
            <a:spAutoFit/>
          </a:bodyPr>
          <a:lstStyle/>
          <a:p>
            <a:pPr algn="l">
              <a:spcAft>
                <a:spcPts val="200"/>
              </a:spcAft>
            </a:pPr>
            <a:r>
              <a:rPr sz="1400" b="1">
                <a:solidFill>
                  <a:srgbClr val="10B981"/>
                </a:solidFill>
                <a:latin typeface="Arial"/>
              </a:rPr>
              <a:t>Live chat</a:t>
            </a:r>
          </a:p>
          <a:p>
            <a:pPr algn="l">
              <a:spcAft>
                <a:spcPts val="200"/>
              </a:spcAft>
            </a:pPr>
            <a:r>
              <a:rPr sz="1200" b="0">
                <a:solidFill>
                  <a:srgbClr val="161B26"/>
                </a:solidFill>
                <a:latin typeface="Arial"/>
              </a:rPr>
              <a:t>Simple and urgent — one quick question, answered in real time.</a:t>
            </a:r>
          </a:p>
        </p:txBody>
      </p:sp>
      <p:sp>
        <p:nvSpPr>
          <p:cNvPr id="14" name="Rectangle 13"/>
          <p:cNvSpPr/>
          <p:nvPr/>
        </p:nvSpPr>
        <p:spPr>
          <a:xfrm>
            <a:off x="7100075" y="3863338"/>
            <a:ext cx="4311637" cy="85724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00075" y="3863338"/>
            <a:ext cx="82296" cy="85724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56107" y="3863338"/>
            <a:ext cx="3854437" cy="857249"/>
          </a:xfrm>
          <a:prstGeom prst="rect">
            <a:avLst/>
          </a:prstGeom>
          <a:noFill/>
        </p:spPr>
        <p:txBody>
          <a:bodyPr wrap="square" anchor="ctr">
            <a:spAutoFit/>
          </a:bodyPr>
          <a:lstStyle/>
          <a:p>
            <a:pPr algn="l">
              <a:spcAft>
                <a:spcPts val="200"/>
              </a:spcAft>
            </a:pPr>
            <a:r>
              <a:rPr sz="1400" b="1">
                <a:solidFill>
                  <a:srgbClr val="7C3AED"/>
                </a:solidFill>
                <a:latin typeface="Arial"/>
              </a:rPr>
              <a:t>Email</a:t>
            </a:r>
          </a:p>
          <a:p>
            <a:pPr algn="l">
              <a:spcAft>
                <a:spcPts val="200"/>
              </a:spcAft>
            </a:pPr>
            <a:r>
              <a:rPr sz="1200" b="0">
                <a:solidFill>
                  <a:srgbClr val="161B26"/>
                </a:solidFill>
                <a:latin typeface="Arial"/>
              </a:rPr>
              <a:t>Complex, not urgent, needs attachments and a durable written record.</a:t>
            </a:r>
          </a:p>
        </p:txBody>
      </p:sp>
      <p:sp>
        <p:nvSpPr>
          <p:cNvPr id="17" name="Rectangle 16"/>
          <p:cNvSpPr/>
          <p:nvPr/>
        </p:nvSpPr>
        <p:spPr>
          <a:xfrm>
            <a:off x="7100075" y="4903467"/>
            <a:ext cx="4311637" cy="85724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00075" y="4903467"/>
            <a:ext cx="82296" cy="85724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56107" y="4903467"/>
            <a:ext cx="3854437" cy="857249"/>
          </a:xfrm>
          <a:prstGeom prst="rect">
            <a:avLst/>
          </a:prstGeom>
          <a:noFill/>
        </p:spPr>
        <p:txBody>
          <a:bodyPr wrap="square" anchor="ctr">
            <a:spAutoFit/>
          </a:bodyPr>
          <a:lstStyle/>
          <a:p>
            <a:pPr algn="l">
              <a:spcAft>
                <a:spcPts val="200"/>
              </a:spcAft>
            </a:pPr>
            <a:r>
              <a:rPr sz="1400" b="1">
                <a:solidFill>
                  <a:srgbClr val="F59E0B"/>
                </a:solidFill>
                <a:latin typeface="Arial"/>
              </a:rPr>
              <a:t>Self-service</a:t>
            </a:r>
          </a:p>
          <a:p>
            <a:pPr algn="l">
              <a:spcAft>
                <a:spcPts val="200"/>
              </a:spcAft>
            </a:pPr>
            <a:r>
              <a:rPr sz="1200" b="0">
                <a:solidFill>
                  <a:srgbClr val="161B26"/>
                </a:solidFill>
                <a:latin typeface="Arial"/>
              </a:rPr>
              <a:t>Simple and not urgent — FAQ and help centre, available at 3am.</a:t>
            </a:r>
          </a:p>
        </p:txBody>
      </p:sp>
      <p:sp>
        <p:nvSpPr>
          <p:cNvPr id="20" name="TextBox 19"/>
          <p:cNvSpPr txBox="1"/>
          <p:nvPr/>
        </p:nvSpPr>
        <p:spPr>
          <a:xfrm>
            <a:off x="777240" y="5852160"/>
            <a:ext cx="10698480" cy="457200"/>
          </a:xfrm>
          <a:prstGeom prst="rect">
            <a:avLst/>
          </a:prstGeom>
          <a:noFill/>
        </p:spPr>
        <p:txBody>
          <a:bodyPr wrap="square" anchor="t">
            <a:spAutoFit/>
          </a:bodyPr>
          <a:lstStyle/>
          <a:p>
            <a:pPr algn="ctr">
              <a:spcAft>
                <a:spcPts val="400"/>
              </a:spcAft>
            </a:pPr>
            <a:r>
              <a:rPr sz="1300" b="0">
                <a:solidFill>
                  <a:srgbClr val="5B6372"/>
                </a:solidFill>
                <a:latin typeface="Arial"/>
              </a:rPr>
              <a:t>Best practice for a time-critical emotional issue: call first, then confirm in writing — use each channel for what it does well.</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CASE STUDY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6 — Rewriting the Refund Email — E-Commerce Support Inbox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200" b="1">
                <a:solidFill>
                  <a:srgbClr val="FFFFFF"/>
                </a:solidFill>
                <a:latin typeface="Arial"/>
              </a:rPr>
              <a:t>ACTIVITY 6  ·  25 MIN</a:t>
            </a:r>
          </a:p>
        </p:txBody>
      </p:sp>
      <p:sp>
        <p:nvSpPr>
          <p:cNvPr id="9" name="Rectangle 8"/>
          <p:cNvSpPr/>
          <p:nvPr/>
        </p:nvSpPr>
        <p:spPr>
          <a:xfrm>
            <a:off x="777240" y="1783080"/>
            <a:ext cx="10634472" cy="3310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91440" cy="3310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190195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SCENARIO</a:t>
            </a:r>
          </a:p>
        </p:txBody>
      </p:sp>
      <p:sp>
        <p:nvSpPr>
          <p:cNvPr id="12" name="TextBox 11"/>
          <p:cNvSpPr txBox="1"/>
          <p:nvPr/>
        </p:nvSpPr>
        <p:spPr>
          <a:xfrm>
            <a:off x="1051560" y="2240280"/>
            <a:ext cx="10149840" cy="2743200"/>
          </a:xfrm>
          <a:prstGeom prst="rect">
            <a:avLst/>
          </a:prstGeom>
          <a:noFill/>
        </p:spPr>
        <p:txBody>
          <a:bodyPr wrap="square" anchor="t">
            <a:spAutoFit/>
          </a:bodyPr>
          <a:lstStyle/>
          <a:p>
            <a:pPr algn="l">
              <a:spcAft>
                <a:spcPts val="700"/>
              </a:spcAft>
            </a:pPr>
            <a:r>
              <a:rPr sz="1150" b="0">
                <a:solidFill>
                  <a:srgbClr val="161B26"/>
                </a:solidFill>
                <a:latin typeface="Arial"/>
              </a:rPr>
              <a:t>A Singapore online fashion retailer. Ms Priya ordered a dress for her sister's wedding on 2 August, paid S$189, and received the wrong size. She returned it on 8 August using the prepaid label. It is now 22 August, no refund has appeared, and the wedding is on 30 August. She has emailed twice.</a:t>
            </a:r>
          </a:p>
          <a:p>
            <a:pPr algn="l">
              <a:spcAft>
                <a:spcPts val="700"/>
              </a:spcAft>
            </a:pPr>
            <a:r>
              <a:rPr sz="1150" b="0">
                <a:solidFill>
                  <a:srgbClr val="161B26"/>
                </a:solidFill>
                <a:latin typeface="Arial"/>
              </a:rPr>
              <a:t>The agent's reply, sent as-is:</a:t>
            </a:r>
          </a:p>
          <a:p>
            <a:pPr algn="l">
              <a:spcAft>
                <a:spcPts val="700"/>
              </a:spcAft>
            </a:pPr>
            <a:r>
              <a:rPr sz="1150" b="0">
                <a:solidFill>
                  <a:srgbClr val="161B26"/>
                </a:solidFill>
                <a:latin typeface="Arial"/>
              </a:rPr>
              <a:t>Subject: RE: RE: FW: order</a:t>
            </a:r>
          </a:p>
        </p:txBody>
      </p:sp>
      <p:sp>
        <p:nvSpPr>
          <p:cNvPr id="13" name="Rectangle 12"/>
          <p:cNvSpPr/>
          <p:nvPr/>
        </p:nvSpPr>
        <p:spPr>
          <a:xfrm>
            <a:off x="777240" y="5230368"/>
            <a:ext cx="5230368" cy="676656"/>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230368"/>
            <a:ext cx="4846320" cy="676656"/>
          </a:xfrm>
          <a:prstGeom prst="rect">
            <a:avLst/>
          </a:prstGeom>
          <a:noFill/>
        </p:spPr>
        <p:txBody>
          <a:bodyPr wrap="square" anchor="ctr">
            <a:spAutoFit/>
          </a:bodyPr>
          <a:lstStyle/>
          <a:p>
            <a:pPr algn="l">
              <a:spcAft>
                <a:spcPts val="400"/>
              </a:spcAft>
            </a:pPr>
            <a:r>
              <a:rPr sz="1050" b="1">
                <a:solidFill>
                  <a:srgbClr val="1F6FEB"/>
                </a:solidFill>
                <a:latin typeface="Arial"/>
              </a:rPr>
              <a:t>FORMAT   </a:t>
            </a:r>
            <a:r>
              <a:rPr sz="1150" b="0">
                <a:solidFill>
                  <a:srgbClr val="161B26"/>
                </a:solidFill>
                <a:latin typeface="Arial"/>
              </a:rPr>
              <a:t>Case Study + Practical Writing</a:t>
            </a:r>
          </a:p>
        </p:txBody>
      </p:sp>
      <p:sp>
        <p:nvSpPr>
          <p:cNvPr id="15" name="Rectangle 14"/>
          <p:cNvSpPr/>
          <p:nvPr/>
        </p:nvSpPr>
        <p:spPr>
          <a:xfrm>
            <a:off x="6181344" y="5230368"/>
            <a:ext cx="5230368" cy="67665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9944" y="5230368"/>
            <a:ext cx="4846320" cy="676656"/>
          </a:xfrm>
          <a:prstGeom prst="rect">
            <a:avLst/>
          </a:prstGeom>
          <a:noFill/>
        </p:spPr>
        <p:txBody>
          <a:bodyPr wrap="square" anchor="ctr">
            <a:spAutoFit/>
          </a:bodyPr>
          <a:lstStyle/>
          <a:p>
            <a:pPr algn="l">
              <a:spcAft>
                <a:spcPts val="400"/>
              </a:spcAft>
            </a:pPr>
            <a:r>
              <a:rPr sz="1050" b="1">
                <a:solidFill>
                  <a:srgbClr val="16845B"/>
                </a:solidFill>
                <a:latin typeface="Arial"/>
              </a:rPr>
              <a:t>ROLES   </a:t>
            </a:r>
            <a:r>
              <a:rPr sz="1150" b="0">
                <a:solidFill>
                  <a:srgbClr val="161B26"/>
                </a:solidFill>
                <a:latin typeface="Arial"/>
              </a:rPr>
              <a:t>Individually, then compare in pairs.</a:t>
            </a:r>
          </a:p>
        </p:txBody>
      </p:sp>
      <p:sp>
        <p:nvSpPr>
          <p:cNvPr id="17" name="TextBox 16"/>
          <p:cNvSpPr txBox="1"/>
          <p:nvPr/>
        </p:nvSpPr>
        <p:spPr>
          <a:xfrm>
            <a:off x="777240" y="5998464"/>
            <a:ext cx="10634472" cy="365760"/>
          </a:xfrm>
          <a:prstGeom prst="rect">
            <a:avLst/>
          </a:prstGeom>
          <a:noFill/>
        </p:spPr>
        <p:txBody>
          <a:bodyPr wrap="square" anchor="t">
            <a:spAutoFit/>
          </a:bodyPr>
          <a:lstStyle/>
          <a:p>
            <a:pPr algn="ctr">
              <a:spcAft>
                <a:spcPts val="400"/>
              </a:spcAft>
            </a:pPr>
            <a:r>
              <a:rPr sz="1100" b="0">
                <a:solidFill>
                  <a:srgbClr val="5B6372"/>
                </a:solidFill>
                <a:latin typeface="Arial"/>
              </a:rPr>
              <a:t>Full step-by-step instructions: Learner Guide, Activity 6  ·  Activities folder: activities/activity-06/</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06 · WORK IN YOUR GROUP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6 — Discussion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6217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01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01952"/>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572768" y="1783080"/>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List every netiquette failure in the agent's email. There are at least seven.</a:t>
            </a:r>
          </a:p>
        </p:txBody>
      </p:sp>
      <p:sp>
        <p:nvSpPr>
          <p:cNvPr id="12" name="Rectangle 11"/>
          <p:cNvSpPr/>
          <p:nvPr/>
        </p:nvSpPr>
        <p:spPr>
          <a:xfrm>
            <a:off x="777240" y="2532888"/>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32888"/>
            <a:ext cx="82296" cy="6217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265176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2651760"/>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572768" y="2532888"/>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Every fact in the email is accurate. Explain how an email can be 100% correct and still be a service failure.</a:t>
            </a:r>
          </a:p>
        </p:txBody>
      </p:sp>
      <p:sp>
        <p:nvSpPr>
          <p:cNvPr id="17" name="Rectangle 16"/>
          <p:cNvSpPr/>
          <p:nvPr/>
        </p:nvSpPr>
        <p:spPr>
          <a:xfrm>
            <a:off x="777240" y="3282696"/>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282696"/>
            <a:ext cx="82296" cy="6217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3401568"/>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40156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572768" y="3282696"/>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What is the customer's REAL deadline, and does the agent's reply acknowledge it at all?</a:t>
            </a:r>
          </a:p>
        </p:txBody>
      </p:sp>
      <p:sp>
        <p:nvSpPr>
          <p:cNvPr id="22" name="Rectangle 21"/>
          <p:cNvSpPr/>
          <p:nvPr/>
        </p:nvSpPr>
        <p:spPr>
          <a:xfrm>
            <a:off x="777240" y="4032504"/>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32504"/>
            <a:ext cx="82296" cy="6217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05840" y="4151376"/>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415137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572768" y="4032504"/>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Rewrite the email using the five-part structure: greeting → acknowledge → solution → next steps → sign-off.</a:t>
            </a:r>
          </a:p>
        </p:txBody>
      </p:sp>
      <p:sp>
        <p:nvSpPr>
          <p:cNvPr id="27" name="Rectangle 26"/>
          <p:cNvSpPr/>
          <p:nvPr/>
        </p:nvSpPr>
        <p:spPr>
          <a:xfrm>
            <a:off x="777240" y="4782312"/>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782312"/>
            <a:ext cx="82296" cy="6217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5840" y="490118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490118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1" name="TextBox 30"/>
          <p:cNvSpPr txBox="1"/>
          <p:nvPr/>
        </p:nvSpPr>
        <p:spPr>
          <a:xfrm>
            <a:off x="1572768" y="4782312"/>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'Please do not email again.' What does this sentence do to the relationship, and what should replace it?</a:t>
            </a:r>
          </a:p>
        </p:txBody>
      </p:sp>
      <p:sp>
        <p:nvSpPr>
          <p:cNvPr id="32" name="Rectangle 31"/>
          <p:cNvSpPr/>
          <p:nvPr/>
        </p:nvSpPr>
        <p:spPr>
          <a:xfrm>
            <a:off x="777240" y="5532120"/>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532120"/>
            <a:ext cx="82296" cy="6217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05840" y="5650992"/>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40" y="5650992"/>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572768" y="5532120"/>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Should this have been email, live chat or a phone call? Justify your choice against the channel-selection rule.</a:t>
            </a:r>
          </a:p>
        </p:txBody>
      </p:sp>
      <p:sp>
        <p:nvSpPr>
          <p:cNvPr id="37" name="TextBox 36"/>
          <p:cNvSpPr txBox="1"/>
          <p:nvPr/>
        </p:nvSpPr>
        <p:spPr>
          <a:xfrm>
            <a:off x="777240" y="6272784"/>
            <a:ext cx="10634472" cy="256032"/>
          </a:xfrm>
          <a:prstGeom prst="rect">
            <a:avLst/>
          </a:prstGeom>
          <a:noFill/>
        </p:spPr>
        <p:txBody>
          <a:bodyPr wrap="square" anchor="t">
            <a:spAutoFit/>
          </a:bodyPr>
          <a:lstStyle/>
          <a:p>
            <a:pPr algn="ctr">
              <a:spcAft>
                <a:spcPts val="400"/>
              </a:spcAft>
            </a:pPr>
            <a:r>
              <a:rPr sz="1050" b="0">
                <a:solidFill>
                  <a:srgbClr val="5B6372"/>
                </a:solidFill>
                <a:latin typeface="Arial"/>
              </a:rPr>
              <a:t>25 minutes  ·  Individually, then compare in pairs.</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6845B"/>
                </a:solidFill>
                <a:latin typeface="Arial"/>
              </a:rPr>
              <a:t>TOPIC 06 · WHAT GOOD LOOKS LIKE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6 — Debrief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Netiquette failures to find: 'RE: RE: FW: order' subject line, 'Dear Customer' not her name, ALL CAPS as shouting, policy-section jargon (T&amp;C 7.3), no apology or acknowledgement, an instruction not to make contact, an unsigned 'Support Team' with no individual name, and no next step the customer can act on.</a:t>
            </a:r>
          </a:p>
        </p:txBody>
      </p:sp>
      <p:sp>
        <p:nvSpPr>
          <p:cNvPr id="10" name="Rectangle 9"/>
          <p:cNvSpPr/>
          <p:nvPr/>
        </p:nvSpPr>
        <p:spPr>
          <a:xfrm>
            <a:off x="777240" y="243840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43840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43840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Correct-but-failing is the key lesson: the agent answered the question the customer TYPED and ignored the question she MEANT — 'will I have this sorted before the wedding on the 30th?'</a:t>
            </a:r>
          </a:p>
        </p:txBody>
      </p:sp>
      <p:sp>
        <p:nvSpPr>
          <p:cNvPr id="13" name="Rectangle 12"/>
          <p:cNvSpPr/>
          <p:nvPr/>
        </p:nvSpPr>
        <p:spPr>
          <a:xfrm>
            <a:off x="777240" y="309372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09372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309372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The wedding date is the real deadline and the email never mentions it. This is the same 'said vs needed' distinction from Activity 3, in writing.</a:t>
            </a:r>
          </a:p>
        </p:txBody>
      </p:sp>
      <p:sp>
        <p:nvSpPr>
          <p:cNvPr id="16" name="Rectangle 15"/>
          <p:cNvSpPr/>
          <p:nvPr/>
        </p:nvSpPr>
        <p:spPr>
          <a:xfrm>
            <a:off x="777240" y="374904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74904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374904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A good rewrite names Priya, acknowledges two prior emails and the wedding, states the refund date with a specific day, offers something concrete (expedite request, or a replacement in the right size shipped now), and gives a named person and direct contact.</a:t>
            </a:r>
          </a:p>
        </p:txBody>
      </p:sp>
      <p:sp>
        <p:nvSpPr>
          <p:cNvPr id="19" name="Rectangle 18"/>
          <p:cNvSpPr/>
          <p:nvPr/>
        </p:nvSpPr>
        <p:spPr>
          <a:xfrm>
            <a:off x="777240" y="440436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40436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440436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'Please do not email again' tells the customer her only channel is closed. Replace with proactive ownership: 'You don't need to chase this — I'll email you the moment it clears, and here's my direct line.'</a:t>
            </a:r>
          </a:p>
        </p:txBody>
      </p:sp>
      <p:sp>
        <p:nvSpPr>
          <p:cNvPr id="22" name="Rectangle 21"/>
          <p:cNvSpPr/>
          <p:nvPr/>
        </p:nvSpPr>
        <p:spPr>
          <a:xfrm>
            <a:off x="777240" y="505968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05968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505968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Channel: email is right for the RECORD (money, dates, policy), but this case needed a phone call first because it is time-critical and emotional. Best practice is call, then confirm in writing — using both channels for what each does well.</a:t>
            </a:r>
          </a:p>
        </p:txBody>
      </p:sp>
      <p:sp>
        <p:nvSpPr>
          <p:cNvPr id="25" name="Rectangle 24"/>
          <p:cNvSpPr/>
          <p:nvPr/>
        </p:nvSpPr>
        <p:spPr>
          <a:xfrm>
            <a:off x="777240" y="574243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5742432"/>
            <a:ext cx="10195560" cy="566928"/>
          </a:xfrm>
          <a:prstGeom prst="rect">
            <a:avLst/>
          </a:prstGeom>
          <a:noFill/>
        </p:spPr>
        <p:txBody>
          <a:bodyPr wrap="square" anchor="ctr">
            <a:spAutoFit/>
          </a:bodyPr>
          <a:lstStyle/>
          <a:p>
            <a:pPr algn="l">
              <a:spcAft>
                <a:spcPts val="400"/>
              </a:spcAft>
            </a:pPr>
            <a:r>
              <a:rPr sz="1100" b="1">
                <a:solidFill>
                  <a:srgbClr val="10B981"/>
                </a:solidFill>
                <a:latin typeface="Arial"/>
              </a:rPr>
              <a:t>TEST IT   </a:t>
            </a:r>
            <a:r>
              <a:rPr sz="1150" b="0">
                <a:solidFill>
                  <a:srgbClr val="161B26"/>
                </a:solidFill>
                <a:latin typeface="Arial"/>
              </a:rPr>
              <a:t>Your rewrite has all five parts, names the customer, acknowledges the 30 August wedding, gives a calendar date rather than a working-day range, and is signed by a named person.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15 minutes</a:t>
            </a:r>
          </a:p>
        </p:txBody>
      </p:sp>
    </p:spTree>
  </p:cSld>
  <p:clrMapOvr>
    <a:masterClrMapping/>
  </p:clrMapOvr>
  <p:transition spd="med" advClick="1">
    <p:push/>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LEARNING UNIT 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Improving Customer's Needs Based on Feedback</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LO2 · Identify and recommend areas for improvement from feedback and operational insight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07</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Generating Return Business from Feedback</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Feedback channels · closing the loop · complaint handling · retention economics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07</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07  ·  LU2 · K2, A1, A3 · 55 min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Topic 7 — Key Concepts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Retention beats acquisition</a:t>
            </a:r>
          </a:p>
          <a:p>
            <a:pPr algn="l">
              <a:spcAft>
                <a:spcPts val="300"/>
              </a:spcAft>
            </a:pPr>
            <a:r>
              <a:rPr sz="1100" b="0">
                <a:solidFill>
                  <a:srgbClr val="5B6372"/>
                </a:solidFill>
                <a:latin typeface="Arial"/>
              </a:rPr>
              <a:t>Keeping a customer costs far less than winning a new one; a 5% retention lift can move profit 25–95%.</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Feedback channels are a portfolio</a:t>
            </a:r>
          </a:p>
          <a:p>
            <a:pPr algn="l">
              <a:spcAft>
                <a:spcPts val="300"/>
              </a:spcAft>
            </a:pPr>
            <a:r>
              <a:rPr sz="1100" b="0">
                <a:solidFill>
                  <a:srgbClr val="5B6372"/>
                </a:solidFill>
                <a:latin typeface="Arial"/>
              </a:rPr>
              <a:t>Surveys, reviews, interviews, social listening, support tickets and staff reports — each has a bias, so triangulate.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CSAT, NPS and CES measure differently</a:t>
            </a:r>
          </a:p>
          <a:p>
            <a:pPr algn="l">
              <a:spcAft>
                <a:spcPts val="300"/>
              </a:spcAft>
            </a:pPr>
            <a:r>
              <a:rPr sz="1100" b="0">
                <a:solidFill>
                  <a:srgbClr val="5B6372"/>
                </a:solidFill>
                <a:latin typeface="Arial"/>
              </a:rPr>
              <a:t>CSAT rates a moment, NPS rates the relationship, CES rates the effort the customer had to spend.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Most unhappy customers say nothing</a:t>
            </a:r>
          </a:p>
          <a:p>
            <a:pPr algn="l">
              <a:spcAft>
                <a:spcPts val="300"/>
              </a:spcAft>
            </a:pPr>
            <a:r>
              <a:rPr sz="1100" b="0">
                <a:solidFill>
                  <a:srgbClr val="5B6372"/>
                </a:solidFill>
                <a:latin typeface="Arial"/>
              </a:rPr>
              <a:t>Roughly 56% leave silently. The absence of complaints is not evidence of satisfaction.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Closing the loop is the point</a:t>
            </a:r>
          </a:p>
          <a:p>
            <a:pPr algn="l">
              <a:spcAft>
                <a:spcPts val="300"/>
              </a:spcAft>
            </a:pPr>
            <a:r>
              <a:rPr sz="1100" b="0">
                <a:solidFill>
                  <a:srgbClr val="5B6372"/>
                </a:solidFill>
                <a:latin typeface="Arial"/>
              </a:rPr>
              <a:t>Collect → analyse → act → tell the customer what changed. Feedback with no visible action trains people to stop giving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Recovery can beat no failure at all</a:t>
            </a:r>
          </a:p>
          <a:p>
            <a:pPr algn="l">
              <a:spcAft>
                <a:spcPts val="300"/>
              </a:spcAft>
            </a:pPr>
            <a:r>
              <a:rPr sz="1100" b="0">
                <a:solidFill>
                  <a:srgbClr val="5B6372"/>
                </a:solidFill>
                <a:latin typeface="Arial"/>
              </a:rPr>
              <a:t>A well-recovered failure often leaves the customer more loyal than a customer who never had a problem.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K2 · CUSTOMER FEEDBACK CHANNELS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Feedback Channels — Reach vs Diagnostic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eedback_channels.png"/>
          <p:cNvPicPr>
            <a:picLocks noChangeAspect="1"/>
          </p:cNvPicPr>
          <p:nvPr/>
        </p:nvPicPr>
        <p:blipFill>
          <a:blip r:embed="rId2"/>
          <a:stretch>
            <a:fillRect/>
          </a:stretch>
        </p:blipFill>
        <p:spPr>
          <a:xfrm>
            <a:off x="777240" y="2316712"/>
            <a:ext cx="6400800" cy="3276136"/>
          </a:xfrm>
          <a:prstGeom prst="rect">
            <a:avLst/>
          </a:prstGeom>
        </p:spPr>
      </p:pic>
      <p:sp>
        <p:nvSpPr>
          <p:cNvPr id="8" name="Rectangle 7"/>
          <p:cNvSpPr/>
          <p:nvPr/>
        </p:nvSpPr>
        <p:spPr>
          <a:xfrm>
            <a:off x="7498080" y="178308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8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54112" y="1783080"/>
            <a:ext cx="3456432" cy="948690"/>
          </a:xfrm>
          <a:prstGeom prst="rect">
            <a:avLst/>
          </a:prstGeom>
          <a:noFill/>
        </p:spPr>
        <p:txBody>
          <a:bodyPr wrap="square" anchor="ctr">
            <a:spAutoFit/>
          </a:bodyPr>
          <a:lstStyle/>
          <a:p>
            <a:pPr algn="l">
              <a:spcAft>
                <a:spcPts val="200"/>
              </a:spcAft>
            </a:pPr>
            <a:r>
              <a:rPr sz="1400" b="1">
                <a:solidFill>
                  <a:srgbClr val="1F6FEB"/>
                </a:solidFill>
                <a:latin typeface="Arial"/>
              </a:rPr>
              <a:t>Surveys reach widest</a:t>
            </a:r>
          </a:p>
          <a:p>
            <a:pPr algn="l">
              <a:spcAft>
                <a:spcPts val="200"/>
              </a:spcAft>
            </a:pPr>
            <a:r>
              <a:rPr sz="1200" b="0">
                <a:solidFill>
                  <a:srgbClr val="161B26"/>
                </a:solidFill>
                <a:latin typeface="Arial"/>
              </a:rPr>
              <a:t>CSAT/NPS/CES cover many customers but rarely explain WHY.</a:t>
            </a:r>
          </a:p>
        </p:txBody>
      </p:sp>
      <p:sp>
        <p:nvSpPr>
          <p:cNvPr id="11" name="Rectangle 10"/>
          <p:cNvSpPr/>
          <p:nvPr/>
        </p:nvSpPr>
        <p:spPr>
          <a:xfrm>
            <a:off x="7498080" y="291465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54112" y="2914650"/>
            <a:ext cx="3456432" cy="948690"/>
          </a:xfrm>
          <a:prstGeom prst="rect">
            <a:avLst/>
          </a:prstGeom>
          <a:noFill/>
        </p:spPr>
        <p:txBody>
          <a:bodyPr wrap="square" anchor="ctr">
            <a:spAutoFit/>
          </a:bodyPr>
          <a:lstStyle/>
          <a:p>
            <a:pPr algn="l">
              <a:spcAft>
                <a:spcPts val="200"/>
              </a:spcAft>
            </a:pPr>
            <a:r>
              <a:rPr sz="1400" b="1">
                <a:solidFill>
                  <a:srgbClr val="10B981"/>
                </a:solidFill>
                <a:latin typeface="Arial"/>
              </a:rPr>
              <a:t>Interviews go deepest</a:t>
            </a:r>
          </a:p>
          <a:p>
            <a:pPr algn="l">
              <a:spcAft>
                <a:spcPts val="200"/>
              </a:spcAft>
            </a:pPr>
            <a:r>
              <a:rPr sz="1200" b="0">
                <a:solidFill>
                  <a:srgbClr val="161B26"/>
                </a:solidFill>
                <a:latin typeface="Arial"/>
              </a:rPr>
              <a:t>Few customers, but they surface the mechanism behind the score.</a:t>
            </a:r>
          </a:p>
        </p:txBody>
      </p:sp>
      <p:sp>
        <p:nvSpPr>
          <p:cNvPr id="14" name="Rectangle 13"/>
          <p:cNvSpPr/>
          <p:nvPr/>
        </p:nvSpPr>
        <p:spPr>
          <a:xfrm>
            <a:off x="7498080" y="404622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9808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54112" y="4046220"/>
            <a:ext cx="3456432" cy="948690"/>
          </a:xfrm>
          <a:prstGeom prst="rect">
            <a:avLst/>
          </a:prstGeom>
          <a:noFill/>
        </p:spPr>
        <p:txBody>
          <a:bodyPr wrap="square" anchor="ctr">
            <a:spAutoFit/>
          </a:bodyPr>
          <a:lstStyle/>
          <a:p>
            <a:pPr algn="l">
              <a:spcAft>
                <a:spcPts val="200"/>
              </a:spcAft>
            </a:pPr>
            <a:r>
              <a:rPr sz="1400" b="1">
                <a:solidFill>
                  <a:srgbClr val="7C3AED"/>
                </a:solidFill>
                <a:latin typeface="Arial"/>
              </a:rPr>
              <a:t>Staff reports are gold</a:t>
            </a:r>
          </a:p>
          <a:p>
            <a:pPr algn="l">
              <a:spcAft>
                <a:spcPts val="200"/>
              </a:spcAft>
            </a:pPr>
            <a:r>
              <a:rPr sz="1200" b="0">
                <a:solidFill>
                  <a:srgbClr val="161B26"/>
                </a:solidFill>
                <a:latin typeface="Arial"/>
              </a:rPr>
              <a:t>Frontline staff see causes that customers only experience as symptoms.</a:t>
            </a:r>
          </a:p>
        </p:txBody>
      </p:sp>
      <p:sp>
        <p:nvSpPr>
          <p:cNvPr id="17" name="Rectangle 16"/>
          <p:cNvSpPr/>
          <p:nvPr/>
        </p:nvSpPr>
        <p:spPr>
          <a:xfrm>
            <a:off x="7498080" y="517779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9808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54112" y="5177790"/>
            <a:ext cx="3456432" cy="948690"/>
          </a:xfrm>
          <a:prstGeom prst="rect">
            <a:avLst/>
          </a:prstGeom>
          <a:noFill/>
        </p:spPr>
        <p:txBody>
          <a:bodyPr wrap="square" anchor="ctr">
            <a:spAutoFit/>
          </a:bodyPr>
          <a:lstStyle/>
          <a:p>
            <a:pPr algn="l">
              <a:spcAft>
                <a:spcPts val="200"/>
              </a:spcAft>
            </a:pPr>
            <a:r>
              <a:rPr sz="1400" b="1">
                <a:solidFill>
                  <a:srgbClr val="F59E0B"/>
                </a:solidFill>
                <a:latin typeface="Arial"/>
              </a:rPr>
              <a:t>Triangulate always</a:t>
            </a:r>
          </a:p>
          <a:p>
            <a:pPr algn="l">
              <a:spcAft>
                <a:spcPts val="200"/>
              </a:spcAft>
            </a:pPr>
            <a:r>
              <a:rPr sz="1200" b="0">
                <a:solidFill>
                  <a:srgbClr val="161B26"/>
                </a:solidFill>
                <a:latin typeface="Arial"/>
              </a:rPr>
              <a:t>No single channel does both — one channel alone fixes the wrong thing.</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MEASURING SERVICE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Three Service Metrics — and What Each Actually Measures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169791" cy="10629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950335" cy="1062990"/>
          </a:xfrm>
          <a:prstGeom prst="rect">
            <a:avLst/>
          </a:prstGeom>
          <a:noFill/>
        </p:spPr>
        <p:txBody>
          <a:bodyPr wrap="square" anchor="ctr">
            <a:spAutoFit/>
          </a:bodyPr>
          <a:lstStyle/>
          <a:p>
            <a:pPr algn="l">
              <a:spcAft>
                <a:spcPts val="400"/>
              </a:spcAft>
            </a:pPr>
            <a:r>
              <a:rPr sz="1200" b="1">
                <a:solidFill>
                  <a:srgbClr val="FFFFFF"/>
                </a:solidFill>
                <a:latin typeface="Arial"/>
              </a:rPr>
              <a:t>Metric</a:t>
            </a:r>
          </a:p>
        </p:txBody>
      </p:sp>
      <p:sp>
        <p:nvSpPr>
          <p:cNvPr id="9" name="Rectangle 8"/>
          <p:cNvSpPr/>
          <p:nvPr/>
        </p:nvSpPr>
        <p:spPr>
          <a:xfrm>
            <a:off x="1947031" y="1783080"/>
            <a:ext cx="3083996" cy="10629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5047" y="1783080"/>
            <a:ext cx="2864540" cy="1062990"/>
          </a:xfrm>
          <a:prstGeom prst="rect">
            <a:avLst/>
          </a:prstGeom>
          <a:noFill/>
        </p:spPr>
        <p:txBody>
          <a:bodyPr wrap="square" anchor="ctr">
            <a:spAutoFit/>
          </a:bodyPr>
          <a:lstStyle/>
          <a:p>
            <a:pPr algn="l">
              <a:spcAft>
                <a:spcPts val="400"/>
              </a:spcAft>
            </a:pPr>
            <a:r>
              <a:rPr sz="1200" b="1">
                <a:solidFill>
                  <a:srgbClr val="FFFFFF"/>
                </a:solidFill>
                <a:latin typeface="Arial"/>
              </a:rPr>
              <a:t>The question it asks</a:t>
            </a:r>
          </a:p>
        </p:txBody>
      </p:sp>
      <p:sp>
        <p:nvSpPr>
          <p:cNvPr id="11" name="Rectangle 10"/>
          <p:cNvSpPr/>
          <p:nvPr/>
        </p:nvSpPr>
        <p:spPr>
          <a:xfrm>
            <a:off x="5031027" y="1783080"/>
            <a:ext cx="3403031" cy="10629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59043" y="1783080"/>
            <a:ext cx="3183575" cy="1062990"/>
          </a:xfrm>
          <a:prstGeom prst="rect">
            <a:avLst/>
          </a:prstGeom>
          <a:noFill/>
        </p:spPr>
        <p:txBody>
          <a:bodyPr wrap="square" anchor="ctr">
            <a:spAutoFit/>
          </a:bodyPr>
          <a:lstStyle/>
          <a:p>
            <a:pPr algn="l">
              <a:spcAft>
                <a:spcPts val="400"/>
              </a:spcAft>
            </a:pPr>
            <a:r>
              <a:rPr sz="1200" b="1">
                <a:solidFill>
                  <a:srgbClr val="FFFFFF"/>
                </a:solidFill>
                <a:latin typeface="Arial"/>
              </a:rPr>
              <a:t>What it is good for</a:t>
            </a:r>
          </a:p>
        </p:txBody>
      </p:sp>
      <p:sp>
        <p:nvSpPr>
          <p:cNvPr id="13" name="Rectangle 12"/>
          <p:cNvSpPr/>
          <p:nvPr/>
        </p:nvSpPr>
        <p:spPr>
          <a:xfrm>
            <a:off x="8434058" y="1783080"/>
            <a:ext cx="2977652" cy="10629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62074" y="1783080"/>
            <a:ext cx="2758196" cy="1062990"/>
          </a:xfrm>
          <a:prstGeom prst="rect">
            <a:avLst/>
          </a:prstGeom>
          <a:noFill/>
        </p:spPr>
        <p:txBody>
          <a:bodyPr wrap="square" anchor="ctr">
            <a:spAutoFit/>
          </a:bodyPr>
          <a:lstStyle/>
          <a:p>
            <a:pPr algn="l">
              <a:spcAft>
                <a:spcPts val="400"/>
              </a:spcAft>
            </a:pPr>
            <a:r>
              <a:rPr sz="1200" b="1">
                <a:solidFill>
                  <a:srgbClr val="FFFFFF"/>
                </a:solidFill>
                <a:latin typeface="Arial"/>
              </a:rPr>
              <a:t>Its blind spot</a:t>
            </a:r>
          </a:p>
        </p:txBody>
      </p:sp>
      <p:sp>
        <p:nvSpPr>
          <p:cNvPr id="15" name="Rectangle 14"/>
          <p:cNvSpPr/>
          <p:nvPr/>
        </p:nvSpPr>
        <p:spPr>
          <a:xfrm>
            <a:off x="777240" y="2846070"/>
            <a:ext cx="1169791" cy="106299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846070"/>
            <a:ext cx="950335" cy="1062990"/>
          </a:xfrm>
          <a:prstGeom prst="rect">
            <a:avLst/>
          </a:prstGeom>
          <a:noFill/>
        </p:spPr>
        <p:txBody>
          <a:bodyPr wrap="square" anchor="ctr">
            <a:spAutoFit/>
          </a:bodyPr>
          <a:lstStyle/>
          <a:p>
            <a:pPr algn="l">
              <a:spcAft>
                <a:spcPts val="400"/>
              </a:spcAft>
            </a:pPr>
            <a:r>
              <a:rPr sz="1100" b="1">
                <a:solidFill>
                  <a:srgbClr val="161B26"/>
                </a:solidFill>
                <a:latin typeface="Arial"/>
              </a:rPr>
              <a:t>CSAT</a:t>
            </a:r>
          </a:p>
        </p:txBody>
      </p:sp>
      <p:sp>
        <p:nvSpPr>
          <p:cNvPr id="17" name="Rectangle 16"/>
          <p:cNvSpPr/>
          <p:nvPr/>
        </p:nvSpPr>
        <p:spPr>
          <a:xfrm>
            <a:off x="1947031" y="2846070"/>
            <a:ext cx="3083996" cy="106299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75047" y="2846070"/>
            <a:ext cx="2864540" cy="1062990"/>
          </a:xfrm>
          <a:prstGeom prst="rect">
            <a:avLst/>
          </a:prstGeom>
          <a:noFill/>
        </p:spPr>
        <p:txBody>
          <a:bodyPr wrap="square" anchor="ctr">
            <a:spAutoFit/>
          </a:bodyPr>
          <a:lstStyle/>
          <a:p>
            <a:pPr algn="l">
              <a:spcAft>
                <a:spcPts val="400"/>
              </a:spcAft>
            </a:pPr>
            <a:r>
              <a:rPr sz="1100" b="0">
                <a:solidFill>
                  <a:srgbClr val="161B26"/>
                </a:solidFill>
                <a:latin typeface="Arial"/>
              </a:rPr>
              <a:t>How satisfied were you with this interaction?</a:t>
            </a:r>
          </a:p>
        </p:txBody>
      </p:sp>
      <p:sp>
        <p:nvSpPr>
          <p:cNvPr id="19" name="Rectangle 18"/>
          <p:cNvSpPr/>
          <p:nvPr/>
        </p:nvSpPr>
        <p:spPr>
          <a:xfrm>
            <a:off x="5031027" y="2846070"/>
            <a:ext cx="3403031" cy="106299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59043" y="2846070"/>
            <a:ext cx="3183575" cy="1062990"/>
          </a:xfrm>
          <a:prstGeom prst="rect">
            <a:avLst/>
          </a:prstGeom>
          <a:noFill/>
        </p:spPr>
        <p:txBody>
          <a:bodyPr wrap="square" anchor="ctr">
            <a:spAutoFit/>
          </a:bodyPr>
          <a:lstStyle/>
          <a:p>
            <a:pPr algn="l">
              <a:spcAft>
                <a:spcPts val="400"/>
              </a:spcAft>
            </a:pPr>
            <a:r>
              <a:rPr sz="1100" b="0">
                <a:solidFill>
                  <a:srgbClr val="161B26"/>
                </a:solidFill>
                <a:latin typeface="Arial"/>
              </a:rPr>
              <a:t>A specific moment — one agent, one ticket, one visit.</a:t>
            </a:r>
          </a:p>
        </p:txBody>
      </p:sp>
      <p:sp>
        <p:nvSpPr>
          <p:cNvPr id="21" name="Rectangle 20"/>
          <p:cNvSpPr/>
          <p:nvPr/>
        </p:nvSpPr>
        <p:spPr>
          <a:xfrm>
            <a:off x="8434058" y="2846070"/>
            <a:ext cx="2977652" cy="106299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62074" y="2846070"/>
            <a:ext cx="2758196" cy="1062990"/>
          </a:xfrm>
          <a:prstGeom prst="rect">
            <a:avLst/>
          </a:prstGeom>
          <a:noFill/>
        </p:spPr>
        <p:txBody>
          <a:bodyPr wrap="square" anchor="ctr">
            <a:spAutoFit/>
          </a:bodyPr>
          <a:lstStyle/>
          <a:p>
            <a:pPr algn="l">
              <a:spcAft>
                <a:spcPts val="400"/>
              </a:spcAft>
            </a:pPr>
            <a:r>
              <a:rPr sz="1100" b="0">
                <a:solidFill>
                  <a:srgbClr val="161B26"/>
                </a:solidFill>
                <a:latin typeface="Arial"/>
              </a:rPr>
              <a:t>Says nothing about the overall relationship.</a:t>
            </a:r>
          </a:p>
        </p:txBody>
      </p:sp>
      <p:sp>
        <p:nvSpPr>
          <p:cNvPr id="23" name="Rectangle 22"/>
          <p:cNvSpPr/>
          <p:nvPr/>
        </p:nvSpPr>
        <p:spPr>
          <a:xfrm>
            <a:off x="777240" y="3909060"/>
            <a:ext cx="1169791" cy="106299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3909060"/>
            <a:ext cx="950335" cy="1062990"/>
          </a:xfrm>
          <a:prstGeom prst="rect">
            <a:avLst/>
          </a:prstGeom>
          <a:noFill/>
        </p:spPr>
        <p:txBody>
          <a:bodyPr wrap="square" anchor="ctr">
            <a:spAutoFit/>
          </a:bodyPr>
          <a:lstStyle/>
          <a:p>
            <a:pPr algn="l">
              <a:spcAft>
                <a:spcPts val="400"/>
              </a:spcAft>
            </a:pPr>
            <a:r>
              <a:rPr sz="1100" b="1">
                <a:solidFill>
                  <a:srgbClr val="161B26"/>
                </a:solidFill>
                <a:latin typeface="Arial"/>
              </a:rPr>
              <a:t>NPS</a:t>
            </a:r>
          </a:p>
        </p:txBody>
      </p:sp>
      <p:sp>
        <p:nvSpPr>
          <p:cNvPr id="25" name="Rectangle 24"/>
          <p:cNvSpPr/>
          <p:nvPr/>
        </p:nvSpPr>
        <p:spPr>
          <a:xfrm>
            <a:off x="1947031" y="3909060"/>
            <a:ext cx="3083996" cy="106299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075047" y="3909060"/>
            <a:ext cx="2864540" cy="1062990"/>
          </a:xfrm>
          <a:prstGeom prst="rect">
            <a:avLst/>
          </a:prstGeom>
          <a:noFill/>
        </p:spPr>
        <p:txBody>
          <a:bodyPr wrap="square" anchor="ctr">
            <a:spAutoFit/>
          </a:bodyPr>
          <a:lstStyle/>
          <a:p>
            <a:pPr algn="l">
              <a:spcAft>
                <a:spcPts val="400"/>
              </a:spcAft>
            </a:pPr>
            <a:r>
              <a:rPr sz="1100" b="0">
                <a:solidFill>
                  <a:srgbClr val="161B26"/>
                </a:solidFill>
                <a:latin typeface="Arial"/>
              </a:rPr>
              <a:t>How likely are you to recommend us?</a:t>
            </a:r>
          </a:p>
        </p:txBody>
      </p:sp>
      <p:sp>
        <p:nvSpPr>
          <p:cNvPr id="27" name="Rectangle 26"/>
          <p:cNvSpPr/>
          <p:nvPr/>
        </p:nvSpPr>
        <p:spPr>
          <a:xfrm>
            <a:off x="5031027" y="3909060"/>
            <a:ext cx="3403031" cy="106299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59043" y="3909060"/>
            <a:ext cx="3183575" cy="1062990"/>
          </a:xfrm>
          <a:prstGeom prst="rect">
            <a:avLst/>
          </a:prstGeom>
          <a:noFill/>
        </p:spPr>
        <p:txBody>
          <a:bodyPr wrap="square" anchor="ctr">
            <a:spAutoFit/>
          </a:bodyPr>
          <a:lstStyle/>
          <a:p>
            <a:pPr algn="l">
              <a:spcAft>
                <a:spcPts val="400"/>
              </a:spcAft>
            </a:pPr>
            <a:r>
              <a:rPr sz="1100" b="0">
                <a:solidFill>
                  <a:srgbClr val="161B26"/>
                </a:solidFill>
                <a:latin typeface="Arial"/>
              </a:rPr>
              <a:t>The whole relationship and word-of-mouth risk.</a:t>
            </a:r>
          </a:p>
        </p:txBody>
      </p:sp>
      <p:sp>
        <p:nvSpPr>
          <p:cNvPr id="29" name="Rectangle 28"/>
          <p:cNvSpPr/>
          <p:nvPr/>
        </p:nvSpPr>
        <p:spPr>
          <a:xfrm>
            <a:off x="8434058" y="3909060"/>
            <a:ext cx="2977652" cy="106299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62074" y="3909060"/>
            <a:ext cx="2758196" cy="1062990"/>
          </a:xfrm>
          <a:prstGeom prst="rect">
            <a:avLst/>
          </a:prstGeom>
          <a:noFill/>
        </p:spPr>
        <p:txBody>
          <a:bodyPr wrap="square" anchor="ctr">
            <a:spAutoFit/>
          </a:bodyPr>
          <a:lstStyle/>
          <a:p>
            <a:pPr algn="l">
              <a:spcAft>
                <a:spcPts val="400"/>
              </a:spcAft>
            </a:pPr>
            <a:r>
              <a:rPr sz="1100" b="0">
                <a:solidFill>
                  <a:srgbClr val="161B26"/>
                </a:solidFill>
                <a:latin typeface="Arial"/>
              </a:rPr>
              <a:t>One number; gives no reason without a follow-up question.</a:t>
            </a:r>
          </a:p>
        </p:txBody>
      </p:sp>
      <p:sp>
        <p:nvSpPr>
          <p:cNvPr id="31" name="Rectangle 30"/>
          <p:cNvSpPr/>
          <p:nvPr/>
        </p:nvSpPr>
        <p:spPr>
          <a:xfrm>
            <a:off x="777240" y="4972050"/>
            <a:ext cx="1169791" cy="106299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972050"/>
            <a:ext cx="950335" cy="1062990"/>
          </a:xfrm>
          <a:prstGeom prst="rect">
            <a:avLst/>
          </a:prstGeom>
          <a:noFill/>
        </p:spPr>
        <p:txBody>
          <a:bodyPr wrap="square" anchor="ctr">
            <a:spAutoFit/>
          </a:bodyPr>
          <a:lstStyle/>
          <a:p>
            <a:pPr algn="l">
              <a:spcAft>
                <a:spcPts val="400"/>
              </a:spcAft>
            </a:pPr>
            <a:r>
              <a:rPr sz="1100" b="1">
                <a:solidFill>
                  <a:srgbClr val="161B26"/>
                </a:solidFill>
                <a:latin typeface="Arial"/>
              </a:rPr>
              <a:t>CES</a:t>
            </a:r>
          </a:p>
        </p:txBody>
      </p:sp>
      <p:sp>
        <p:nvSpPr>
          <p:cNvPr id="33" name="Rectangle 32"/>
          <p:cNvSpPr/>
          <p:nvPr/>
        </p:nvSpPr>
        <p:spPr>
          <a:xfrm>
            <a:off x="1947031" y="4972050"/>
            <a:ext cx="3083996" cy="106299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075047" y="4972050"/>
            <a:ext cx="2864540" cy="1062990"/>
          </a:xfrm>
          <a:prstGeom prst="rect">
            <a:avLst/>
          </a:prstGeom>
          <a:noFill/>
        </p:spPr>
        <p:txBody>
          <a:bodyPr wrap="square" anchor="ctr">
            <a:spAutoFit/>
          </a:bodyPr>
          <a:lstStyle/>
          <a:p>
            <a:pPr algn="l">
              <a:spcAft>
                <a:spcPts val="400"/>
              </a:spcAft>
            </a:pPr>
            <a:r>
              <a:rPr sz="1100" b="0">
                <a:solidFill>
                  <a:srgbClr val="161B26"/>
                </a:solidFill>
                <a:latin typeface="Arial"/>
              </a:rPr>
              <a:t>How much effort did you have to spend?</a:t>
            </a:r>
          </a:p>
        </p:txBody>
      </p:sp>
      <p:sp>
        <p:nvSpPr>
          <p:cNvPr id="35" name="Rectangle 34"/>
          <p:cNvSpPr/>
          <p:nvPr/>
        </p:nvSpPr>
        <p:spPr>
          <a:xfrm>
            <a:off x="5031027" y="4972050"/>
            <a:ext cx="3403031" cy="106299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59043" y="4972050"/>
            <a:ext cx="3183575" cy="1062990"/>
          </a:xfrm>
          <a:prstGeom prst="rect">
            <a:avLst/>
          </a:prstGeom>
          <a:noFill/>
        </p:spPr>
        <p:txBody>
          <a:bodyPr wrap="square" anchor="ctr">
            <a:spAutoFit/>
          </a:bodyPr>
          <a:lstStyle/>
          <a:p>
            <a:pPr algn="l">
              <a:spcAft>
                <a:spcPts val="400"/>
              </a:spcAft>
            </a:pPr>
            <a:r>
              <a:rPr sz="1100" b="0">
                <a:solidFill>
                  <a:srgbClr val="161B26"/>
                </a:solidFill>
                <a:latin typeface="Arial"/>
              </a:rPr>
              <a:t>Predicts disloyalty better than satisfaction does.</a:t>
            </a:r>
          </a:p>
        </p:txBody>
      </p:sp>
      <p:sp>
        <p:nvSpPr>
          <p:cNvPr id="37" name="Rectangle 36"/>
          <p:cNvSpPr/>
          <p:nvPr/>
        </p:nvSpPr>
        <p:spPr>
          <a:xfrm>
            <a:off x="8434058" y="4972050"/>
            <a:ext cx="2977652" cy="106299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62074" y="4972050"/>
            <a:ext cx="2758196" cy="1062990"/>
          </a:xfrm>
          <a:prstGeom prst="rect">
            <a:avLst/>
          </a:prstGeom>
          <a:noFill/>
        </p:spPr>
        <p:txBody>
          <a:bodyPr wrap="square" anchor="ctr">
            <a:spAutoFit/>
          </a:bodyPr>
          <a:lstStyle/>
          <a:p>
            <a:pPr algn="l">
              <a:spcAft>
                <a:spcPts val="400"/>
              </a:spcAft>
            </a:pPr>
            <a:r>
              <a:rPr sz="1100" b="0">
                <a:solidFill>
                  <a:srgbClr val="161B26"/>
                </a:solidFill>
                <a:latin typeface="Arial"/>
              </a:rPr>
              <a:t>Focuses on friction, not on delight or emotional loyalty.</a:t>
            </a:r>
          </a:p>
        </p:txBody>
      </p:sp>
      <p:sp>
        <p:nvSpPr>
          <p:cNvPr id="39" name="TextBox 38"/>
          <p:cNvSpPr txBox="1"/>
          <p:nvPr/>
        </p:nvSpPr>
        <p:spPr>
          <a:xfrm>
            <a:off x="777240" y="6053328"/>
            <a:ext cx="10698480" cy="365760"/>
          </a:xfrm>
          <a:prstGeom prst="rect">
            <a:avLst/>
          </a:prstGeom>
          <a:noFill/>
        </p:spPr>
        <p:txBody>
          <a:bodyPr wrap="square" anchor="t">
            <a:spAutoFit/>
          </a:bodyPr>
          <a:lstStyle/>
          <a:p>
            <a:pPr algn="ctr">
              <a:spcAft>
                <a:spcPts val="400"/>
              </a:spcAft>
            </a:pPr>
            <a:r>
              <a:rPr sz="1300" b="0">
                <a:solidFill>
                  <a:srgbClr val="5B6372"/>
                </a:solidFill>
                <a:latin typeface="Arial"/>
              </a:rPr>
              <a:t>Use them together: CSAT for the moment, NPS for the relationship, CES for the friction.</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SILENT MAJORITY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Most Unhappy Customers Never Complain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mplaint_iceberg.png"/>
          <p:cNvPicPr>
            <a:picLocks noChangeAspect="1"/>
          </p:cNvPicPr>
          <p:nvPr/>
        </p:nvPicPr>
        <p:blipFill>
          <a:blip r:embed="rId2"/>
          <a:stretch>
            <a:fillRect/>
          </a:stretch>
        </p:blipFill>
        <p:spPr>
          <a:xfrm>
            <a:off x="777240" y="2097899"/>
            <a:ext cx="5852160" cy="3713761"/>
          </a:xfrm>
          <a:prstGeom prst="rect">
            <a:avLst/>
          </a:prstGeom>
        </p:spPr>
      </p:pic>
      <p:sp>
        <p:nvSpPr>
          <p:cNvPr id="8" name="Rectangle 7"/>
          <p:cNvSpPr/>
          <p:nvPr/>
        </p:nvSpPr>
        <p:spPr>
          <a:xfrm>
            <a:off x="6949440" y="1783080"/>
            <a:ext cx="446227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4944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05472" y="1783080"/>
            <a:ext cx="4005072" cy="948690"/>
          </a:xfrm>
          <a:prstGeom prst="rect">
            <a:avLst/>
          </a:prstGeom>
          <a:noFill/>
        </p:spPr>
        <p:txBody>
          <a:bodyPr wrap="square" anchor="ctr">
            <a:spAutoFit/>
          </a:bodyPr>
          <a:lstStyle/>
          <a:p>
            <a:pPr algn="l">
              <a:spcAft>
                <a:spcPts val="200"/>
              </a:spcAft>
            </a:pPr>
            <a:r>
              <a:rPr sz="1400" b="1">
                <a:solidFill>
                  <a:srgbClr val="1F6FEB"/>
                </a:solidFill>
                <a:latin typeface="Arial"/>
              </a:rPr>
              <a:t>~4% complain</a:t>
            </a:r>
          </a:p>
          <a:p>
            <a:pPr algn="l">
              <a:spcAft>
                <a:spcPts val="200"/>
              </a:spcAft>
            </a:pPr>
            <a:r>
              <a:rPr sz="1200" b="0">
                <a:solidFill>
                  <a:srgbClr val="161B26"/>
                </a:solidFill>
                <a:latin typeface="Arial"/>
              </a:rPr>
              <a:t>Only a small fraction ever tell you there is a problem.</a:t>
            </a:r>
          </a:p>
        </p:txBody>
      </p:sp>
      <p:sp>
        <p:nvSpPr>
          <p:cNvPr id="11" name="Rectangle 10"/>
          <p:cNvSpPr/>
          <p:nvPr/>
        </p:nvSpPr>
        <p:spPr>
          <a:xfrm>
            <a:off x="6949440" y="2914650"/>
            <a:ext cx="446227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4944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05472" y="2914650"/>
            <a:ext cx="4005072" cy="948690"/>
          </a:xfrm>
          <a:prstGeom prst="rect">
            <a:avLst/>
          </a:prstGeom>
          <a:noFill/>
        </p:spPr>
        <p:txBody>
          <a:bodyPr wrap="square" anchor="ctr">
            <a:spAutoFit/>
          </a:bodyPr>
          <a:lstStyle/>
          <a:p>
            <a:pPr algn="l">
              <a:spcAft>
                <a:spcPts val="200"/>
              </a:spcAft>
            </a:pPr>
            <a:r>
              <a:rPr sz="1400" b="1">
                <a:solidFill>
                  <a:srgbClr val="10B981"/>
                </a:solidFill>
                <a:latin typeface="Arial"/>
              </a:rPr>
              <a:t>~56% say nothing</a:t>
            </a:r>
          </a:p>
          <a:p>
            <a:pPr algn="l">
              <a:spcAft>
                <a:spcPts val="200"/>
              </a:spcAft>
            </a:pPr>
            <a:r>
              <a:rPr sz="1200" b="0">
                <a:solidFill>
                  <a:srgbClr val="161B26"/>
                </a:solidFill>
                <a:latin typeface="Arial"/>
              </a:rPr>
              <a:t>They do not complain, do not answer the survey — they just stop coming back.</a:t>
            </a:r>
          </a:p>
        </p:txBody>
      </p:sp>
      <p:sp>
        <p:nvSpPr>
          <p:cNvPr id="14" name="Rectangle 13"/>
          <p:cNvSpPr/>
          <p:nvPr/>
        </p:nvSpPr>
        <p:spPr>
          <a:xfrm>
            <a:off x="6949440" y="4046220"/>
            <a:ext cx="446227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4944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05472" y="4046220"/>
            <a:ext cx="4005072" cy="948690"/>
          </a:xfrm>
          <a:prstGeom prst="rect">
            <a:avLst/>
          </a:prstGeom>
          <a:noFill/>
        </p:spPr>
        <p:txBody>
          <a:bodyPr wrap="square" anchor="ctr">
            <a:spAutoFit/>
          </a:bodyPr>
          <a:lstStyle/>
          <a:p>
            <a:pPr algn="l">
              <a:spcAft>
                <a:spcPts val="200"/>
              </a:spcAft>
            </a:pPr>
            <a:r>
              <a:rPr sz="1400" b="1">
                <a:solidFill>
                  <a:srgbClr val="7C3AED"/>
                </a:solidFill>
                <a:latin typeface="Arial"/>
              </a:rPr>
              <a:t>Silence is not health</a:t>
            </a:r>
          </a:p>
          <a:p>
            <a:pPr algn="l">
              <a:spcAft>
                <a:spcPts val="200"/>
              </a:spcAft>
            </a:pPr>
            <a:r>
              <a:rPr sz="1200" b="0">
                <a:solidFill>
                  <a:srgbClr val="161B26"/>
                </a:solidFill>
                <a:latin typeface="Arial"/>
              </a:rPr>
              <a:t>The absence of complaints is not evidence of satisfaction.</a:t>
            </a:r>
          </a:p>
        </p:txBody>
      </p:sp>
      <p:sp>
        <p:nvSpPr>
          <p:cNvPr id="17" name="Rectangle 16"/>
          <p:cNvSpPr/>
          <p:nvPr/>
        </p:nvSpPr>
        <p:spPr>
          <a:xfrm>
            <a:off x="6949440" y="5177790"/>
            <a:ext cx="446227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94944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05472" y="5177790"/>
            <a:ext cx="4005072" cy="948690"/>
          </a:xfrm>
          <a:prstGeom prst="rect">
            <a:avLst/>
          </a:prstGeom>
          <a:noFill/>
        </p:spPr>
        <p:txBody>
          <a:bodyPr wrap="square" anchor="ctr">
            <a:spAutoFit/>
          </a:bodyPr>
          <a:lstStyle/>
          <a:p>
            <a:pPr algn="l">
              <a:spcAft>
                <a:spcPts val="200"/>
              </a:spcAft>
            </a:pPr>
            <a:r>
              <a:rPr sz="1400" b="1">
                <a:solidFill>
                  <a:srgbClr val="F59E0B"/>
                </a:solidFill>
                <a:latin typeface="Arial"/>
              </a:rPr>
              <a:t>Go and look</a:t>
            </a:r>
          </a:p>
          <a:p>
            <a:pPr algn="l">
              <a:spcAft>
                <a:spcPts val="200"/>
              </a:spcAft>
            </a:pPr>
            <a:r>
              <a:rPr sz="1200" b="0">
                <a:solidFill>
                  <a:srgbClr val="161B26"/>
                </a:solidFill>
                <a:latin typeface="Arial"/>
              </a:rPr>
              <a:t>If you only react to complaints, you are managing the visible 4%.</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K2 + A3 · FROM FEEDBACK TO IMPROVEMENT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Closing the Loop — the Only Cycle That Changes Anything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osed_loop.png"/>
          <p:cNvPicPr>
            <a:picLocks noChangeAspect="1"/>
          </p:cNvPicPr>
          <p:nvPr/>
        </p:nvPicPr>
        <p:blipFill>
          <a:blip r:embed="rId2"/>
          <a:stretch>
            <a:fillRect/>
          </a:stretch>
        </p:blipFill>
        <p:spPr>
          <a:xfrm>
            <a:off x="777240" y="1783080"/>
            <a:ext cx="4722476" cy="3977639"/>
          </a:xfrm>
          <a:prstGeom prst="rect">
            <a:avLst/>
          </a:prstGeom>
        </p:spPr>
      </p:pic>
      <p:sp>
        <p:nvSpPr>
          <p:cNvPr id="8" name="Rectangle 7"/>
          <p:cNvSpPr/>
          <p:nvPr/>
        </p:nvSpPr>
        <p:spPr>
          <a:xfrm>
            <a:off x="5819756" y="1783080"/>
            <a:ext cx="5591956" cy="85724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819756" y="1783080"/>
            <a:ext cx="82296" cy="85724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75788" y="1783080"/>
            <a:ext cx="5134756" cy="857249"/>
          </a:xfrm>
          <a:prstGeom prst="rect">
            <a:avLst/>
          </a:prstGeom>
          <a:noFill/>
        </p:spPr>
        <p:txBody>
          <a:bodyPr wrap="square" anchor="ctr">
            <a:spAutoFit/>
          </a:bodyPr>
          <a:lstStyle/>
          <a:p>
            <a:pPr algn="l">
              <a:spcAft>
                <a:spcPts val="200"/>
              </a:spcAft>
            </a:pPr>
            <a:r>
              <a:rPr sz="1400" b="1">
                <a:solidFill>
                  <a:srgbClr val="1F6FEB"/>
                </a:solidFill>
                <a:latin typeface="Arial"/>
              </a:rPr>
              <a:t>Collect</a:t>
            </a:r>
          </a:p>
          <a:p>
            <a:pPr algn="l">
              <a:spcAft>
                <a:spcPts val="200"/>
              </a:spcAft>
            </a:pPr>
            <a:r>
              <a:rPr sz="1200" b="0">
                <a:solidFill>
                  <a:srgbClr val="161B26"/>
                </a:solidFill>
                <a:latin typeface="Arial"/>
              </a:rPr>
              <a:t>Across every channel, deliberately — including from your own staff.</a:t>
            </a:r>
          </a:p>
        </p:txBody>
      </p:sp>
      <p:sp>
        <p:nvSpPr>
          <p:cNvPr id="11" name="Rectangle 10"/>
          <p:cNvSpPr/>
          <p:nvPr/>
        </p:nvSpPr>
        <p:spPr>
          <a:xfrm>
            <a:off x="5819756" y="2823209"/>
            <a:ext cx="5591956" cy="85724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819756" y="2823209"/>
            <a:ext cx="82296" cy="85724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75788" y="2823209"/>
            <a:ext cx="5134756" cy="857249"/>
          </a:xfrm>
          <a:prstGeom prst="rect">
            <a:avLst/>
          </a:prstGeom>
          <a:noFill/>
        </p:spPr>
        <p:txBody>
          <a:bodyPr wrap="square" anchor="ctr">
            <a:spAutoFit/>
          </a:bodyPr>
          <a:lstStyle/>
          <a:p>
            <a:pPr algn="l">
              <a:spcAft>
                <a:spcPts val="200"/>
              </a:spcAft>
            </a:pPr>
            <a:r>
              <a:rPr sz="1400" b="1">
                <a:solidFill>
                  <a:srgbClr val="10B981"/>
                </a:solidFill>
                <a:latin typeface="Arial"/>
              </a:rPr>
              <a:t>Analyse</a:t>
            </a:r>
          </a:p>
          <a:p>
            <a:pPr algn="l">
              <a:spcAft>
                <a:spcPts val="200"/>
              </a:spcAft>
            </a:pPr>
            <a:r>
              <a:rPr sz="1200" b="0">
                <a:solidFill>
                  <a:srgbClr val="161B26"/>
                </a:solidFill>
                <a:latin typeface="Arial"/>
              </a:rPr>
              <a:t>Separate symptoms from root causes. The wait is a symptom; the staffing gap is the cause.</a:t>
            </a:r>
          </a:p>
        </p:txBody>
      </p:sp>
      <p:sp>
        <p:nvSpPr>
          <p:cNvPr id="14" name="Rectangle 13"/>
          <p:cNvSpPr/>
          <p:nvPr/>
        </p:nvSpPr>
        <p:spPr>
          <a:xfrm>
            <a:off x="5819756" y="3863338"/>
            <a:ext cx="5591956" cy="85724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819756" y="3863338"/>
            <a:ext cx="82296" cy="85724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75788" y="3863338"/>
            <a:ext cx="5134756" cy="857249"/>
          </a:xfrm>
          <a:prstGeom prst="rect">
            <a:avLst/>
          </a:prstGeom>
          <a:noFill/>
        </p:spPr>
        <p:txBody>
          <a:bodyPr wrap="square" anchor="ctr">
            <a:spAutoFit/>
          </a:bodyPr>
          <a:lstStyle/>
          <a:p>
            <a:pPr algn="l">
              <a:spcAft>
                <a:spcPts val="200"/>
              </a:spcAft>
            </a:pPr>
            <a:r>
              <a:rPr sz="1400" b="1">
                <a:solidFill>
                  <a:srgbClr val="7C3AED"/>
                </a:solidFill>
                <a:latin typeface="Arial"/>
              </a:rPr>
              <a:t>Act</a:t>
            </a:r>
          </a:p>
          <a:p>
            <a:pPr algn="l">
              <a:spcAft>
                <a:spcPts val="200"/>
              </a:spcAft>
            </a:pPr>
            <a:r>
              <a:rPr sz="1200" b="0">
                <a:solidFill>
                  <a:srgbClr val="161B26"/>
                </a:solidFill>
                <a:latin typeface="Arial"/>
              </a:rPr>
              <a:t>An owner, a date and a measure. Anything less is an intention, not an action.</a:t>
            </a:r>
          </a:p>
        </p:txBody>
      </p:sp>
      <p:sp>
        <p:nvSpPr>
          <p:cNvPr id="17" name="Rectangle 16"/>
          <p:cNvSpPr/>
          <p:nvPr/>
        </p:nvSpPr>
        <p:spPr>
          <a:xfrm>
            <a:off x="5819756" y="4903467"/>
            <a:ext cx="5591956" cy="85724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819756" y="4903467"/>
            <a:ext cx="82296" cy="85724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75788" y="4903467"/>
            <a:ext cx="5134756" cy="857249"/>
          </a:xfrm>
          <a:prstGeom prst="rect">
            <a:avLst/>
          </a:prstGeom>
          <a:noFill/>
        </p:spPr>
        <p:txBody>
          <a:bodyPr wrap="square" anchor="ctr">
            <a:spAutoFit/>
          </a:bodyPr>
          <a:lstStyle/>
          <a:p>
            <a:pPr algn="l">
              <a:spcAft>
                <a:spcPts val="200"/>
              </a:spcAft>
            </a:pPr>
            <a:r>
              <a:rPr sz="1400" b="1">
                <a:solidFill>
                  <a:srgbClr val="F59E0B"/>
                </a:solidFill>
                <a:latin typeface="Arial"/>
              </a:rPr>
              <a:t>Tell them</a:t>
            </a:r>
          </a:p>
          <a:p>
            <a:pPr algn="l">
              <a:spcAft>
                <a:spcPts val="200"/>
              </a:spcAft>
            </a:pPr>
            <a:r>
              <a:rPr sz="1200" b="0">
                <a:solidFill>
                  <a:srgbClr val="161B26"/>
                </a:solidFill>
                <a:latin typeface="Arial"/>
              </a:rPr>
              <a:t>The step everyone forgets — and the only one the customer can see.</a:t>
            </a:r>
          </a:p>
        </p:txBody>
      </p:sp>
      <p:sp>
        <p:nvSpPr>
          <p:cNvPr id="20" name="TextBox 19"/>
          <p:cNvSpPr txBox="1"/>
          <p:nvPr/>
        </p:nvSpPr>
        <p:spPr>
          <a:xfrm>
            <a:off x="777240" y="5852160"/>
            <a:ext cx="10698480" cy="457200"/>
          </a:xfrm>
          <a:prstGeom prst="rect">
            <a:avLst/>
          </a:prstGeom>
          <a:noFill/>
        </p:spPr>
        <p:txBody>
          <a:bodyPr wrap="square" anchor="t">
            <a:spAutoFit/>
          </a:bodyPr>
          <a:lstStyle/>
          <a:p>
            <a:pPr algn="ctr">
              <a:spcAft>
                <a:spcPts val="400"/>
              </a:spcAft>
            </a:pPr>
            <a:r>
              <a:rPr sz="1300" b="0">
                <a:solidFill>
                  <a:srgbClr val="5B6372"/>
                </a:solidFill>
                <a:latin typeface="Arial"/>
              </a:rPr>
              <a:t>Feedback with no visible action trains customers to stop giving it — and your early-warning system goes dark.</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OPERATIONAL INSIGHT COMES FROM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Operational and Personnel Feedback Channels (K3)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1216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6959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695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Shift huddles and briefings</a:t>
            </a:r>
          </a:p>
          <a:p>
            <a:pPr algn="l">
              <a:spcAft>
                <a:spcPts val="300"/>
              </a:spcAft>
            </a:pPr>
            <a:r>
              <a:rPr sz="1100" b="0">
                <a:solidFill>
                  <a:srgbClr val="5B6372"/>
                </a:solidFill>
                <a:latin typeface="Arial"/>
              </a:rPr>
              <a:t>Short, daily, structured — the fastest route from frontline observation to action.</a:t>
            </a:r>
          </a:p>
        </p:txBody>
      </p:sp>
      <p:sp>
        <p:nvSpPr>
          <p:cNvPr id="12" name="Rectangle 11"/>
          <p:cNvSpPr/>
          <p:nvPr/>
        </p:nvSpPr>
        <p:spPr>
          <a:xfrm>
            <a:off x="6231636" y="1783080"/>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1216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06959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0695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Frontline incident logs</a:t>
            </a:r>
          </a:p>
          <a:p>
            <a:pPr algn="l">
              <a:spcAft>
                <a:spcPts val="300"/>
              </a:spcAft>
            </a:pPr>
            <a:r>
              <a:rPr sz="1100" b="0">
                <a:solidFill>
                  <a:srgbClr val="5B6372"/>
                </a:solidFill>
                <a:latin typeface="Arial"/>
              </a:rPr>
              <a:t>A written record of what actually happened, not what the system recorded.</a:t>
            </a:r>
          </a:p>
        </p:txBody>
      </p:sp>
      <p:sp>
        <p:nvSpPr>
          <p:cNvPr id="17" name="Rectangle 16"/>
          <p:cNvSpPr/>
          <p:nvPr/>
        </p:nvSpPr>
        <p:spPr>
          <a:xfrm>
            <a:off x="777240" y="3142488"/>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142488"/>
            <a:ext cx="91440" cy="11216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42900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42900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70504"/>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Team retrospectives</a:t>
            </a:r>
          </a:p>
          <a:p>
            <a:pPr algn="l">
              <a:spcAft>
                <a:spcPts val="300"/>
              </a:spcAft>
            </a:pPr>
            <a:r>
              <a:rPr sz="1100" b="0">
                <a:solidFill>
                  <a:srgbClr val="5B6372"/>
                </a:solidFill>
                <a:latin typeface="Arial"/>
              </a:rPr>
              <a:t>Regular review of what broke and why, with an owner assigned to each fix.</a:t>
            </a:r>
          </a:p>
        </p:txBody>
      </p:sp>
      <p:sp>
        <p:nvSpPr>
          <p:cNvPr id="22" name="Rectangle 21"/>
          <p:cNvSpPr/>
          <p:nvPr/>
        </p:nvSpPr>
        <p:spPr>
          <a:xfrm>
            <a:off x="6231636" y="3142488"/>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142488"/>
            <a:ext cx="91440" cy="11216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42900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42900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270504"/>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Internal escalation reports</a:t>
            </a:r>
          </a:p>
          <a:p>
            <a:pPr algn="l">
              <a:spcAft>
                <a:spcPts val="300"/>
              </a:spcAft>
            </a:pPr>
            <a:r>
              <a:rPr sz="1100" b="0">
                <a:solidFill>
                  <a:srgbClr val="5B6372"/>
                </a:solidFill>
                <a:latin typeface="Arial"/>
              </a:rPr>
              <a:t>Patterns in what gets escalated reveal where authority is missing.</a:t>
            </a:r>
          </a:p>
        </p:txBody>
      </p:sp>
      <p:sp>
        <p:nvSpPr>
          <p:cNvPr id="27" name="Rectangle 26"/>
          <p:cNvSpPr/>
          <p:nvPr/>
        </p:nvSpPr>
        <p:spPr>
          <a:xfrm>
            <a:off x="777240" y="4501896"/>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501896"/>
            <a:ext cx="91440" cy="11216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78840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7884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629912"/>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Quality assurance scorecards</a:t>
            </a:r>
          </a:p>
          <a:p>
            <a:pPr algn="l">
              <a:spcAft>
                <a:spcPts val="300"/>
              </a:spcAft>
            </a:pPr>
            <a:r>
              <a:rPr sz="1100" b="0">
                <a:solidFill>
                  <a:srgbClr val="5B6372"/>
                </a:solidFill>
                <a:latin typeface="Arial"/>
              </a:rPr>
              <a:t>Reviewed interactions scored for tone, clarity and accuracy.</a:t>
            </a:r>
          </a:p>
        </p:txBody>
      </p:sp>
      <p:sp>
        <p:nvSpPr>
          <p:cNvPr id="32" name="Rectangle 31"/>
          <p:cNvSpPr/>
          <p:nvPr/>
        </p:nvSpPr>
        <p:spPr>
          <a:xfrm>
            <a:off x="6231636" y="4501896"/>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501896"/>
            <a:ext cx="91440" cy="11216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78840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7884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629912"/>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Suggestion and defect channels</a:t>
            </a:r>
          </a:p>
          <a:p>
            <a:pPr algn="l">
              <a:spcAft>
                <a:spcPts val="300"/>
              </a:spcAft>
            </a:pPr>
            <a:r>
              <a:rPr sz="1100" b="0">
                <a:solidFill>
                  <a:srgbClr val="5B6372"/>
                </a:solidFill>
                <a:latin typeface="Arial"/>
              </a:rPr>
              <a:t>A formal route so a known bug never sits in a WhatsApp group for months.</a:t>
            </a:r>
          </a:p>
        </p:txBody>
      </p:sp>
      <p:sp>
        <p:nvSpPr>
          <p:cNvPr id="37" name="Rectangle 36"/>
          <p:cNvSpPr/>
          <p:nvPr/>
        </p:nvSpPr>
        <p:spPr>
          <a:xfrm>
            <a:off x="777240" y="5779008"/>
            <a:ext cx="10634472"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779008"/>
            <a:ext cx="10195560" cy="603504"/>
          </a:xfrm>
          <a:prstGeom prst="rect">
            <a:avLst/>
          </a:prstGeom>
          <a:noFill/>
        </p:spPr>
        <p:txBody>
          <a:bodyPr wrap="square" anchor="ctr">
            <a:spAutoFit/>
          </a:bodyPr>
          <a:lstStyle/>
          <a:p>
            <a:pPr algn="l">
              <a:spcAft>
                <a:spcPts val="400"/>
              </a:spcAft>
            </a:pPr>
            <a:r>
              <a:rPr sz="1250" b="0">
                <a:solidFill>
                  <a:srgbClr val="161B26"/>
                </a:solidFill>
                <a:latin typeface="Arial"/>
              </a:rPr>
              <a:t>Customer channels tell you WHAT went wrong. Personnel channels are usually the only ones that tell you WHY.</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CASE STUDY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7 — Closing the Loop — F&amp;B Chain Losing Repeat Customers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200" b="1">
                <a:solidFill>
                  <a:srgbClr val="FFFFFF"/>
                </a:solidFill>
                <a:latin typeface="Arial"/>
              </a:rPr>
              <a:t>ACTIVITY 7  ·  40 MIN</a:t>
            </a:r>
          </a:p>
        </p:txBody>
      </p:sp>
      <p:sp>
        <p:nvSpPr>
          <p:cNvPr id="9" name="Rectangle 8"/>
          <p:cNvSpPr/>
          <p:nvPr/>
        </p:nvSpPr>
        <p:spPr>
          <a:xfrm>
            <a:off x="777240" y="1783080"/>
            <a:ext cx="10634472" cy="3310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91440" cy="3310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190195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SCENARIO</a:t>
            </a:r>
          </a:p>
        </p:txBody>
      </p:sp>
      <p:sp>
        <p:nvSpPr>
          <p:cNvPr id="12" name="TextBox 11"/>
          <p:cNvSpPr txBox="1"/>
          <p:nvPr/>
        </p:nvSpPr>
        <p:spPr>
          <a:xfrm>
            <a:off x="1051560" y="2240280"/>
            <a:ext cx="10149840" cy="2743200"/>
          </a:xfrm>
          <a:prstGeom prst="rect">
            <a:avLst/>
          </a:prstGeom>
          <a:noFill/>
        </p:spPr>
        <p:txBody>
          <a:bodyPr wrap="square" anchor="t">
            <a:spAutoFit/>
          </a:bodyPr>
          <a:lstStyle/>
          <a:p>
            <a:pPr algn="l">
              <a:spcAft>
                <a:spcPts val="700"/>
              </a:spcAft>
            </a:pPr>
            <a:r>
              <a:rPr sz="1150" b="0">
                <a:solidFill>
                  <a:srgbClr val="161B26"/>
                </a:solidFill>
                <a:latin typeface="Arial"/>
              </a:rPr>
              <a:t>Kopi &amp; Co is a Singapore café chain with 9 outlets. Repeat-customer rate has fallen 15% this quarter. Management wants a recovery plan. Here is the feedback that exists:</a:t>
            </a:r>
          </a:p>
          <a:p>
            <a:pPr algn="l">
              <a:spcAft>
                <a:spcPts val="700"/>
              </a:spcAft>
            </a:pPr>
            <a:r>
              <a:rPr sz="1150" b="0">
                <a:solidFill>
                  <a:srgbClr val="161B26"/>
                </a:solidFill>
                <a:latin typeface="Arial"/>
              </a:rPr>
              <a:t>GOOGLE REVIEWS (rating fell 4.4 → 3.8): 'Waited 25 min for a flat white at Raffles Place, staff seemed overwhelmed.' · 'Ordered on the app, got the wrong drink twice.' · 'Nobody acknowledged me at the counter for 5 minutes.' · 'Food is still great, service has really slipped.'</a:t>
            </a:r>
          </a:p>
          <a:p>
            <a:pPr algn="l">
              <a:spcAft>
                <a:spcPts val="700"/>
              </a:spcAft>
            </a:pPr>
            <a:r>
              <a:rPr sz="1150" b="0">
                <a:solidFill>
                  <a:srgbClr val="161B26"/>
                </a:solidFill>
                <a:latin typeface="Arial"/>
              </a:rPr>
              <a:t>POST-VISIT SURVEY (CSAT 62%, down from 81%): lowest-scoring item is 'speed of service' (48%); highest is 'product quality' (91%). Only 4% of visitors complete the survey.</a:t>
            </a:r>
          </a:p>
        </p:txBody>
      </p:sp>
      <p:sp>
        <p:nvSpPr>
          <p:cNvPr id="13" name="Rectangle 12"/>
          <p:cNvSpPr/>
          <p:nvPr/>
        </p:nvSpPr>
        <p:spPr>
          <a:xfrm>
            <a:off x="777240" y="5230368"/>
            <a:ext cx="5230368" cy="676656"/>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230368"/>
            <a:ext cx="4846320" cy="676656"/>
          </a:xfrm>
          <a:prstGeom prst="rect">
            <a:avLst/>
          </a:prstGeom>
          <a:noFill/>
        </p:spPr>
        <p:txBody>
          <a:bodyPr wrap="square" anchor="ctr">
            <a:spAutoFit/>
          </a:bodyPr>
          <a:lstStyle/>
          <a:p>
            <a:pPr algn="l">
              <a:spcAft>
                <a:spcPts val="400"/>
              </a:spcAft>
            </a:pPr>
            <a:r>
              <a:rPr sz="1050" b="1">
                <a:solidFill>
                  <a:srgbClr val="1F6FEB"/>
                </a:solidFill>
                <a:latin typeface="Arial"/>
              </a:rPr>
              <a:t>FORMAT   </a:t>
            </a:r>
            <a:r>
              <a:rPr sz="1150" b="0">
                <a:solidFill>
                  <a:srgbClr val="161B26"/>
                </a:solidFill>
                <a:latin typeface="Arial"/>
              </a:rPr>
              <a:t>Case Study + Group Presentation</a:t>
            </a:r>
          </a:p>
        </p:txBody>
      </p:sp>
      <p:sp>
        <p:nvSpPr>
          <p:cNvPr id="15" name="Rectangle 14"/>
          <p:cNvSpPr/>
          <p:nvPr/>
        </p:nvSpPr>
        <p:spPr>
          <a:xfrm>
            <a:off x="6181344" y="5230368"/>
            <a:ext cx="5230368" cy="67665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9944" y="5230368"/>
            <a:ext cx="4846320" cy="676656"/>
          </a:xfrm>
          <a:prstGeom prst="rect">
            <a:avLst/>
          </a:prstGeom>
          <a:noFill/>
        </p:spPr>
        <p:txBody>
          <a:bodyPr wrap="square" anchor="ctr">
            <a:spAutoFit/>
          </a:bodyPr>
          <a:lstStyle/>
          <a:p>
            <a:pPr algn="l">
              <a:spcAft>
                <a:spcPts val="400"/>
              </a:spcAft>
            </a:pPr>
            <a:r>
              <a:rPr sz="1050" b="1">
                <a:solidFill>
                  <a:srgbClr val="16845B"/>
                </a:solidFill>
                <a:latin typeface="Arial"/>
              </a:rPr>
              <a:t>ROLES   </a:t>
            </a:r>
            <a:r>
              <a:rPr sz="1150" b="0">
                <a:solidFill>
                  <a:srgbClr val="161B26"/>
                </a:solidFill>
                <a:latin typeface="Arial"/>
              </a:rPr>
              <a:t>Groups of 4–5. Each group presents a 3-minute plan to the class acting as management.</a:t>
            </a:r>
          </a:p>
        </p:txBody>
      </p:sp>
      <p:sp>
        <p:nvSpPr>
          <p:cNvPr id="17" name="TextBox 16"/>
          <p:cNvSpPr txBox="1"/>
          <p:nvPr/>
        </p:nvSpPr>
        <p:spPr>
          <a:xfrm>
            <a:off x="777240" y="5998464"/>
            <a:ext cx="10634472" cy="365760"/>
          </a:xfrm>
          <a:prstGeom prst="rect">
            <a:avLst/>
          </a:prstGeom>
          <a:noFill/>
        </p:spPr>
        <p:txBody>
          <a:bodyPr wrap="square" anchor="t">
            <a:spAutoFit/>
          </a:bodyPr>
          <a:lstStyle/>
          <a:p>
            <a:pPr algn="ctr">
              <a:spcAft>
                <a:spcPts val="400"/>
              </a:spcAft>
            </a:pPr>
            <a:r>
              <a:rPr sz="1100" b="0">
                <a:solidFill>
                  <a:srgbClr val="5B6372"/>
                </a:solidFill>
                <a:latin typeface="Arial"/>
              </a:rPr>
              <a:t>Full step-by-step instructions: Learner Guide, Activity 7  ·  Activities folder: activities/activity-07/</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07 · WORK IN YOUR GROUP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7 — Discussion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6217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01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01952"/>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572768" y="1783080"/>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Sort every piece of feedback by CHANNEL. What is each channel good at capturing, and what does each one miss?</a:t>
            </a:r>
          </a:p>
        </p:txBody>
      </p:sp>
      <p:sp>
        <p:nvSpPr>
          <p:cNvPr id="12" name="Rectangle 11"/>
          <p:cNvSpPr/>
          <p:nvPr/>
        </p:nvSpPr>
        <p:spPr>
          <a:xfrm>
            <a:off x="777240" y="2532888"/>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32888"/>
            <a:ext cx="82296" cy="6217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265176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2651760"/>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572768" y="2532888"/>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Only 4% complete the survey and CSAT is 62%. What is wrong with concluding '62% of our customers are satisfied'?</a:t>
            </a:r>
          </a:p>
        </p:txBody>
      </p:sp>
      <p:sp>
        <p:nvSpPr>
          <p:cNvPr id="17" name="Rectangle 16"/>
          <p:cNvSpPr/>
          <p:nvPr/>
        </p:nvSpPr>
        <p:spPr>
          <a:xfrm>
            <a:off x="777240" y="3282696"/>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282696"/>
            <a:ext cx="82296" cy="6217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3401568"/>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40156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572768" y="3282696"/>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Separate SYMPTOMS from ROOT CAUSES. The 25-minute wait is a symptom — what is causing it?</a:t>
            </a:r>
          </a:p>
        </p:txBody>
      </p:sp>
      <p:sp>
        <p:nvSpPr>
          <p:cNvPr id="22" name="Rectangle 21"/>
          <p:cNvSpPr/>
          <p:nvPr/>
        </p:nvSpPr>
        <p:spPr>
          <a:xfrm>
            <a:off x="777240" y="4032504"/>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32504"/>
            <a:ext cx="82296" cy="6217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05840" y="4151376"/>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415137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572768" y="4032504"/>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The staff feedback identifies the app modifier bug that support tickets only show as 'wrong item'. What does that tell you about operational feedback channels?</a:t>
            </a:r>
          </a:p>
        </p:txBody>
      </p:sp>
      <p:sp>
        <p:nvSpPr>
          <p:cNvPr id="27" name="Rectangle 26"/>
          <p:cNvSpPr/>
          <p:nvPr/>
        </p:nvSpPr>
        <p:spPr>
          <a:xfrm>
            <a:off x="777240" y="4782312"/>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782312"/>
            <a:ext cx="82296" cy="6217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5840" y="490118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490118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1" name="TextBox 30"/>
          <p:cNvSpPr txBox="1"/>
          <p:nvPr/>
        </p:nvSpPr>
        <p:spPr>
          <a:xfrm>
            <a:off x="1572768" y="4782312"/>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Not one customer who left feedback has heard anything back. What does that cost, beyond this quarter?</a:t>
            </a:r>
          </a:p>
        </p:txBody>
      </p:sp>
      <p:sp>
        <p:nvSpPr>
          <p:cNvPr id="32" name="Rectangle 31"/>
          <p:cNvSpPr/>
          <p:nvPr/>
        </p:nvSpPr>
        <p:spPr>
          <a:xfrm>
            <a:off x="777240" y="5532120"/>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532120"/>
            <a:ext cx="82296" cy="6217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05840" y="5650992"/>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40" y="5650992"/>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572768" y="5532120"/>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Build the plan: at least 3 strategies, each with an owner, a timeline and a success measure. What will you measure, and when will you know it worked?</a:t>
            </a:r>
          </a:p>
        </p:txBody>
      </p:sp>
      <p:sp>
        <p:nvSpPr>
          <p:cNvPr id="37" name="TextBox 36"/>
          <p:cNvSpPr txBox="1"/>
          <p:nvPr/>
        </p:nvSpPr>
        <p:spPr>
          <a:xfrm>
            <a:off x="777240" y="6272784"/>
            <a:ext cx="10634472" cy="256032"/>
          </a:xfrm>
          <a:prstGeom prst="rect">
            <a:avLst/>
          </a:prstGeom>
          <a:noFill/>
        </p:spPr>
        <p:txBody>
          <a:bodyPr wrap="square" anchor="t">
            <a:spAutoFit/>
          </a:bodyPr>
          <a:lstStyle/>
          <a:p>
            <a:pPr algn="ctr">
              <a:spcAft>
                <a:spcPts val="400"/>
              </a:spcAft>
            </a:pPr>
            <a:r>
              <a:rPr sz="1050" b="0">
                <a:solidFill>
                  <a:srgbClr val="5B6372"/>
                </a:solidFill>
                <a:latin typeface="Arial"/>
              </a:rPr>
              <a:t>40 minutes  ·  Groups of 4–5. Each group presents a 3-minute plan to the class acting as management.</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6845B"/>
                </a:solidFill>
                <a:latin typeface="Arial"/>
              </a:rPr>
              <a:t>TOPIC 07 · WHAT GOOD LOOKS LIKE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7 — Debrief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Channel biases: reviews capture the extremes (delighted and furious) and skew negative; surveys capture the compliant middle; tickets capture only what customers bothered to report; staff feedback captures CAUSES the other three only show as symptoms.</a:t>
            </a:r>
          </a:p>
        </p:txBody>
      </p:sp>
      <p:sp>
        <p:nvSpPr>
          <p:cNvPr id="10" name="Rectangle 9"/>
          <p:cNvSpPr/>
          <p:nvPr/>
        </p:nvSpPr>
        <p:spPr>
          <a:xfrm>
            <a:off x="777240" y="243840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43840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43840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4% response rate means severe non-response bias — and roughly 56% of unhappy customers never complain at all. 62% CSAT is the score of the 4% willing to answer, not of the customer base.</a:t>
            </a:r>
          </a:p>
        </p:txBody>
      </p:sp>
      <p:sp>
        <p:nvSpPr>
          <p:cNvPr id="13" name="Rectangle 12"/>
          <p:cNvSpPr/>
          <p:nvPr/>
        </p:nvSpPr>
        <p:spPr>
          <a:xfrm>
            <a:off x="777240" y="309372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09372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309372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Root causes are: (1) the June app update dropped the modifier field, (2) Raffles Place is 2 baristas short since May, (3) there is no closed loop so nothing gets fixed. The 25-minute wait and the wrong drinks are downstream of these.</a:t>
            </a:r>
          </a:p>
        </p:txBody>
      </p:sp>
      <p:sp>
        <p:nvSpPr>
          <p:cNvPr id="16" name="Rectangle 15"/>
          <p:cNvSpPr/>
          <p:nvPr/>
        </p:nvSpPr>
        <p:spPr>
          <a:xfrm>
            <a:off x="777240" y="374904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74904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374904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The staff channel had the highest-value diagnostic information in the whole case — and it was sitting in an informal WhatsApp group because no formal operational feedback channel exists. This is exactly K3.</a:t>
            </a:r>
          </a:p>
        </p:txBody>
      </p:sp>
      <p:sp>
        <p:nvSpPr>
          <p:cNvPr id="19" name="Rectangle 18"/>
          <p:cNvSpPr/>
          <p:nvPr/>
        </p:nvSpPr>
        <p:spPr>
          <a:xfrm>
            <a:off x="777240" y="440436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40436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440436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Silence costs the future: customers who give feedback and see nothing change stop giving feedback, and the early-warning system goes dark. The 15% drop is what you can see; the lost channel is what you cannot.</a:t>
            </a:r>
          </a:p>
        </p:txBody>
      </p:sp>
      <p:sp>
        <p:nvSpPr>
          <p:cNvPr id="22" name="Rectangle 21"/>
          <p:cNvSpPr/>
          <p:nvPr/>
        </p:nvSpPr>
        <p:spPr>
          <a:xfrm>
            <a:off x="777240" y="505968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05968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505968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A good plan is specific: 'Ops Manager fixes the modifier field by 5 Sept, measured by wrong-item tickets falling below 10/week' beats 'improve the app'. Push every group to name an owner, a date and a number.</a:t>
            </a:r>
          </a:p>
        </p:txBody>
      </p:sp>
      <p:sp>
        <p:nvSpPr>
          <p:cNvPr id="25" name="Rectangle 24"/>
          <p:cNvSpPr/>
          <p:nvPr/>
        </p:nvSpPr>
        <p:spPr>
          <a:xfrm>
            <a:off x="777240" y="574243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5742432"/>
            <a:ext cx="10195560" cy="566928"/>
          </a:xfrm>
          <a:prstGeom prst="rect">
            <a:avLst/>
          </a:prstGeom>
          <a:noFill/>
        </p:spPr>
        <p:txBody>
          <a:bodyPr wrap="square" anchor="ctr">
            <a:spAutoFit/>
          </a:bodyPr>
          <a:lstStyle/>
          <a:p>
            <a:pPr algn="l">
              <a:spcAft>
                <a:spcPts val="400"/>
              </a:spcAft>
            </a:pPr>
            <a:r>
              <a:rPr sz="1100" b="1">
                <a:solidFill>
                  <a:srgbClr val="10B981"/>
                </a:solidFill>
                <a:latin typeface="Arial"/>
              </a:rPr>
              <a:t>TEST IT   </a:t>
            </a:r>
            <a:r>
              <a:rPr sz="1150" b="0">
                <a:solidFill>
                  <a:srgbClr val="161B26"/>
                </a:solidFill>
                <a:latin typeface="Arial"/>
              </a:rPr>
              <a:t>Your plan names 3 root causes (not symptoms), has an owner and date for every strategy, includes a numeric success measure, and contains an explicit mechanism for telling customers what changed.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08</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Recovering Difficult Customers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De-escalation · HEARD and LAST · common ground · limits · managing your own emotions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08</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08  ·  LU2 · K1, K3, A3 · 50 min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Topic 8 — Key Concepts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Recovery restores the relationship</a:t>
            </a:r>
          </a:p>
          <a:p>
            <a:pPr algn="l">
              <a:spcAft>
                <a:spcPts val="300"/>
              </a:spcAft>
            </a:pPr>
            <a:r>
              <a:rPr sz="1100" b="0">
                <a:solidFill>
                  <a:srgbClr val="5B6372"/>
                </a:solidFill>
                <a:latin typeface="Arial"/>
              </a:rPr>
              <a:t>The goal is not only to fix the fault but to rebuild the trust the fault destroyed.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HEARD framework</a:t>
            </a:r>
          </a:p>
          <a:p>
            <a:pPr algn="l">
              <a:spcAft>
                <a:spcPts val="300"/>
              </a:spcAft>
            </a:pPr>
            <a:r>
              <a:rPr sz="1100" b="0">
                <a:solidFill>
                  <a:srgbClr val="5B6372"/>
                </a:solidFill>
                <a:latin typeface="Arial"/>
              </a:rPr>
              <a:t>Hear · Empathize · Apologize · Resolve · Diagnose — let them finish, then act, then prevent the recurrence.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LAST framework</a:t>
            </a:r>
          </a:p>
          <a:p>
            <a:pPr algn="l">
              <a:spcAft>
                <a:spcPts val="300"/>
              </a:spcAft>
            </a:pPr>
            <a:r>
              <a:rPr sz="1100" b="0">
                <a:solidFill>
                  <a:srgbClr val="5B6372"/>
                </a:solidFill>
                <a:latin typeface="Arial"/>
              </a:rPr>
              <a:t>Listen · Apologize · Solve · Thank — thank them for surfacing a problem you would otherwise not have seen.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Perceived justice has three parts</a:t>
            </a:r>
          </a:p>
          <a:p>
            <a:pPr algn="l">
              <a:spcAft>
                <a:spcPts val="300"/>
              </a:spcAft>
            </a:pPr>
            <a:r>
              <a:rPr sz="1100" b="0">
                <a:solidFill>
                  <a:srgbClr val="5B6372"/>
                </a:solidFill>
                <a:latin typeface="Arial"/>
              </a:rPr>
              <a:t>Customers judge the outcome, the process and how they were treated. Fix the fault and still fail on the last two.</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Establish common ground</a:t>
            </a:r>
          </a:p>
          <a:p>
            <a:pPr algn="l">
              <a:spcAft>
                <a:spcPts val="300"/>
              </a:spcAft>
            </a:pPr>
            <a:r>
              <a:rPr sz="1100" b="0">
                <a:solidFill>
                  <a:srgbClr val="5B6372"/>
                </a:solidFill>
                <a:latin typeface="Arial"/>
              </a:rPr>
              <a:t>'We both want this resolved fairly today' converts an adversarial exchange into a shared problem.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Manage yourself first</a:t>
            </a:r>
          </a:p>
          <a:p>
            <a:pPr algn="l">
              <a:spcAft>
                <a:spcPts val="300"/>
              </a:spcAft>
            </a:pPr>
            <a:r>
              <a:rPr sz="1100" b="0">
                <a:solidFill>
                  <a:srgbClr val="5B6372"/>
                </a:solidFill>
                <a:latin typeface="Arial"/>
              </a:rPr>
              <a:t>Detach from the personal, control breathing and pace, keep language neutral. Composure is the de-escalation tool.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RECOVERY SEQUENCE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HEARD — the De-escalation Framework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eard_framework.png"/>
          <p:cNvPicPr>
            <a:picLocks noChangeAspect="1"/>
          </p:cNvPicPr>
          <p:nvPr/>
        </p:nvPicPr>
        <p:blipFill>
          <a:blip r:embed="rId2"/>
          <a:stretch>
            <a:fillRect/>
          </a:stretch>
        </p:blipFill>
        <p:spPr>
          <a:xfrm>
            <a:off x="777240" y="2736205"/>
            <a:ext cx="6766560" cy="2437150"/>
          </a:xfrm>
          <a:prstGeom prst="rect">
            <a:avLst/>
          </a:prstGeom>
        </p:spPr>
      </p:pic>
      <p:sp>
        <p:nvSpPr>
          <p:cNvPr id="8" name="Rectangle 7"/>
          <p:cNvSpPr/>
          <p:nvPr/>
        </p:nvSpPr>
        <p:spPr>
          <a:xfrm>
            <a:off x="7863840" y="1783080"/>
            <a:ext cx="354787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6384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19872" y="1783080"/>
            <a:ext cx="3090672" cy="948690"/>
          </a:xfrm>
          <a:prstGeom prst="rect">
            <a:avLst/>
          </a:prstGeom>
          <a:noFill/>
        </p:spPr>
        <p:txBody>
          <a:bodyPr wrap="square" anchor="ctr">
            <a:spAutoFit/>
          </a:bodyPr>
          <a:lstStyle/>
          <a:p>
            <a:pPr algn="l">
              <a:spcAft>
                <a:spcPts val="200"/>
              </a:spcAft>
            </a:pPr>
            <a:r>
              <a:rPr sz="1400" b="1">
                <a:solidFill>
                  <a:srgbClr val="1F6FEB"/>
                </a:solidFill>
                <a:latin typeface="Arial"/>
              </a:rPr>
              <a:t>Hear then Empathize</a:t>
            </a:r>
          </a:p>
          <a:p>
            <a:pPr algn="l">
              <a:spcAft>
                <a:spcPts val="200"/>
              </a:spcAft>
            </a:pPr>
            <a:r>
              <a:rPr sz="1200" b="0">
                <a:solidFill>
                  <a:srgbClr val="161B26"/>
                </a:solidFill>
                <a:latin typeface="Arial"/>
              </a:rPr>
              <a:t>Let them finish, then name the actual loss — not 'the inconvenience'.</a:t>
            </a:r>
          </a:p>
        </p:txBody>
      </p:sp>
      <p:sp>
        <p:nvSpPr>
          <p:cNvPr id="11" name="Rectangle 10"/>
          <p:cNvSpPr/>
          <p:nvPr/>
        </p:nvSpPr>
        <p:spPr>
          <a:xfrm>
            <a:off x="7863840" y="2914650"/>
            <a:ext cx="354787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6384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19872" y="2914650"/>
            <a:ext cx="3090672" cy="948690"/>
          </a:xfrm>
          <a:prstGeom prst="rect">
            <a:avLst/>
          </a:prstGeom>
          <a:noFill/>
        </p:spPr>
        <p:txBody>
          <a:bodyPr wrap="square" anchor="ctr">
            <a:spAutoFit/>
          </a:bodyPr>
          <a:lstStyle/>
          <a:p>
            <a:pPr algn="l">
              <a:spcAft>
                <a:spcPts val="200"/>
              </a:spcAft>
            </a:pPr>
            <a:r>
              <a:rPr sz="1400" b="1">
                <a:solidFill>
                  <a:srgbClr val="10B981"/>
                </a:solidFill>
                <a:latin typeface="Arial"/>
              </a:rPr>
              <a:t>Apologize unconditionally</a:t>
            </a:r>
          </a:p>
          <a:p>
            <a:pPr algn="l">
              <a:spcAft>
                <a:spcPts val="200"/>
              </a:spcAft>
            </a:pPr>
            <a:r>
              <a:rPr sz="1200" b="0">
                <a:solidFill>
                  <a:srgbClr val="161B26"/>
                </a:solidFill>
                <a:latin typeface="Arial"/>
              </a:rPr>
              <a:t>No 'if', no 'but'. A conditional apology is heard as a denial.</a:t>
            </a:r>
          </a:p>
        </p:txBody>
      </p:sp>
      <p:sp>
        <p:nvSpPr>
          <p:cNvPr id="14" name="Rectangle 13"/>
          <p:cNvSpPr/>
          <p:nvPr/>
        </p:nvSpPr>
        <p:spPr>
          <a:xfrm>
            <a:off x="7863840" y="4046220"/>
            <a:ext cx="354787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86384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19872" y="4046220"/>
            <a:ext cx="3090672" cy="948690"/>
          </a:xfrm>
          <a:prstGeom prst="rect">
            <a:avLst/>
          </a:prstGeom>
          <a:noFill/>
        </p:spPr>
        <p:txBody>
          <a:bodyPr wrap="square" anchor="ctr">
            <a:spAutoFit/>
          </a:bodyPr>
          <a:lstStyle/>
          <a:p>
            <a:pPr algn="l">
              <a:spcAft>
                <a:spcPts val="200"/>
              </a:spcAft>
            </a:pPr>
            <a:r>
              <a:rPr sz="1400" b="1">
                <a:solidFill>
                  <a:srgbClr val="7C3AED"/>
                </a:solidFill>
                <a:latin typeface="Arial"/>
              </a:rPr>
              <a:t>Resolve concretely</a:t>
            </a:r>
          </a:p>
          <a:p>
            <a:pPr algn="l">
              <a:spcAft>
                <a:spcPts val="200"/>
              </a:spcAft>
            </a:pPr>
            <a:r>
              <a:rPr sz="1200" b="0">
                <a:solidFill>
                  <a:srgbClr val="161B26"/>
                </a:solidFill>
                <a:latin typeface="Arial"/>
              </a:rPr>
              <a:t>An offer with a time and an owner, made now rather than promised later.</a:t>
            </a:r>
          </a:p>
        </p:txBody>
      </p:sp>
      <p:sp>
        <p:nvSpPr>
          <p:cNvPr id="17" name="Rectangle 16"/>
          <p:cNvSpPr/>
          <p:nvPr/>
        </p:nvSpPr>
        <p:spPr>
          <a:xfrm>
            <a:off x="7863840" y="5177790"/>
            <a:ext cx="354787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86384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19872" y="5177790"/>
            <a:ext cx="3090672" cy="948690"/>
          </a:xfrm>
          <a:prstGeom prst="rect">
            <a:avLst/>
          </a:prstGeom>
          <a:noFill/>
        </p:spPr>
        <p:txBody>
          <a:bodyPr wrap="square" anchor="ctr">
            <a:spAutoFit/>
          </a:bodyPr>
          <a:lstStyle/>
          <a:p>
            <a:pPr algn="l">
              <a:spcAft>
                <a:spcPts val="200"/>
              </a:spcAft>
            </a:pPr>
            <a:r>
              <a:rPr sz="1400" b="1">
                <a:solidFill>
                  <a:srgbClr val="F59E0B"/>
                </a:solidFill>
                <a:latin typeface="Arial"/>
              </a:rPr>
              <a:t>Diagnose the cause</a:t>
            </a:r>
          </a:p>
          <a:p>
            <a:pPr algn="l">
              <a:spcAft>
                <a:spcPts val="200"/>
              </a:spcAft>
            </a:pPr>
            <a:r>
              <a:rPr sz="1200" b="0">
                <a:solidFill>
                  <a:srgbClr val="161B26"/>
                </a:solidFill>
                <a:latin typeface="Arial"/>
              </a:rPr>
              <a:t>Fix the process so the next customer never meets this problem.</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PICK ONE AND USE IT CONSISTENTLY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Two Recovery Frameworks — HEARD and LAST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850757" cy="7086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631301" cy="708660"/>
          </a:xfrm>
          <a:prstGeom prst="rect">
            <a:avLst/>
          </a:prstGeom>
          <a:noFill/>
        </p:spPr>
        <p:txBody>
          <a:bodyPr wrap="square" anchor="ctr">
            <a:spAutoFit/>
          </a:bodyPr>
          <a:lstStyle/>
          <a:p>
            <a:pPr algn="l">
              <a:spcAft>
                <a:spcPts val="400"/>
              </a:spcAft>
            </a:pPr>
            <a:r>
              <a:rPr sz="1250" b="1">
                <a:solidFill>
                  <a:srgbClr val="FFFFFF"/>
                </a:solidFill>
                <a:latin typeface="Arial"/>
              </a:rPr>
              <a:t>Stage</a:t>
            </a:r>
          </a:p>
        </p:txBody>
      </p:sp>
      <p:sp>
        <p:nvSpPr>
          <p:cNvPr id="9" name="Rectangle 8"/>
          <p:cNvSpPr/>
          <p:nvPr/>
        </p:nvSpPr>
        <p:spPr>
          <a:xfrm>
            <a:off x="1627997" y="1783080"/>
            <a:ext cx="1807860" cy="7086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56013" y="1783080"/>
            <a:ext cx="1588404" cy="708660"/>
          </a:xfrm>
          <a:prstGeom prst="rect">
            <a:avLst/>
          </a:prstGeom>
          <a:noFill/>
        </p:spPr>
        <p:txBody>
          <a:bodyPr wrap="square" anchor="ctr">
            <a:spAutoFit/>
          </a:bodyPr>
          <a:lstStyle/>
          <a:p>
            <a:pPr algn="l">
              <a:spcAft>
                <a:spcPts val="400"/>
              </a:spcAft>
            </a:pPr>
            <a:r>
              <a:rPr sz="1250" b="1">
                <a:solidFill>
                  <a:srgbClr val="FFFFFF"/>
                </a:solidFill>
                <a:latin typeface="Arial"/>
              </a:rPr>
              <a:t>HEARD</a:t>
            </a:r>
          </a:p>
        </p:txBody>
      </p:sp>
      <p:sp>
        <p:nvSpPr>
          <p:cNvPr id="11" name="Rectangle 10"/>
          <p:cNvSpPr/>
          <p:nvPr/>
        </p:nvSpPr>
        <p:spPr>
          <a:xfrm>
            <a:off x="3435857" y="1783080"/>
            <a:ext cx="1807860" cy="7086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3873" y="1783080"/>
            <a:ext cx="1588404" cy="708660"/>
          </a:xfrm>
          <a:prstGeom prst="rect">
            <a:avLst/>
          </a:prstGeom>
          <a:noFill/>
        </p:spPr>
        <p:txBody>
          <a:bodyPr wrap="square" anchor="ctr">
            <a:spAutoFit/>
          </a:bodyPr>
          <a:lstStyle/>
          <a:p>
            <a:pPr algn="l">
              <a:spcAft>
                <a:spcPts val="400"/>
              </a:spcAft>
            </a:pPr>
            <a:r>
              <a:rPr sz="1250" b="1">
                <a:solidFill>
                  <a:srgbClr val="FFFFFF"/>
                </a:solidFill>
                <a:latin typeface="Arial"/>
              </a:rPr>
              <a:t>LAST</a:t>
            </a:r>
          </a:p>
        </p:txBody>
      </p:sp>
      <p:sp>
        <p:nvSpPr>
          <p:cNvPr id="13" name="Rectangle 12"/>
          <p:cNvSpPr/>
          <p:nvPr/>
        </p:nvSpPr>
        <p:spPr>
          <a:xfrm>
            <a:off x="5243717" y="1783080"/>
            <a:ext cx="6167993" cy="7086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71733" y="1783080"/>
            <a:ext cx="5948537" cy="708660"/>
          </a:xfrm>
          <a:prstGeom prst="rect">
            <a:avLst/>
          </a:prstGeom>
          <a:noFill/>
        </p:spPr>
        <p:txBody>
          <a:bodyPr wrap="square" anchor="ctr">
            <a:spAutoFit/>
          </a:bodyPr>
          <a:lstStyle/>
          <a:p>
            <a:pPr algn="l">
              <a:spcAft>
                <a:spcPts val="400"/>
              </a:spcAft>
            </a:pPr>
            <a:r>
              <a:rPr sz="1250" b="1">
                <a:solidFill>
                  <a:srgbClr val="FFFFFF"/>
                </a:solidFill>
                <a:latin typeface="Arial"/>
              </a:rPr>
              <a:t>What it achieves</a:t>
            </a:r>
          </a:p>
        </p:txBody>
      </p:sp>
      <p:sp>
        <p:nvSpPr>
          <p:cNvPr id="15" name="Rectangle 14"/>
          <p:cNvSpPr/>
          <p:nvPr/>
        </p:nvSpPr>
        <p:spPr>
          <a:xfrm>
            <a:off x="777240" y="2491740"/>
            <a:ext cx="850757" cy="7086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491740"/>
            <a:ext cx="631301" cy="708660"/>
          </a:xfrm>
          <a:prstGeom prst="rect">
            <a:avLst/>
          </a:prstGeom>
          <a:noFill/>
        </p:spPr>
        <p:txBody>
          <a:bodyPr wrap="square" anchor="ctr">
            <a:spAutoFit/>
          </a:bodyPr>
          <a:lstStyle/>
          <a:p>
            <a:pPr algn="l">
              <a:spcAft>
                <a:spcPts val="400"/>
              </a:spcAft>
            </a:pPr>
            <a:r>
              <a:rPr sz="1150" b="1">
                <a:solidFill>
                  <a:srgbClr val="161B26"/>
                </a:solidFill>
                <a:latin typeface="Arial"/>
              </a:rPr>
              <a:t>1</a:t>
            </a:r>
          </a:p>
        </p:txBody>
      </p:sp>
      <p:sp>
        <p:nvSpPr>
          <p:cNvPr id="17" name="Rectangle 16"/>
          <p:cNvSpPr/>
          <p:nvPr/>
        </p:nvSpPr>
        <p:spPr>
          <a:xfrm>
            <a:off x="1627997" y="2491740"/>
            <a:ext cx="1807860" cy="7086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756013" y="2491740"/>
            <a:ext cx="1588404" cy="708660"/>
          </a:xfrm>
          <a:prstGeom prst="rect">
            <a:avLst/>
          </a:prstGeom>
          <a:noFill/>
        </p:spPr>
        <p:txBody>
          <a:bodyPr wrap="square" anchor="ctr">
            <a:spAutoFit/>
          </a:bodyPr>
          <a:lstStyle/>
          <a:p>
            <a:pPr algn="l">
              <a:spcAft>
                <a:spcPts val="400"/>
              </a:spcAft>
            </a:pPr>
            <a:r>
              <a:rPr sz="1150" b="0">
                <a:solidFill>
                  <a:srgbClr val="161B26"/>
                </a:solidFill>
                <a:latin typeface="Arial"/>
              </a:rPr>
              <a:t>Hear</a:t>
            </a:r>
          </a:p>
        </p:txBody>
      </p:sp>
      <p:sp>
        <p:nvSpPr>
          <p:cNvPr id="19" name="Rectangle 18"/>
          <p:cNvSpPr/>
          <p:nvPr/>
        </p:nvSpPr>
        <p:spPr>
          <a:xfrm>
            <a:off x="3435857" y="2491740"/>
            <a:ext cx="1807860" cy="7086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63873" y="2491740"/>
            <a:ext cx="1588404" cy="708660"/>
          </a:xfrm>
          <a:prstGeom prst="rect">
            <a:avLst/>
          </a:prstGeom>
          <a:noFill/>
        </p:spPr>
        <p:txBody>
          <a:bodyPr wrap="square" anchor="ctr">
            <a:spAutoFit/>
          </a:bodyPr>
          <a:lstStyle/>
          <a:p>
            <a:pPr algn="l">
              <a:spcAft>
                <a:spcPts val="400"/>
              </a:spcAft>
            </a:pPr>
            <a:r>
              <a:rPr sz="1150" b="0">
                <a:solidFill>
                  <a:srgbClr val="161B26"/>
                </a:solidFill>
                <a:latin typeface="Arial"/>
              </a:rPr>
              <a:t>Listen</a:t>
            </a:r>
          </a:p>
        </p:txBody>
      </p:sp>
      <p:sp>
        <p:nvSpPr>
          <p:cNvPr id="21" name="Rectangle 20"/>
          <p:cNvSpPr/>
          <p:nvPr/>
        </p:nvSpPr>
        <p:spPr>
          <a:xfrm>
            <a:off x="5243717" y="2491740"/>
            <a:ext cx="6167993" cy="7086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71733" y="2491740"/>
            <a:ext cx="5948537" cy="708660"/>
          </a:xfrm>
          <a:prstGeom prst="rect">
            <a:avLst/>
          </a:prstGeom>
          <a:noFill/>
        </p:spPr>
        <p:txBody>
          <a:bodyPr wrap="square" anchor="ctr">
            <a:spAutoFit/>
          </a:bodyPr>
          <a:lstStyle/>
          <a:p>
            <a:pPr algn="l">
              <a:spcAft>
                <a:spcPts val="400"/>
              </a:spcAft>
            </a:pPr>
            <a:r>
              <a:rPr sz="1150" b="0">
                <a:solidFill>
                  <a:srgbClr val="161B26"/>
                </a:solidFill>
                <a:latin typeface="Arial"/>
              </a:rPr>
              <a:t>The customer gets to finish — and you get the real facts.</a:t>
            </a:r>
          </a:p>
        </p:txBody>
      </p:sp>
      <p:sp>
        <p:nvSpPr>
          <p:cNvPr id="23" name="Rectangle 22"/>
          <p:cNvSpPr/>
          <p:nvPr/>
        </p:nvSpPr>
        <p:spPr>
          <a:xfrm>
            <a:off x="777240" y="3200400"/>
            <a:ext cx="850757" cy="7086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3200400"/>
            <a:ext cx="631301" cy="708660"/>
          </a:xfrm>
          <a:prstGeom prst="rect">
            <a:avLst/>
          </a:prstGeom>
          <a:noFill/>
        </p:spPr>
        <p:txBody>
          <a:bodyPr wrap="square" anchor="ctr">
            <a:spAutoFit/>
          </a:bodyPr>
          <a:lstStyle/>
          <a:p>
            <a:pPr algn="l">
              <a:spcAft>
                <a:spcPts val="400"/>
              </a:spcAft>
            </a:pPr>
            <a:r>
              <a:rPr sz="1150" b="1">
                <a:solidFill>
                  <a:srgbClr val="161B26"/>
                </a:solidFill>
                <a:latin typeface="Arial"/>
              </a:rPr>
              <a:t>2</a:t>
            </a:r>
          </a:p>
        </p:txBody>
      </p:sp>
      <p:sp>
        <p:nvSpPr>
          <p:cNvPr id="25" name="Rectangle 24"/>
          <p:cNvSpPr/>
          <p:nvPr/>
        </p:nvSpPr>
        <p:spPr>
          <a:xfrm>
            <a:off x="1627997" y="3200400"/>
            <a:ext cx="1807860" cy="7086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56013" y="3200400"/>
            <a:ext cx="1588404" cy="708660"/>
          </a:xfrm>
          <a:prstGeom prst="rect">
            <a:avLst/>
          </a:prstGeom>
          <a:noFill/>
        </p:spPr>
        <p:txBody>
          <a:bodyPr wrap="square" anchor="ctr">
            <a:spAutoFit/>
          </a:bodyPr>
          <a:lstStyle/>
          <a:p>
            <a:pPr algn="l">
              <a:spcAft>
                <a:spcPts val="400"/>
              </a:spcAft>
            </a:pPr>
            <a:r>
              <a:rPr sz="1150" b="0">
                <a:solidFill>
                  <a:srgbClr val="161B26"/>
                </a:solidFill>
                <a:latin typeface="Arial"/>
              </a:rPr>
              <a:t>Empathize</a:t>
            </a:r>
          </a:p>
        </p:txBody>
      </p:sp>
      <p:sp>
        <p:nvSpPr>
          <p:cNvPr id="27" name="Rectangle 26"/>
          <p:cNvSpPr/>
          <p:nvPr/>
        </p:nvSpPr>
        <p:spPr>
          <a:xfrm>
            <a:off x="3435857" y="3200400"/>
            <a:ext cx="1807860" cy="7086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63873" y="3200400"/>
            <a:ext cx="1588404" cy="708660"/>
          </a:xfrm>
          <a:prstGeom prst="rect">
            <a:avLst/>
          </a:prstGeom>
          <a:noFill/>
        </p:spPr>
        <p:txBody>
          <a:bodyPr wrap="square" anchor="ctr">
            <a:spAutoFit/>
          </a:bodyPr>
          <a:lstStyle/>
          <a:p>
            <a:pPr algn="l">
              <a:spcAft>
                <a:spcPts val="400"/>
              </a:spcAft>
            </a:pPr>
            <a:r>
              <a:rPr sz="1150" b="0">
                <a:solidFill>
                  <a:srgbClr val="161B26"/>
                </a:solidFill>
                <a:latin typeface="Arial"/>
              </a:rPr>
              <a:t>Apologize</a:t>
            </a:r>
          </a:p>
        </p:txBody>
      </p:sp>
      <p:sp>
        <p:nvSpPr>
          <p:cNvPr id="29" name="Rectangle 28"/>
          <p:cNvSpPr/>
          <p:nvPr/>
        </p:nvSpPr>
        <p:spPr>
          <a:xfrm>
            <a:off x="5243717" y="3200400"/>
            <a:ext cx="6167993" cy="7086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71733" y="3200400"/>
            <a:ext cx="5948537" cy="708660"/>
          </a:xfrm>
          <a:prstGeom prst="rect">
            <a:avLst/>
          </a:prstGeom>
          <a:noFill/>
        </p:spPr>
        <p:txBody>
          <a:bodyPr wrap="square" anchor="ctr">
            <a:spAutoFit/>
          </a:bodyPr>
          <a:lstStyle/>
          <a:p>
            <a:pPr algn="l">
              <a:spcAft>
                <a:spcPts val="400"/>
              </a:spcAft>
            </a:pPr>
            <a:r>
              <a:rPr sz="1150" b="0">
                <a:solidFill>
                  <a:srgbClr val="161B26"/>
                </a:solidFill>
                <a:latin typeface="Arial"/>
              </a:rPr>
              <a:t>The customer's experience is acknowledged as legitimate.</a:t>
            </a:r>
          </a:p>
        </p:txBody>
      </p:sp>
      <p:sp>
        <p:nvSpPr>
          <p:cNvPr id="31" name="Rectangle 30"/>
          <p:cNvSpPr/>
          <p:nvPr/>
        </p:nvSpPr>
        <p:spPr>
          <a:xfrm>
            <a:off x="777240" y="3909060"/>
            <a:ext cx="850757" cy="7086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09060"/>
            <a:ext cx="631301" cy="708660"/>
          </a:xfrm>
          <a:prstGeom prst="rect">
            <a:avLst/>
          </a:prstGeom>
          <a:noFill/>
        </p:spPr>
        <p:txBody>
          <a:bodyPr wrap="square" anchor="ctr">
            <a:spAutoFit/>
          </a:bodyPr>
          <a:lstStyle/>
          <a:p>
            <a:pPr algn="l">
              <a:spcAft>
                <a:spcPts val="400"/>
              </a:spcAft>
            </a:pPr>
            <a:r>
              <a:rPr sz="1150" b="1">
                <a:solidFill>
                  <a:srgbClr val="161B26"/>
                </a:solidFill>
                <a:latin typeface="Arial"/>
              </a:rPr>
              <a:t>3</a:t>
            </a:r>
          </a:p>
        </p:txBody>
      </p:sp>
      <p:sp>
        <p:nvSpPr>
          <p:cNvPr id="33" name="Rectangle 32"/>
          <p:cNvSpPr/>
          <p:nvPr/>
        </p:nvSpPr>
        <p:spPr>
          <a:xfrm>
            <a:off x="1627997" y="3909060"/>
            <a:ext cx="1807860" cy="7086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756013" y="3909060"/>
            <a:ext cx="1588404" cy="708660"/>
          </a:xfrm>
          <a:prstGeom prst="rect">
            <a:avLst/>
          </a:prstGeom>
          <a:noFill/>
        </p:spPr>
        <p:txBody>
          <a:bodyPr wrap="square" anchor="ctr">
            <a:spAutoFit/>
          </a:bodyPr>
          <a:lstStyle/>
          <a:p>
            <a:pPr algn="l">
              <a:spcAft>
                <a:spcPts val="400"/>
              </a:spcAft>
            </a:pPr>
            <a:r>
              <a:rPr sz="1150" b="0">
                <a:solidFill>
                  <a:srgbClr val="161B26"/>
                </a:solidFill>
                <a:latin typeface="Arial"/>
              </a:rPr>
              <a:t>Apologize</a:t>
            </a:r>
          </a:p>
        </p:txBody>
      </p:sp>
      <p:sp>
        <p:nvSpPr>
          <p:cNvPr id="35" name="Rectangle 34"/>
          <p:cNvSpPr/>
          <p:nvPr/>
        </p:nvSpPr>
        <p:spPr>
          <a:xfrm>
            <a:off x="3435857" y="3909060"/>
            <a:ext cx="1807860" cy="7086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563873" y="3909060"/>
            <a:ext cx="1588404" cy="708660"/>
          </a:xfrm>
          <a:prstGeom prst="rect">
            <a:avLst/>
          </a:prstGeom>
          <a:noFill/>
        </p:spPr>
        <p:txBody>
          <a:bodyPr wrap="square" anchor="ctr">
            <a:spAutoFit/>
          </a:bodyPr>
          <a:lstStyle/>
          <a:p>
            <a:pPr algn="l">
              <a:spcAft>
                <a:spcPts val="400"/>
              </a:spcAft>
            </a:pPr>
            <a:r>
              <a:rPr sz="1150" b="0">
                <a:solidFill>
                  <a:srgbClr val="161B26"/>
                </a:solidFill>
                <a:latin typeface="Arial"/>
              </a:rPr>
              <a:t>Solve</a:t>
            </a:r>
          </a:p>
        </p:txBody>
      </p:sp>
      <p:sp>
        <p:nvSpPr>
          <p:cNvPr id="37" name="Rectangle 36"/>
          <p:cNvSpPr/>
          <p:nvPr/>
        </p:nvSpPr>
        <p:spPr>
          <a:xfrm>
            <a:off x="5243717" y="3909060"/>
            <a:ext cx="6167993" cy="7086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371733" y="3909060"/>
            <a:ext cx="5948537" cy="708660"/>
          </a:xfrm>
          <a:prstGeom prst="rect">
            <a:avLst/>
          </a:prstGeom>
          <a:noFill/>
        </p:spPr>
        <p:txBody>
          <a:bodyPr wrap="square" anchor="ctr">
            <a:spAutoFit/>
          </a:bodyPr>
          <a:lstStyle/>
          <a:p>
            <a:pPr algn="l">
              <a:spcAft>
                <a:spcPts val="400"/>
              </a:spcAft>
            </a:pPr>
            <a:r>
              <a:rPr sz="1150" b="0">
                <a:solidFill>
                  <a:srgbClr val="161B26"/>
                </a:solidFill>
                <a:latin typeface="Arial"/>
              </a:rPr>
              <a:t>Ownership is taken and a concrete route forward appears.</a:t>
            </a:r>
          </a:p>
        </p:txBody>
      </p:sp>
      <p:sp>
        <p:nvSpPr>
          <p:cNvPr id="39" name="Rectangle 38"/>
          <p:cNvSpPr/>
          <p:nvPr/>
        </p:nvSpPr>
        <p:spPr>
          <a:xfrm>
            <a:off x="777240" y="4617720"/>
            <a:ext cx="850757" cy="7086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4617720"/>
            <a:ext cx="631301" cy="708660"/>
          </a:xfrm>
          <a:prstGeom prst="rect">
            <a:avLst/>
          </a:prstGeom>
          <a:noFill/>
        </p:spPr>
        <p:txBody>
          <a:bodyPr wrap="square" anchor="ctr">
            <a:spAutoFit/>
          </a:bodyPr>
          <a:lstStyle/>
          <a:p>
            <a:pPr algn="l">
              <a:spcAft>
                <a:spcPts val="400"/>
              </a:spcAft>
            </a:pPr>
            <a:r>
              <a:rPr sz="1150" b="1">
                <a:solidFill>
                  <a:srgbClr val="161B26"/>
                </a:solidFill>
                <a:latin typeface="Arial"/>
              </a:rPr>
              <a:t>4</a:t>
            </a:r>
          </a:p>
        </p:txBody>
      </p:sp>
      <p:sp>
        <p:nvSpPr>
          <p:cNvPr id="41" name="Rectangle 40"/>
          <p:cNvSpPr/>
          <p:nvPr/>
        </p:nvSpPr>
        <p:spPr>
          <a:xfrm>
            <a:off x="1627997" y="4617720"/>
            <a:ext cx="1807860" cy="7086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756013" y="4617720"/>
            <a:ext cx="1588404" cy="708660"/>
          </a:xfrm>
          <a:prstGeom prst="rect">
            <a:avLst/>
          </a:prstGeom>
          <a:noFill/>
        </p:spPr>
        <p:txBody>
          <a:bodyPr wrap="square" anchor="ctr">
            <a:spAutoFit/>
          </a:bodyPr>
          <a:lstStyle/>
          <a:p>
            <a:pPr algn="l">
              <a:spcAft>
                <a:spcPts val="400"/>
              </a:spcAft>
            </a:pPr>
            <a:r>
              <a:rPr sz="1150" b="0">
                <a:solidFill>
                  <a:srgbClr val="161B26"/>
                </a:solidFill>
                <a:latin typeface="Arial"/>
              </a:rPr>
              <a:t>Resolve</a:t>
            </a:r>
          </a:p>
        </p:txBody>
      </p:sp>
      <p:sp>
        <p:nvSpPr>
          <p:cNvPr id="43" name="Rectangle 42"/>
          <p:cNvSpPr/>
          <p:nvPr/>
        </p:nvSpPr>
        <p:spPr>
          <a:xfrm>
            <a:off x="3435857" y="4617720"/>
            <a:ext cx="1807860" cy="7086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563873" y="4617720"/>
            <a:ext cx="1588404" cy="708660"/>
          </a:xfrm>
          <a:prstGeom prst="rect">
            <a:avLst/>
          </a:prstGeom>
          <a:noFill/>
        </p:spPr>
        <p:txBody>
          <a:bodyPr wrap="square" anchor="ctr">
            <a:spAutoFit/>
          </a:bodyPr>
          <a:lstStyle/>
          <a:p>
            <a:pPr algn="l">
              <a:spcAft>
                <a:spcPts val="400"/>
              </a:spcAft>
            </a:pPr>
            <a:r>
              <a:rPr sz="1150" b="0">
                <a:solidFill>
                  <a:srgbClr val="161B26"/>
                </a:solidFill>
                <a:latin typeface="Arial"/>
              </a:rPr>
              <a:t>Thank</a:t>
            </a:r>
          </a:p>
        </p:txBody>
      </p:sp>
      <p:sp>
        <p:nvSpPr>
          <p:cNvPr id="45" name="Rectangle 44"/>
          <p:cNvSpPr/>
          <p:nvPr/>
        </p:nvSpPr>
        <p:spPr>
          <a:xfrm>
            <a:off x="5243717" y="4617720"/>
            <a:ext cx="6167993" cy="7086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371733" y="4617720"/>
            <a:ext cx="5948537" cy="708660"/>
          </a:xfrm>
          <a:prstGeom prst="rect">
            <a:avLst/>
          </a:prstGeom>
          <a:noFill/>
        </p:spPr>
        <p:txBody>
          <a:bodyPr wrap="square" anchor="ctr">
            <a:spAutoFit/>
          </a:bodyPr>
          <a:lstStyle/>
          <a:p>
            <a:pPr algn="l">
              <a:spcAft>
                <a:spcPts val="400"/>
              </a:spcAft>
            </a:pPr>
            <a:r>
              <a:rPr sz="1150" b="0">
                <a:solidFill>
                  <a:srgbClr val="161B26"/>
                </a:solidFill>
                <a:latin typeface="Arial"/>
              </a:rPr>
              <a:t>The problem is fixed — and surfacing it is treated as a favour.</a:t>
            </a:r>
          </a:p>
        </p:txBody>
      </p:sp>
      <p:sp>
        <p:nvSpPr>
          <p:cNvPr id="47" name="Rectangle 46"/>
          <p:cNvSpPr/>
          <p:nvPr/>
        </p:nvSpPr>
        <p:spPr>
          <a:xfrm>
            <a:off x="777240" y="5326380"/>
            <a:ext cx="850757" cy="7086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5326380"/>
            <a:ext cx="631301" cy="708660"/>
          </a:xfrm>
          <a:prstGeom prst="rect">
            <a:avLst/>
          </a:prstGeom>
          <a:noFill/>
        </p:spPr>
        <p:txBody>
          <a:bodyPr wrap="square" anchor="ctr">
            <a:spAutoFit/>
          </a:bodyPr>
          <a:lstStyle/>
          <a:p>
            <a:pPr algn="l">
              <a:spcAft>
                <a:spcPts val="400"/>
              </a:spcAft>
            </a:pPr>
            <a:r>
              <a:rPr sz="1150" b="1">
                <a:solidFill>
                  <a:srgbClr val="161B26"/>
                </a:solidFill>
                <a:latin typeface="Arial"/>
              </a:rPr>
              <a:t>5</a:t>
            </a:r>
          </a:p>
        </p:txBody>
      </p:sp>
      <p:sp>
        <p:nvSpPr>
          <p:cNvPr id="49" name="Rectangle 48"/>
          <p:cNvSpPr/>
          <p:nvPr/>
        </p:nvSpPr>
        <p:spPr>
          <a:xfrm>
            <a:off x="1627997" y="5326380"/>
            <a:ext cx="1807860" cy="7086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756013" y="5326380"/>
            <a:ext cx="1588404" cy="708660"/>
          </a:xfrm>
          <a:prstGeom prst="rect">
            <a:avLst/>
          </a:prstGeom>
          <a:noFill/>
        </p:spPr>
        <p:txBody>
          <a:bodyPr wrap="square" anchor="ctr">
            <a:spAutoFit/>
          </a:bodyPr>
          <a:lstStyle/>
          <a:p>
            <a:pPr algn="l">
              <a:spcAft>
                <a:spcPts val="400"/>
              </a:spcAft>
            </a:pPr>
            <a:r>
              <a:rPr sz="1150" b="0">
                <a:solidFill>
                  <a:srgbClr val="161B26"/>
                </a:solidFill>
                <a:latin typeface="Arial"/>
              </a:rPr>
              <a:t>Diagnose</a:t>
            </a:r>
          </a:p>
        </p:txBody>
      </p:sp>
      <p:sp>
        <p:nvSpPr>
          <p:cNvPr id="51" name="Rectangle 50"/>
          <p:cNvSpPr/>
          <p:nvPr/>
        </p:nvSpPr>
        <p:spPr>
          <a:xfrm>
            <a:off x="3435857" y="5326380"/>
            <a:ext cx="1807860" cy="7086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563873" y="5326380"/>
            <a:ext cx="1588404" cy="708660"/>
          </a:xfrm>
          <a:prstGeom prst="rect">
            <a:avLst/>
          </a:prstGeom>
          <a:noFill/>
        </p:spPr>
        <p:txBody>
          <a:bodyPr wrap="square" anchor="ctr">
            <a:spAutoFit/>
          </a:bodyPr>
          <a:lstStyle/>
          <a:p>
            <a:pPr algn="l">
              <a:spcAft>
                <a:spcPts val="400"/>
              </a:spcAft>
            </a:pPr>
            <a:r>
              <a:rPr sz="1150" b="0">
                <a:solidFill>
                  <a:srgbClr val="161B26"/>
                </a:solidFill>
                <a:latin typeface="Arial"/>
              </a:rPr>
              <a:t>—</a:t>
            </a:r>
          </a:p>
        </p:txBody>
      </p:sp>
      <p:sp>
        <p:nvSpPr>
          <p:cNvPr id="53" name="Rectangle 52"/>
          <p:cNvSpPr/>
          <p:nvPr/>
        </p:nvSpPr>
        <p:spPr>
          <a:xfrm>
            <a:off x="5243717" y="5326380"/>
            <a:ext cx="6167993" cy="7086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371733" y="5326380"/>
            <a:ext cx="5948537" cy="708660"/>
          </a:xfrm>
          <a:prstGeom prst="rect">
            <a:avLst/>
          </a:prstGeom>
          <a:noFill/>
        </p:spPr>
        <p:txBody>
          <a:bodyPr wrap="square" anchor="ctr">
            <a:spAutoFit/>
          </a:bodyPr>
          <a:lstStyle/>
          <a:p>
            <a:pPr algn="l">
              <a:spcAft>
                <a:spcPts val="400"/>
              </a:spcAft>
            </a:pPr>
            <a:r>
              <a:rPr sz="1150" b="0">
                <a:solidFill>
                  <a:srgbClr val="161B26"/>
                </a:solidFill>
                <a:latin typeface="Arial"/>
              </a:rPr>
              <a:t>The root cause is closed so it cannot recur.</a:t>
            </a:r>
          </a:p>
        </p:txBody>
      </p:sp>
      <p:sp>
        <p:nvSpPr>
          <p:cNvPr id="55" name="TextBox 54"/>
          <p:cNvSpPr txBox="1"/>
          <p:nvPr/>
        </p:nvSpPr>
        <p:spPr>
          <a:xfrm>
            <a:off x="777240" y="6053328"/>
            <a:ext cx="10698480" cy="365760"/>
          </a:xfrm>
          <a:prstGeom prst="rect">
            <a:avLst/>
          </a:prstGeom>
          <a:noFill/>
        </p:spPr>
        <p:txBody>
          <a:bodyPr wrap="square" anchor="t">
            <a:spAutoFit/>
          </a:bodyPr>
          <a:lstStyle/>
          <a:p>
            <a:pPr algn="ctr">
              <a:spcAft>
                <a:spcPts val="400"/>
              </a:spcAft>
            </a:pPr>
            <a:r>
              <a:rPr sz="1300" b="0">
                <a:solidFill>
                  <a:srgbClr val="5B6372"/>
                </a:solidFill>
                <a:latin typeface="Arial"/>
              </a:rPr>
              <a:t>LAST is faster for a live counter or call; HEARD adds the Diagnose step that prevents the recurrence.</a:t>
            </a:r>
          </a:p>
        </p:txBody>
      </p:sp>
      <p:sp>
        <p:nvSpPr>
          <p:cNvPr id="56" name="TextBox 5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57" name="TextBox 5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8" name="TextBox 5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WHY A CORRECT FIX CAN STILL FAIL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Perceived Justice — What the Customer Is Actually Judging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487168" cy="3566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3566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6"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527048" y="1911095"/>
            <a:ext cx="1618488" cy="548640"/>
          </a:xfrm>
          <a:prstGeom prst="rect">
            <a:avLst/>
          </a:prstGeom>
          <a:noFill/>
        </p:spPr>
        <p:txBody>
          <a:bodyPr wrap="square" anchor="t">
            <a:spAutoFit/>
          </a:bodyPr>
          <a:lstStyle/>
          <a:p>
            <a:pPr algn="l">
              <a:spcAft>
                <a:spcPts val="400"/>
              </a:spcAft>
            </a:pPr>
            <a:r>
              <a:rPr sz="1350" b="1">
                <a:solidFill>
                  <a:srgbClr val="1F6FEB"/>
                </a:solidFill>
                <a:latin typeface="Arial"/>
              </a:rPr>
              <a:t>OUTCOME</a:t>
            </a:r>
          </a:p>
        </p:txBody>
      </p:sp>
      <p:sp>
        <p:nvSpPr>
          <p:cNvPr id="12" name="TextBox 11"/>
          <p:cNvSpPr txBox="1"/>
          <p:nvPr/>
        </p:nvSpPr>
        <p:spPr>
          <a:xfrm>
            <a:off x="1033272" y="2542032"/>
            <a:ext cx="1993392" cy="2651760"/>
          </a:xfrm>
          <a:prstGeom prst="rect">
            <a:avLst/>
          </a:prstGeom>
          <a:noFill/>
        </p:spPr>
        <p:txBody>
          <a:bodyPr wrap="square" anchor="t">
            <a:spAutoFit/>
          </a:bodyPr>
          <a:lstStyle/>
          <a:p>
            <a:pPr algn="l">
              <a:spcAft>
                <a:spcPts val="400"/>
              </a:spcAft>
            </a:pPr>
            <a:r>
              <a:rPr sz="1150" b="0">
                <a:solidFill>
                  <a:srgbClr val="161B26"/>
                </a:solidFill>
                <a:latin typeface="Arial"/>
              </a:rPr>
              <a:t>Did I get a fair result? The refund, the replacement, the fix. Usually the only part organisations measure.</a:t>
            </a:r>
          </a:p>
        </p:txBody>
      </p:sp>
      <p:sp>
        <p:nvSpPr>
          <p:cNvPr id="13" name="Rectangle 12"/>
          <p:cNvSpPr/>
          <p:nvPr/>
        </p:nvSpPr>
        <p:spPr>
          <a:xfrm>
            <a:off x="3520440" y="1783080"/>
            <a:ext cx="2487168" cy="3566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783080"/>
            <a:ext cx="82296" cy="3566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739896"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39896"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4270248" y="1911095"/>
            <a:ext cx="1618488" cy="548640"/>
          </a:xfrm>
          <a:prstGeom prst="rect">
            <a:avLst/>
          </a:prstGeom>
          <a:noFill/>
        </p:spPr>
        <p:txBody>
          <a:bodyPr wrap="square" anchor="t">
            <a:spAutoFit/>
          </a:bodyPr>
          <a:lstStyle/>
          <a:p>
            <a:pPr algn="l">
              <a:spcAft>
                <a:spcPts val="400"/>
              </a:spcAft>
            </a:pPr>
            <a:r>
              <a:rPr sz="1350" b="1">
                <a:solidFill>
                  <a:srgbClr val="10B981"/>
                </a:solidFill>
                <a:latin typeface="Arial"/>
              </a:rPr>
              <a:t>PROCESS</a:t>
            </a:r>
          </a:p>
        </p:txBody>
      </p:sp>
      <p:sp>
        <p:nvSpPr>
          <p:cNvPr id="18" name="TextBox 17"/>
          <p:cNvSpPr txBox="1"/>
          <p:nvPr/>
        </p:nvSpPr>
        <p:spPr>
          <a:xfrm>
            <a:off x="3776472" y="2542032"/>
            <a:ext cx="1993392" cy="2651760"/>
          </a:xfrm>
          <a:prstGeom prst="rect">
            <a:avLst/>
          </a:prstGeom>
          <a:noFill/>
        </p:spPr>
        <p:txBody>
          <a:bodyPr wrap="square" anchor="t">
            <a:spAutoFit/>
          </a:bodyPr>
          <a:lstStyle/>
          <a:p>
            <a:pPr algn="l">
              <a:spcAft>
                <a:spcPts val="400"/>
              </a:spcAft>
            </a:pPr>
            <a:r>
              <a:rPr sz="1150" b="0">
                <a:solidFill>
                  <a:srgbClr val="161B26"/>
                </a:solidFill>
                <a:latin typeface="Arial"/>
              </a:rPr>
              <a:t>Was it fair and reasonable to get there? How long, how many repeats, how many transfers.</a:t>
            </a:r>
          </a:p>
        </p:txBody>
      </p:sp>
      <p:sp>
        <p:nvSpPr>
          <p:cNvPr id="19" name="Rectangle 18"/>
          <p:cNvSpPr/>
          <p:nvPr/>
        </p:nvSpPr>
        <p:spPr>
          <a:xfrm>
            <a:off x="6263640" y="1783080"/>
            <a:ext cx="2487168" cy="3566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1783080"/>
            <a:ext cx="82296" cy="3566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83096"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83096"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7013448" y="1911095"/>
            <a:ext cx="1618488" cy="548640"/>
          </a:xfrm>
          <a:prstGeom prst="rect">
            <a:avLst/>
          </a:prstGeom>
          <a:noFill/>
        </p:spPr>
        <p:txBody>
          <a:bodyPr wrap="square" anchor="t">
            <a:spAutoFit/>
          </a:bodyPr>
          <a:lstStyle/>
          <a:p>
            <a:pPr algn="l">
              <a:spcAft>
                <a:spcPts val="400"/>
              </a:spcAft>
            </a:pPr>
            <a:r>
              <a:rPr sz="1350" b="1">
                <a:solidFill>
                  <a:srgbClr val="7C3AED"/>
                </a:solidFill>
                <a:latin typeface="Arial"/>
              </a:rPr>
              <a:t>TREATMENT</a:t>
            </a:r>
          </a:p>
        </p:txBody>
      </p:sp>
      <p:sp>
        <p:nvSpPr>
          <p:cNvPr id="24" name="TextBox 23"/>
          <p:cNvSpPr txBox="1"/>
          <p:nvPr/>
        </p:nvSpPr>
        <p:spPr>
          <a:xfrm>
            <a:off x="6519672" y="2542032"/>
            <a:ext cx="1993392" cy="2651760"/>
          </a:xfrm>
          <a:prstGeom prst="rect">
            <a:avLst/>
          </a:prstGeom>
          <a:noFill/>
        </p:spPr>
        <p:txBody>
          <a:bodyPr wrap="square" anchor="t">
            <a:spAutoFit/>
          </a:bodyPr>
          <a:lstStyle/>
          <a:p>
            <a:pPr algn="l">
              <a:spcAft>
                <a:spcPts val="400"/>
              </a:spcAft>
            </a:pPr>
            <a:r>
              <a:rPr sz="1150" b="0">
                <a:solidFill>
                  <a:srgbClr val="161B26"/>
                </a:solidFill>
                <a:latin typeface="Arial"/>
              </a:rPr>
              <a:t>Was I treated with respect and taken seriously? Often the part that decides whether they return.</a:t>
            </a:r>
          </a:p>
        </p:txBody>
      </p:sp>
      <p:sp>
        <p:nvSpPr>
          <p:cNvPr id="25" name="Rectangle 24"/>
          <p:cNvSpPr/>
          <p:nvPr/>
        </p:nvSpPr>
        <p:spPr>
          <a:xfrm>
            <a:off x="9006840" y="1783080"/>
            <a:ext cx="2487168" cy="3566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06840" y="1783080"/>
            <a:ext cx="82296" cy="35661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226296" y="19659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26296"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9" name="TextBox 28"/>
          <p:cNvSpPr txBox="1"/>
          <p:nvPr/>
        </p:nvSpPr>
        <p:spPr>
          <a:xfrm>
            <a:off x="9756648" y="1911095"/>
            <a:ext cx="1618488" cy="548640"/>
          </a:xfrm>
          <a:prstGeom prst="rect">
            <a:avLst/>
          </a:prstGeom>
          <a:noFill/>
        </p:spPr>
        <p:txBody>
          <a:bodyPr wrap="square" anchor="t">
            <a:spAutoFit/>
          </a:bodyPr>
          <a:lstStyle/>
          <a:p>
            <a:pPr algn="l">
              <a:spcAft>
                <a:spcPts val="400"/>
              </a:spcAft>
            </a:pPr>
            <a:r>
              <a:rPr sz="1350" b="1">
                <a:solidFill>
                  <a:srgbClr val="F59E0B"/>
                </a:solidFill>
                <a:latin typeface="Arial"/>
              </a:rPr>
              <a:t>THE TRAP</a:t>
            </a:r>
          </a:p>
        </p:txBody>
      </p:sp>
      <p:sp>
        <p:nvSpPr>
          <p:cNvPr id="30" name="TextBox 29"/>
          <p:cNvSpPr txBox="1"/>
          <p:nvPr/>
        </p:nvSpPr>
        <p:spPr>
          <a:xfrm>
            <a:off x="9262872" y="2542032"/>
            <a:ext cx="1993392" cy="2651760"/>
          </a:xfrm>
          <a:prstGeom prst="rect">
            <a:avLst/>
          </a:prstGeom>
          <a:noFill/>
        </p:spPr>
        <p:txBody>
          <a:bodyPr wrap="square" anchor="t">
            <a:spAutoFit/>
          </a:bodyPr>
          <a:lstStyle/>
          <a:p>
            <a:pPr algn="l">
              <a:spcAft>
                <a:spcPts val="400"/>
              </a:spcAft>
            </a:pPr>
            <a:r>
              <a:rPr sz="1150" b="0">
                <a:solidFill>
                  <a:srgbClr val="161B26"/>
                </a:solidFill>
                <a:latin typeface="Arial"/>
              </a:rPr>
              <a:t>Fix the outcome, fail the other two, and the customer still leaves — while your metrics show a resolved case.</a:t>
            </a:r>
          </a:p>
        </p:txBody>
      </p:sp>
      <p:sp>
        <p:nvSpPr>
          <p:cNvPr id="31" name="Rectangle 30"/>
          <p:cNvSpPr/>
          <p:nvPr/>
        </p:nvSpPr>
        <p:spPr>
          <a:xfrm>
            <a:off x="777240" y="553212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5532120"/>
            <a:ext cx="10195560" cy="822960"/>
          </a:xfrm>
          <a:prstGeom prst="rect">
            <a:avLst/>
          </a:prstGeom>
          <a:noFill/>
        </p:spPr>
        <p:txBody>
          <a:bodyPr wrap="square" anchor="ctr">
            <a:spAutoFit/>
          </a:bodyPr>
          <a:lstStyle/>
          <a:p>
            <a:pPr algn="l">
              <a:spcAft>
                <a:spcPts val="400"/>
              </a:spcAft>
            </a:pPr>
            <a:r>
              <a:rPr sz="1250" b="0">
                <a:solidFill>
                  <a:srgbClr val="161B26"/>
                </a:solidFill>
                <a:latin typeface="Arial"/>
              </a:rPr>
              <a:t>When you cannot change the outcome, process and treatment are still entirely within your control.</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COMMON GROUND · LIMITS · EMOTIONS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Managing Yourself in the Difficult Conversation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24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624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24128" y="1866900"/>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186690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9601200" cy="624840"/>
          </a:xfrm>
          <a:prstGeom prst="rect">
            <a:avLst/>
          </a:prstGeom>
          <a:noFill/>
        </p:spPr>
        <p:txBody>
          <a:bodyPr wrap="square" anchor="ctr">
            <a:spAutoFit/>
          </a:bodyPr>
          <a:lstStyle/>
          <a:p>
            <a:pPr algn="l">
              <a:spcAft>
                <a:spcPts val="200"/>
              </a:spcAft>
            </a:pPr>
            <a:r>
              <a:rPr sz="1400" b="1">
                <a:solidFill>
                  <a:srgbClr val="1F6FEB"/>
                </a:solidFill>
                <a:latin typeface="Arial"/>
              </a:rPr>
              <a:t>Establish common ground first</a:t>
            </a:r>
          </a:p>
          <a:p>
            <a:pPr algn="l">
              <a:spcAft>
                <a:spcPts val="200"/>
              </a:spcAft>
            </a:pPr>
            <a:r>
              <a:rPr sz="1150" b="0">
                <a:solidFill>
                  <a:srgbClr val="161B26"/>
                </a:solidFill>
                <a:latin typeface="Arial"/>
              </a:rPr>
              <a:t>'We both want this resolved fairly today' turns an opponent into a co-problem-solver.</a:t>
            </a:r>
          </a:p>
        </p:txBody>
      </p:sp>
      <p:sp>
        <p:nvSpPr>
          <p:cNvPr id="12" name="Rectangle 11"/>
          <p:cNvSpPr/>
          <p:nvPr/>
        </p:nvSpPr>
        <p:spPr>
          <a:xfrm>
            <a:off x="777240" y="2545080"/>
            <a:ext cx="10634472" cy="624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45080"/>
            <a:ext cx="82296" cy="624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4128" y="26289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262890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691640" y="2545080"/>
            <a:ext cx="9601200" cy="624840"/>
          </a:xfrm>
          <a:prstGeom prst="rect">
            <a:avLst/>
          </a:prstGeom>
          <a:noFill/>
        </p:spPr>
        <p:txBody>
          <a:bodyPr wrap="square" anchor="ctr">
            <a:spAutoFit/>
          </a:bodyPr>
          <a:lstStyle/>
          <a:p>
            <a:pPr algn="l">
              <a:spcAft>
                <a:spcPts val="200"/>
              </a:spcAft>
            </a:pPr>
            <a:r>
              <a:rPr sz="1400" b="1">
                <a:solidFill>
                  <a:srgbClr val="10B981"/>
                </a:solidFill>
                <a:latin typeface="Arial"/>
              </a:rPr>
              <a:t>Depersonalise</a:t>
            </a:r>
          </a:p>
          <a:p>
            <a:pPr algn="l">
              <a:spcAft>
                <a:spcPts val="200"/>
              </a:spcAft>
            </a:pPr>
            <a:r>
              <a:rPr sz="1150" b="0">
                <a:solidFill>
                  <a:srgbClr val="161B26"/>
                </a:solidFill>
                <a:latin typeface="Arial"/>
              </a:rPr>
              <a:t>They are angry at the situation and the company. Absorbing it as a personal attack costs you the next customer too.</a:t>
            </a:r>
          </a:p>
        </p:txBody>
      </p:sp>
      <p:sp>
        <p:nvSpPr>
          <p:cNvPr id="17" name="Rectangle 16"/>
          <p:cNvSpPr/>
          <p:nvPr/>
        </p:nvSpPr>
        <p:spPr>
          <a:xfrm>
            <a:off x="777240" y="3307080"/>
            <a:ext cx="10634472" cy="624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82296" cy="624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24128" y="33909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339090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691640" y="3307080"/>
            <a:ext cx="9601200" cy="624840"/>
          </a:xfrm>
          <a:prstGeom prst="rect">
            <a:avLst/>
          </a:prstGeom>
          <a:noFill/>
        </p:spPr>
        <p:txBody>
          <a:bodyPr wrap="square" anchor="ctr">
            <a:spAutoFit/>
          </a:bodyPr>
          <a:lstStyle/>
          <a:p>
            <a:pPr algn="l">
              <a:spcAft>
                <a:spcPts val="200"/>
              </a:spcAft>
            </a:pPr>
            <a:r>
              <a:rPr sz="1400" b="1">
                <a:solidFill>
                  <a:srgbClr val="7C3AED"/>
                </a:solidFill>
                <a:latin typeface="Arial"/>
              </a:rPr>
              <a:t>Control your physiology</a:t>
            </a:r>
          </a:p>
          <a:p>
            <a:pPr algn="l">
              <a:spcAft>
                <a:spcPts val="200"/>
              </a:spcAft>
            </a:pPr>
            <a:r>
              <a:rPr sz="1150" b="0">
                <a:solidFill>
                  <a:srgbClr val="161B26"/>
                </a:solidFill>
                <a:latin typeface="Arial"/>
              </a:rPr>
              <a:t>Slow the breath, slow the speech, drop the volume. Composure IS the de-escalation tool.</a:t>
            </a:r>
          </a:p>
        </p:txBody>
      </p:sp>
      <p:sp>
        <p:nvSpPr>
          <p:cNvPr id="22" name="Rectangle 21"/>
          <p:cNvSpPr/>
          <p:nvPr/>
        </p:nvSpPr>
        <p:spPr>
          <a:xfrm>
            <a:off x="777240" y="4069080"/>
            <a:ext cx="10634472" cy="624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69080"/>
            <a:ext cx="82296" cy="624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24128" y="41529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 y="415290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691640" y="4069080"/>
            <a:ext cx="9601200" cy="624840"/>
          </a:xfrm>
          <a:prstGeom prst="rect">
            <a:avLst/>
          </a:prstGeom>
          <a:noFill/>
        </p:spPr>
        <p:txBody>
          <a:bodyPr wrap="square" anchor="ctr">
            <a:spAutoFit/>
          </a:bodyPr>
          <a:lstStyle/>
          <a:p>
            <a:pPr algn="l">
              <a:spcAft>
                <a:spcPts val="200"/>
              </a:spcAft>
            </a:pPr>
            <a:r>
              <a:rPr sz="1400" b="1">
                <a:solidFill>
                  <a:srgbClr val="F59E0B"/>
                </a:solidFill>
                <a:latin typeface="Arial"/>
              </a:rPr>
              <a:t>Set limits once, calmly</a:t>
            </a:r>
          </a:p>
          <a:p>
            <a:pPr algn="l">
              <a:spcAft>
                <a:spcPts val="200"/>
              </a:spcAft>
            </a:pPr>
            <a:r>
              <a:rPr sz="1150" b="0">
                <a:solidFill>
                  <a:srgbClr val="161B26"/>
                </a:solidFill>
                <a:latin typeface="Arial"/>
              </a:rPr>
              <a:t>State clearly what you can and cannot do. Repeating it or defending it invites haggling.</a:t>
            </a:r>
          </a:p>
        </p:txBody>
      </p:sp>
      <p:sp>
        <p:nvSpPr>
          <p:cNvPr id="27" name="Rectangle 26"/>
          <p:cNvSpPr/>
          <p:nvPr/>
        </p:nvSpPr>
        <p:spPr>
          <a:xfrm>
            <a:off x="777240" y="4831080"/>
            <a:ext cx="10634472" cy="624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31080"/>
            <a:ext cx="82296" cy="624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24128" y="4914900"/>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4128" y="491490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691640" y="4831080"/>
            <a:ext cx="9601200" cy="624840"/>
          </a:xfrm>
          <a:prstGeom prst="rect">
            <a:avLst/>
          </a:prstGeom>
          <a:noFill/>
        </p:spPr>
        <p:txBody>
          <a:bodyPr wrap="square" anchor="ctr">
            <a:spAutoFit/>
          </a:bodyPr>
          <a:lstStyle/>
          <a:p>
            <a:pPr algn="l">
              <a:spcAft>
                <a:spcPts val="200"/>
              </a:spcAft>
            </a:pPr>
            <a:r>
              <a:rPr sz="1400" b="1">
                <a:solidFill>
                  <a:srgbClr val="1F6FEB"/>
                </a:solidFill>
                <a:latin typeface="Arial"/>
              </a:rPr>
              <a:t>Never haggle over a loss</a:t>
            </a:r>
          </a:p>
          <a:p>
            <a:pPr algn="l">
              <a:spcAft>
                <a:spcPts val="200"/>
              </a:spcAft>
            </a:pPr>
            <a:r>
              <a:rPr sz="1150" b="0">
                <a:solidFill>
                  <a:srgbClr val="161B26"/>
                </a:solidFill>
                <a:latin typeface="Arial"/>
              </a:rPr>
              <a:t>Give the maximum you can authorise immediately, then escalate the rest openly and on their side.</a:t>
            </a:r>
          </a:p>
        </p:txBody>
      </p:sp>
      <p:sp>
        <p:nvSpPr>
          <p:cNvPr id="32" name="Rectangle 31"/>
          <p:cNvSpPr/>
          <p:nvPr/>
        </p:nvSpPr>
        <p:spPr>
          <a:xfrm>
            <a:off x="777240" y="5593080"/>
            <a:ext cx="10634472" cy="624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593080"/>
            <a:ext cx="82296" cy="624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24128" y="56769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24128" y="567690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36" name="TextBox 35"/>
          <p:cNvSpPr txBox="1"/>
          <p:nvPr/>
        </p:nvSpPr>
        <p:spPr>
          <a:xfrm>
            <a:off x="1691640" y="5593080"/>
            <a:ext cx="9601200" cy="624840"/>
          </a:xfrm>
          <a:prstGeom prst="rect">
            <a:avLst/>
          </a:prstGeom>
          <a:noFill/>
        </p:spPr>
        <p:txBody>
          <a:bodyPr wrap="square" anchor="ctr">
            <a:spAutoFit/>
          </a:bodyPr>
          <a:lstStyle/>
          <a:p>
            <a:pPr algn="l">
              <a:spcAft>
                <a:spcPts val="200"/>
              </a:spcAft>
            </a:pPr>
            <a:r>
              <a:rPr sz="1400" b="1">
                <a:solidFill>
                  <a:srgbClr val="10B981"/>
                </a:solidFill>
                <a:latin typeface="Arial"/>
              </a:rPr>
              <a:t>Close the loop afterwards</a:t>
            </a:r>
          </a:p>
          <a:p>
            <a:pPr algn="l">
              <a:spcAft>
                <a:spcPts val="200"/>
              </a:spcAft>
            </a:pPr>
            <a:r>
              <a:rPr sz="1150" b="0">
                <a:solidFill>
                  <a:srgbClr val="161B26"/>
                </a:solidFill>
                <a:latin typeface="Arial"/>
              </a:rPr>
              <a:t>Tell them what changed a week later. That single follow-up converts detractors.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CASE STUDY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8 — Service Recovery Under Pressure — The Wedding Catering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200" b="1">
                <a:solidFill>
                  <a:srgbClr val="FFFFFF"/>
                </a:solidFill>
                <a:latin typeface="Arial"/>
              </a:rPr>
              <a:t>ACTIVITY 8  ·  35 MIN</a:t>
            </a:r>
          </a:p>
        </p:txBody>
      </p:sp>
      <p:sp>
        <p:nvSpPr>
          <p:cNvPr id="9" name="Rectangle 8"/>
          <p:cNvSpPr/>
          <p:nvPr/>
        </p:nvSpPr>
        <p:spPr>
          <a:xfrm>
            <a:off x="777240" y="1783080"/>
            <a:ext cx="10634472" cy="3310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91440" cy="3310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190195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SCENARIO</a:t>
            </a:r>
          </a:p>
        </p:txBody>
      </p:sp>
      <p:sp>
        <p:nvSpPr>
          <p:cNvPr id="12" name="TextBox 11"/>
          <p:cNvSpPr txBox="1"/>
          <p:nvPr/>
        </p:nvSpPr>
        <p:spPr>
          <a:xfrm>
            <a:off x="1051560" y="2240280"/>
            <a:ext cx="10149840" cy="2743200"/>
          </a:xfrm>
          <a:prstGeom prst="rect">
            <a:avLst/>
          </a:prstGeom>
          <a:noFill/>
        </p:spPr>
        <p:txBody>
          <a:bodyPr wrap="square" anchor="t">
            <a:spAutoFit/>
          </a:bodyPr>
          <a:lstStyle/>
          <a:p>
            <a:pPr algn="l">
              <a:spcAft>
                <a:spcPts val="700"/>
              </a:spcAft>
            </a:pPr>
            <a:r>
              <a:rPr sz="1150" b="0">
                <a:solidFill>
                  <a:srgbClr val="161B26"/>
                </a:solidFill>
                <a:latin typeface="Arial"/>
              </a:rPr>
              <a:t>You are the Duty Manager for a Singapore catering company. Yesterday you catered a 200-guest wedding at a hotel ballroom in Novena. Three failures occurred: the vegetarian main course (40 portions, pre-ordered and confirmed in writing) was never loaded onto the truck; service started 35 minutes late; and the wedding cake was delivered with visible damage to one side.</a:t>
            </a:r>
          </a:p>
          <a:p>
            <a:pPr algn="l">
              <a:spcAft>
                <a:spcPts val="700"/>
              </a:spcAft>
            </a:pPr>
            <a:r>
              <a:rPr sz="1150" b="0">
                <a:solidFill>
                  <a:srgbClr val="161B26"/>
                </a:solidFill>
                <a:latin typeface="Arial"/>
              </a:rPr>
              <a:t>The bride's father, Mr Wong, paid S$18,400. He is in your office now. He has photographs. He has already posted a one-star review naming your company. He is demanding a full refund and says he will 'make sure nobody in Singapore uses you again'.</a:t>
            </a:r>
          </a:p>
          <a:p>
            <a:pPr algn="l">
              <a:spcAft>
                <a:spcPts val="700"/>
              </a:spcAft>
            </a:pPr>
            <a:r>
              <a:rPr sz="1150" b="0">
                <a:solidFill>
                  <a:srgbClr val="161B26"/>
                </a:solidFill>
                <a:latin typeface="Arial"/>
              </a:rPr>
              <a:t>What you know internally: the vegetarian order WAS in the system — the kitchen printed the run sheet before the final amendment was saved, a known gap flagged twice by kitchen staff and never fixed. Your authority extends to a 40% refund; anything beyond that needs the Director, who is contactable.</a:t>
            </a:r>
          </a:p>
        </p:txBody>
      </p:sp>
      <p:sp>
        <p:nvSpPr>
          <p:cNvPr id="13" name="Rectangle 12"/>
          <p:cNvSpPr/>
          <p:nvPr/>
        </p:nvSpPr>
        <p:spPr>
          <a:xfrm>
            <a:off x="777240" y="5230368"/>
            <a:ext cx="5230368" cy="676656"/>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230368"/>
            <a:ext cx="4846320" cy="676656"/>
          </a:xfrm>
          <a:prstGeom prst="rect">
            <a:avLst/>
          </a:prstGeom>
          <a:noFill/>
        </p:spPr>
        <p:txBody>
          <a:bodyPr wrap="square" anchor="ctr">
            <a:spAutoFit/>
          </a:bodyPr>
          <a:lstStyle/>
          <a:p>
            <a:pPr algn="l">
              <a:spcAft>
                <a:spcPts val="400"/>
              </a:spcAft>
            </a:pPr>
            <a:r>
              <a:rPr sz="1050" b="1">
                <a:solidFill>
                  <a:srgbClr val="1F6FEB"/>
                </a:solidFill>
                <a:latin typeface="Arial"/>
              </a:rPr>
              <a:t>FORMAT   </a:t>
            </a:r>
            <a:r>
              <a:rPr sz="1150" b="0">
                <a:solidFill>
                  <a:srgbClr val="161B26"/>
                </a:solidFill>
                <a:latin typeface="Arial"/>
              </a:rPr>
              <a:t>Role Play + Case Study</a:t>
            </a:r>
          </a:p>
        </p:txBody>
      </p:sp>
      <p:sp>
        <p:nvSpPr>
          <p:cNvPr id="15" name="Rectangle 14"/>
          <p:cNvSpPr/>
          <p:nvPr/>
        </p:nvSpPr>
        <p:spPr>
          <a:xfrm>
            <a:off x="6181344" y="5230368"/>
            <a:ext cx="5230368" cy="67665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9944" y="5230368"/>
            <a:ext cx="4846320" cy="676656"/>
          </a:xfrm>
          <a:prstGeom prst="rect">
            <a:avLst/>
          </a:prstGeom>
          <a:noFill/>
        </p:spPr>
        <p:txBody>
          <a:bodyPr wrap="square" anchor="ctr">
            <a:spAutoFit/>
          </a:bodyPr>
          <a:lstStyle/>
          <a:p>
            <a:pPr algn="l">
              <a:spcAft>
                <a:spcPts val="400"/>
              </a:spcAft>
            </a:pPr>
            <a:r>
              <a:rPr sz="1050" b="1">
                <a:solidFill>
                  <a:srgbClr val="16845B"/>
                </a:solidFill>
                <a:latin typeface="Arial"/>
              </a:rPr>
              <a:t>ROLES   </a:t>
            </a:r>
            <a:r>
              <a:rPr sz="1150" b="0">
                <a:solidFill>
                  <a:srgbClr val="161B26"/>
                </a:solidFill>
                <a:latin typeface="Arial"/>
              </a:rPr>
              <a:t>Pairs or trios. A = Duty Manager, B = Mr Wong, C = observer scoring against HEARD.</a:t>
            </a:r>
          </a:p>
        </p:txBody>
      </p:sp>
      <p:sp>
        <p:nvSpPr>
          <p:cNvPr id="17" name="TextBox 16"/>
          <p:cNvSpPr txBox="1"/>
          <p:nvPr/>
        </p:nvSpPr>
        <p:spPr>
          <a:xfrm>
            <a:off x="777240" y="5998464"/>
            <a:ext cx="10634472" cy="365760"/>
          </a:xfrm>
          <a:prstGeom prst="rect">
            <a:avLst/>
          </a:prstGeom>
          <a:noFill/>
        </p:spPr>
        <p:txBody>
          <a:bodyPr wrap="square" anchor="t">
            <a:spAutoFit/>
          </a:bodyPr>
          <a:lstStyle/>
          <a:p>
            <a:pPr algn="ctr">
              <a:spcAft>
                <a:spcPts val="400"/>
              </a:spcAft>
            </a:pPr>
            <a:r>
              <a:rPr sz="1100" b="0">
                <a:solidFill>
                  <a:srgbClr val="5B6372"/>
                </a:solidFill>
                <a:latin typeface="Arial"/>
              </a:rPr>
              <a:t>Full step-by-step instructions: Learner Guide, Activity 8  ·  Activities folder: activities/activity-08/</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08 · WORK IN YOUR GROUP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8 — Discussion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6217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90195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01952"/>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572768" y="1783080"/>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Apply HEARD to this case. Write what you would actually SAY at each of the five stages.</a:t>
            </a:r>
          </a:p>
        </p:txBody>
      </p:sp>
      <p:sp>
        <p:nvSpPr>
          <p:cNvPr id="12" name="Rectangle 11"/>
          <p:cNvSpPr/>
          <p:nvPr/>
        </p:nvSpPr>
        <p:spPr>
          <a:xfrm>
            <a:off x="777240" y="2532888"/>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32888"/>
            <a:ext cx="82296" cy="6217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2651760"/>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2651760"/>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572768" y="2532888"/>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You cannot undo the wedding. What are you actually recovering, and is recovery even possible here?</a:t>
            </a:r>
          </a:p>
        </p:txBody>
      </p:sp>
      <p:sp>
        <p:nvSpPr>
          <p:cNvPr id="17" name="Rectangle 16"/>
          <p:cNvSpPr/>
          <p:nvPr/>
        </p:nvSpPr>
        <p:spPr>
          <a:xfrm>
            <a:off x="777240" y="3282696"/>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282696"/>
            <a:ext cx="82296" cy="6217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3401568"/>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40156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572768" y="3282696"/>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Mr Wong demands a full refund; you can authorise 40%. How do you set that limit without sounding like you are haggling over his daughter's wedding?</a:t>
            </a:r>
          </a:p>
        </p:txBody>
      </p:sp>
      <p:sp>
        <p:nvSpPr>
          <p:cNvPr id="22" name="Rectangle 21"/>
          <p:cNvSpPr/>
          <p:nvPr/>
        </p:nvSpPr>
        <p:spPr>
          <a:xfrm>
            <a:off x="777240" y="4032504"/>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32504"/>
            <a:ext cx="82296" cy="6217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05840" y="4151376"/>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415137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572768" y="4032504"/>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The kitchen flagged the run-sheet gap twice and nothing was done. Do you tell Mr Wong that? Argue both sides.</a:t>
            </a:r>
          </a:p>
        </p:txBody>
      </p:sp>
      <p:sp>
        <p:nvSpPr>
          <p:cNvPr id="27" name="Rectangle 26"/>
          <p:cNvSpPr/>
          <p:nvPr/>
        </p:nvSpPr>
        <p:spPr>
          <a:xfrm>
            <a:off x="777240" y="4782312"/>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782312"/>
            <a:ext cx="82296" cy="6217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5840" y="490118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490118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1" name="TextBox 30"/>
          <p:cNvSpPr txBox="1"/>
          <p:nvPr/>
        </p:nvSpPr>
        <p:spPr>
          <a:xfrm>
            <a:off x="1572768" y="4782312"/>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Perceived justice has three parts — outcome, process and treatment. Which of the three can you still influence here?</a:t>
            </a:r>
          </a:p>
        </p:txBody>
      </p:sp>
      <p:sp>
        <p:nvSpPr>
          <p:cNvPr id="32" name="Rectangle 31"/>
          <p:cNvSpPr/>
          <p:nvPr/>
        </p:nvSpPr>
        <p:spPr>
          <a:xfrm>
            <a:off x="777240" y="5532120"/>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532120"/>
            <a:ext cx="82296" cy="6217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05840" y="5650992"/>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40" y="5650992"/>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572768" y="5532120"/>
            <a:ext cx="9692640" cy="621792"/>
          </a:xfrm>
          <a:prstGeom prst="rect">
            <a:avLst/>
          </a:prstGeom>
          <a:noFill/>
        </p:spPr>
        <p:txBody>
          <a:bodyPr wrap="square" anchor="ctr">
            <a:spAutoFit/>
          </a:bodyPr>
          <a:lstStyle/>
          <a:p>
            <a:pPr algn="l">
              <a:spcAft>
                <a:spcPts val="400"/>
              </a:spcAft>
            </a:pPr>
            <a:r>
              <a:rPr sz="1250" b="0">
                <a:solidFill>
                  <a:srgbClr val="161B26"/>
                </a:solidFill>
                <a:latin typeface="Arial"/>
              </a:rPr>
              <a:t>Design the process fix. What exactly changes so this cannot happen to the next customer?</a:t>
            </a:r>
          </a:p>
        </p:txBody>
      </p:sp>
      <p:sp>
        <p:nvSpPr>
          <p:cNvPr id="37" name="TextBox 36"/>
          <p:cNvSpPr txBox="1"/>
          <p:nvPr/>
        </p:nvSpPr>
        <p:spPr>
          <a:xfrm>
            <a:off x="777240" y="6272784"/>
            <a:ext cx="10634472" cy="256032"/>
          </a:xfrm>
          <a:prstGeom prst="rect">
            <a:avLst/>
          </a:prstGeom>
          <a:noFill/>
        </p:spPr>
        <p:txBody>
          <a:bodyPr wrap="square" anchor="t">
            <a:spAutoFit/>
          </a:bodyPr>
          <a:lstStyle/>
          <a:p>
            <a:pPr algn="ctr">
              <a:spcAft>
                <a:spcPts val="400"/>
              </a:spcAft>
            </a:pPr>
            <a:r>
              <a:rPr sz="1050" b="0">
                <a:solidFill>
                  <a:srgbClr val="5B6372"/>
                </a:solidFill>
                <a:latin typeface="Arial"/>
              </a:rPr>
              <a:t>35 minutes  ·  Pairs or trios. A = Duty Manager, B = Mr Wong, C = observer scoring against HEARD.</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6845B"/>
                </a:solidFill>
                <a:latin typeface="Arial"/>
              </a:rPr>
              <a:t>TOPIC 08 · WHAT GOOD LOOKS LIKE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8 — Debrief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HEARD in practice — Hear: let him show the photographs and finish, however long it takes. Empathize: 'this was your daughter's wedding and we damaged it' — name the actual loss, not 'the inconvenience'. Apologize: unconditional, no 'if' and no 'but'. Resolve: a concrete offer, now. Diagnose: the run-sheet gap, named to him as a real fix.</a:t>
            </a:r>
          </a:p>
        </p:txBody>
      </p:sp>
      <p:sp>
        <p:nvSpPr>
          <p:cNvPr id="10" name="Rectangle 9"/>
          <p:cNvSpPr/>
          <p:nvPr/>
        </p:nvSpPr>
        <p:spPr>
          <a:xfrm>
            <a:off x="777240" y="243840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43840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43840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What you are recovering is not the wedding — it is Mr Wong's standing. He chose this vendor and it failed in front of 200 guests including his extended family. The dignity loss is larger than the money.</a:t>
            </a:r>
          </a:p>
        </p:txBody>
      </p:sp>
      <p:sp>
        <p:nvSpPr>
          <p:cNvPr id="13" name="Rectangle 12"/>
          <p:cNvSpPr/>
          <p:nvPr/>
        </p:nvSpPr>
        <p:spPr>
          <a:xfrm>
            <a:off x="777240" y="309372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09372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309372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Setting the limit: never haggle. State the 40% as immediate and unconditional, then say you are taking the rest to the Director TODAY with your own recommendation, and give a time you will call back. Being on his side of the table is the move.</a:t>
            </a:r>
          </a:p>
        </p:txBody>
      </p:sp>
      <p:sp>
        <p:nvSpPr>
          <p:cNvPr id="16" name="Rectangle 15"/>
          <p:cNvSpPr/>
          <p:nvPr/>
        </p:nvSpPr>
        <p:spPr>
          <a:xfrm>
            <a:off x="777240" y="374904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74904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374904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Disclosing the known gap: strong arguments both ways. Disclosing shows honesty and makes the fix credible; it also hands him evidence of negligence. Most groups land on acknowledging a 'known process gap we failed to close' without the detail that it was flagged twice — accurate, honest, not self-incriminating. There is no single right answer here and the discussion is the point.</a:t>
            </a:r>
          </a:p>
        </p:txBody>
      </p:sp>
      <p:sp>
        <p:nvSpPr>
          <p:cNvPr id="19" name="Rectangle 18"/>
          <p:cNvSpPr/>
          <p:nvPr/>
        </p:nvSpPr>
        <p:spPr>
          <a:xfrm>
            <a:off x="777240" y="440436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40436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440436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Outcome is largely fixed (money is all that is left). But PROCESS and TREATMENT are entirely still in your hands — and research on perceived justice says those two often matter more than the refund amount.</a:t>
            </a:r>
          </a:p>
        </p:txBody>
      </p:sp>
      <p:sp>
        <p:nvSpPr>
          <p:cNvPr id="22" name="Rectangle 21"/>
          <p:cNvSpPr/>
          <p:nvPr/>
        </p:nvSpPr>
        <p:spPr>
          <a:xfrm>
            <a:off x="777240" y="5059680"/>
            <a:ext cx="10634472" cy="55473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059680"/>
            <a:ext cx="82296" cy="554736"/>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5059680"/>
            <a:ext cx="10195560" cy="554736"/>
          </a:xfrm>
          <a:prstGeom prst="rect">
            <a:avLst/>
          </a:prstGeom>
          <a:noFill/>
        </p:spPr>
        <p:txBody>
          <a:bodyPr wrap="square" anchor="ctr">
            <a:spAutoFit/>
          </a:bodyPr>
          <a:lstStyle/>
          <a:p>
            <a:pPr algn="l">
              <a:spcAft>
                <a:spcPts val="400"/>
              </a:spcAft>
            </a:pPr>
            <a:r>
              <a:rPr sz="1150" b="0">
                <a:solidFill>
                  <a:srgbClr val="161B26"/>
                </a:solidFill>
                <a:latin typeface="Arial"/>
              </a:rPr>
              <a:t>The fix: lock the run sheet against the live order record at print time, or block printing until amendments are closed. Then close the loop — tell Mr Wong what changed, in writing, a week later. That last step is what converts a detractor.</a:t>
            </a:r>
          </a:p>
        </p:txBody>
      </p:sp>
      <p:sp>
        <p:nvSpPr>
          <p:cNvPr id="25" name="Rectangle 24"/>
          <p:cNvSpPr/>
          <p:nvPr/>
        </p:nvSpPr>
        <p:spPr>
          <a:xfrm>
            <a:off x="777240" y="574243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5742432"/>
            <a:ext cx="10195560" cy="566928"/>
          </a:xfrm>
          <a:prstGeom prst="rect">
            <a:avLst/>
          </a:prstGeom>
          <a:noFill/>
        </p:spPr>
        <p:txBody>
          <a:bodyPr wrap="square" anchor="ctr">
            <a:spAutoFit/>
          </a:bodyPr>
          <a:lstStyle/>
          <a:p>
            <a:pPr algn="l">
              <a:spcAft>
                <a:spcPts val="400"/>
              </a:spcAft>
            </a:pPr>
            <a:r>
              <a:rPr sz="1100" b="1">
                <a:solidFill>
                  <a:srgbClr val="10B981"/>
                </a:solidFill>
                <a:latin typeface="Arial"/>
              </a:rPr>
              <a:t>TEST IT   </a:t>
            </a:r>
            <a:r>
              <a:rPr sz="1150" b="0">
                <a:solidFill>
                  <a:srgbClr val="161B26"/>
                </a:solidFill>
                <a:latin typeface="Arial"/>
              </a:rPr>
              <a:t>All five HEARD stages were delivered, your apology contained no conditional words, you set the 40% limit once without haggling, and you produced a written process fix with an owner.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09</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Understanding When to Escalate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Functional vs hierarchical escalation · triggers · the three-strike rule · documentation · POHA</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09</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09  ·  LU2 · K3, A3 · 45 min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Topic 9 — Key Concepts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Escalation is a decision, not a failure</a:t>
            </a:r>
          </a:p>
          <a:p>
            <a:pPr algn="l">
              <a:spcAft>
                <a:spcPts val="300"/>
              </a:spcAft>
            </a:pPr>
            <a:r>
              <a:rPr sz="1100" b="0">
                <a:solidFill>
                  <a:srgbClr val="5B6372"/>
                </a:solidFill>
                <a:latin typeface="Arial"/>
              </a:rPr>
              <a:t>Handing over to the right authority or expertise faster is better service than struggling on alone.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Functional vs hierarchical</a:t>
            </a:r>
          </a:p>
          <a:p>
            <a:pPr algn="l">
              <a:spcAft>
                <a:spcPts val="300"/>
              </a:spcAft>
            </a:pPr>
            <a:r>
              <a:rPr sz="1100" b="0">
                <a:solidFill>
                  <a:srgbClr val="5B6372"/>
                </a:solidFill>
                <a:latin typeface="Arial"/>
              </a:rPr>
              <a:t>Functional escalation goes sideways to expertise; hierarchical escalation goes upward to authority.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Angry is not the same as abusive</a:t>
            </a:r>
          </a:p>
          <a:p>
            <a:pPr algn="l">
              <a:spcAft>
                <a:spcPts val="300"/>
              </a:spcAft>
            </a:pPr>
            <a:r>
              <a:rPr sz="1100" b="0">
                <a:solidFill>
                  <a:srgbClr val="5B6372"/>
                </a:solidFill>
                <a:latin typeface="Arial"/>
              </a:rPr>
              <a:t>An angry customer attacks the problem. An abusive customer attacks you — that line is the escalation trigger.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Know the trigger behaviours</a:t>
            </a:r>
          </a:p>
          <a:p>
            <a:pPr algn="l">
              <a:spcAft>
                <a:spcPts val="300"/>
              </a:spcAft>
            </a:pPr>
            <a:r>
              <a:rPr sz="1100" b="0">
                <a:solidFill>
                  <a:srgbClr val="5B6372"/>
                </a:solidFill>
                <a:latin typeface="Arial"/>
              </a:rPr>
              <a:t>Vulgarity, personal insults, discriminatory remarks, legal threats and any threat of physical harm.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three-strike rule</a:t>
            </a:r>
          </a:p>
          <a:p>
            <a:pPr algn="l">
              <a:spcAft>
                <a:spcPts val="300"/>
              </a:spcAft>
            </a:pPr>
            <a:r>
              <a:rPr sz="1100" b="0">
                <a:solidFill>
                  <a:srgbClr val="5B6372"/>
                </a:solidFill>
                <a:latin typeface="Arial"/>
              </a:rPr>
              <a:t>Two clear, calm warnings that the behaviour must stop, then escalate or end the interaction.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Singapore protects service staff</a:t>
            </a:r>
          </a:p>
          <a:p>
            <a:pPr algn="l">
              <a:spcAft>
                <a:spcPts val="300"/>
              </a:spcAft>
            </a:pPr>
            <a:r>
              <a:rPr sz="1100" b="0">
                <a:solidFill>
                  <a:srgbClr val="5B6372"/>
                </a:solidFill>
                <a:latin typeface="Arial"/>
              </a:rPr>
              <a:t>POHA 2014 criminalises workplace harassment; incidents can go to TAFEP or the police. Document everything.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ESCALATION THRESHOLD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Where the Line Is — Anger vs Abuse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scalation_ladder.png"/>
          <p:cNvPicPr>
            <a:picLocks noChangeAspect="1"/>
          </p:cNvPicPr>
          <p:nvPr/>
        </p:nvPicPr>
        <p:blipFill>
          <a:blip r:embed="rId2"/>
          <a:stretch>
            <a:fillRect/>
          </a:stretch>
        </p:blipFill>
        <p:spPr>
          <a:xfrm>
            <a:off x="777240" y="2342071"/>
            <a:ext cx="6583680" cy="3225418"/>
          </a:xfrm>
          <a:prstGeom prst="rect">
            <a:avLst/>
          </a:prstGeom>
        </p:spPr>
      </p:pic>
      <p:sp>
        <p:nvSpPr>
          <p:cNvPr id="8" name="Rectangle 7"/>
          <p:cNvSpPr/>
          <p:nvPr/>
        </p:nvSpPr>
        <p:spPr>
          <a:xfrm>
            <a:off x="7680960" y="1783080"/>
            <a:ext cx="373075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36992" y="1783080"/>
            <a:ext cx="3273552" cy="948690"/>
          </a:xfrm>
          <a:prstGeom prst="rect">
            <a:avLst/>
          </a:prstGeom>
          <a:noFill/>
        </p:spPr>
        <p:txBody>
          <a:bodyPr wrap="square" anchor="ctr">
            <a:spAutoFit/>
          </a:bodyPr>
          <a:lstStyle/>
          <a:p>
            <a:pPr algn="l">
              <a:spcAft>
                <a:spcPts val="200"/>
              </a:spcAft>
            </a:pPr>
            <a:r>
              <a:rPr sz="1400" b="1">
                <a:solidFill>
                  <a:srgbClr val="1F6FEB"/>
                </a:solidFill>
                <a:latin typeface="Arial"/>
              </a:rPr>
              <a:t>Anger attacks the problem</a:t>
            </a:r>
          </a:p>
          <a:p>
            <a:pPr algn="l">
              <a:spcAft>
                <a:spcPts val="200"/>
              </a:spcAft>
            </a:pPr>
            <a:r>
              <a:rPr sz="1200" b="0">
                <a:solidFill>
                  <a:srgbClr val="161B26"/>
                </a:solidFill>
                <a:latin typeface="Arial"/>
              </a:rPr>
              <a:t>Loud, frustrated, even rude about the situation — still serviceable.</a:t>
            </a:r>
          </a:p>
        </p:txBody>
      </p:sp>
      <p:sp>
        <p:nvSpPr>
          <p:cNvPr id="11" name="Rectangle 10"/>
          <p:cNvSpPr/>
          <p:nvPr/>
        </p:nvSpPr>
        <p:spPr>
          <a:xfrm>
            <a:off x="7680960" y="2914650"/>
            <a:ext cx="373075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36992" y="2914650"/>
            <a:ext cx="3273552" cy="948690"/>
          </a:xfrm>
          <a:prstGeom prst="rect">
            <a:avLst/>
          </a:prstGeom>
          <a:noFill/>
        </p:spPr>
        <p:txBody>
          <a:bodyPr wrap="square" anchor="ctr">
            <a:spAutoFit/>
          </a:bodyPr>
          <a:lstStyle/>
          <a:p>
            <a:pPr algn="l">
              <a:spcAft>
                <a:spcPts val="200"/>
              </a:spcAft>
            </a:pPr>
            <a:r>
              <a:rPr sz="1400" b="1">
                <a:solidFill>
                  <a:srgbClr val="10B981"/>
                </a:solidFill>
                <a:latin typeface="Arial"/>
              </a:rPr>
              <a:t>Abuse attacks the person</a:t>
            </a:r>
          </a:p>
          <a:p>
            <a:pPr algn="l">
              <a:spcAft>
                <a:spcPts val="200"/>
              </a:spcAft>
            </a:pPr>
            <a:r>
              <a:rPr sz="1200" b="0">
                <a:solidFill>
                  <a:srgbClr val="161B26"/>
                </a:solidFill>
                <a:latin typeface="Arial"/>
              </a:rPr>
              <a:t>Slurs, personal or discriminatory attacks. This is the threshold.</a:t>
            </a:r>
          </a:p>
        </p:txBody>
      </p:sp>
      <p:sp>
        <p:nvSpPr>
          <p:cNvPr id="14" name="Rectangle 13"/>
          <p:cNvSpPr/>
          <p:nvPr/>
        </p:nvSpPr>
        <p:spPr>
          <a:xfrm>
            <a:off x="7680960" y="4046220"/>
            <a:ext cx="373075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36992" y="4046220"/>
            <a:ext cx="3273552" cy="948690"/>
          </a:xfrm>
          <a:prstGeom prst="rect">
            <a:avLst/>
          </a:prstGeom>
          <a:noFill/>
        </p:spPr>
        <p:txBody>
          <a:bodyPr wrap="square" anchor="ctr">
            <a:spAutoFit/>
          </a:bodyPr>
          <a:lstStyle/>
          <a:p>
            <a:pPr algn="l">
              <a:spcAft>
                <a:spcPts val="200"/>
              </a:spcAft>
            </a:pPr>
            <a:r>
              <a:rPr sz="1400" b="1">
                <a:solidFill>
                  <a:srgbClr val="7C3AED"/>
                </a:solidFill>
                <a:latin typeface="Arial"/>
              </a:rPr>
              <a:t>Threats escalate instantly</a:t>
            </a:r>
          </a:p>
          <a:p>
            <a:pPr algn="l">
              <a:spcAft>
                <a:spcPts val="200"/>
              </a:spcAft>
            </a:pPr>
            <a:r>
              <a:rPr sz="1200" b="0">
                <a:solidFill>
                  <a:srgbClr val="161B26"/>
                </a:solidFill>
                <a:latin typeface="Arial"/>
              </a:rPr>
              <a:t>Legal threats go to a manager; physical threats end the interaction.</a:t>
            </a:r>
          </a:p>
        </p:txBody>
      </p:sp>
      <p:sp>
        <p:nvSpPr>
          <p:cNvPr id="17" name="Rectangle 16"/>
          <p:cNvSpPr/>
          <p:nvPr/>
        </p:nvSpPr>
        <p:spPr>
          <a:xfrm>
            <a:off x="7680960" y="5177790"/>
            <a:ext cx="373075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36992" y="5177790"/>
            <a:ext cx="3273552" cy="948690"/>
          </a:xfrm>
          <a:prstGeom prst="rect">
            <a:avLst/>
          </a:prstGeom>
          <a:noFill/>
        </p:spPr>
        <p:txBody>
          <a:bodyPr wrap="square" anchor="ctr">
            <a:spAutoFit/>
          </a:bodyPr>
          <a:lstStyle/>
          <a:p>
            <a:pPr algn="l">
              <a:spcAft>
                <a:spcPts val="200"/>
              </a:spcAft>
            </a:pPr>
            <a:r>
              <a:rPr sz="1400" b="1">
                <a:solidFill>
                  <a:srgbClr val="F59E0B"/>
                </a:solidFill>
                <a:latin typeface="Arial"/>
              </a:rPr>
              <a:t>Do not wait to feel unsafe</a:t>
            </a:r>
          </a:p>
          <a:p>
            <a:pPr algn="l">
              <a:spcAft>
                <a:spcPts val="200"/>
              </a:spcAft>
            </a:pPr>
            <a:r>
              <a:rPr sz="1200" b="0">
                <a:solidFill>
                  <a:srgbClr val="161B26"/>
                </a:solidFill>
                <a:latin typeface="Arial"/>
              </a:rPr>
              <a:t>If you wait for physical fear, you have already served through the abuse.</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K3 · THE ESCALATION DECISION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Two Kinds of Escalation — Know Which One You Need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30368" cy="393192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30368" cy="38404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783080"/>
            <a:ext cx="4754880" cy="384048"/>
          </a:xfrm>
          <a:prstGeom prst="rect">
            <a:avLst/>
          </a:prstGeom>
          <a:noFill/>
        </p:spPr>
        <p:txBody>
          <a:bodyPr wrap="square" anchor="ctr">
            <a:spAutoFit/>
          </a:bodyPr>
          <a:lstStyle/>
          <a:p>
            <a:pPr algn="l">
              <a:spcAft>
                <a:spcPts val="400"/>
              </a:spcAft>
            </a:pPr>
            <a:r>
              <a:rPr sz="1350" b="1">
                <a:solidFill>
                  <a:srgbClr val="FFFFFF"/>
                </a:solidFill>
                <a:latin typeface="Arial"/>
              </a:rPr>
              <a:t>FUNCTIONAL (sideways)</a:t>
            </a:r>
          </a:p>
        </p:txBody>
      </p:sp>
      <p:sp>
        <p:nvSpPr>
          <p:cNvPr id="10" name="Rectangle 9"/>
          <p:cNvSpPr/>
          <p:nvPr/>
        </p:nvSpPr>
        <p:spPr>
          <a:xfrm>
            <a:off x="6181344" y="1783080"/>
            <a:ext cx="5230368" cy="39319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81344" y="1783080"/>
            <a:ext cx="5230368" cy="38404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9944" y="1783080"/>
            <a:ext cx="4754880" cy="384048"/>
          </a:xfrm>
          <a:prstGeom prst="rect">
            <a:avLst/>
          </a:prstGeom>
          <a:noFill/>
        </p:spPr>
        <p:txBody>
          <a:bodyPr wrap="square" anchor="ctr">
            <a:spAutoFit/>
          </a:bodyPr>
          <a:lstStyle/>
          <a:p>
            <a:pPr algn="l">
              <a:spcAft>
                <a:spcPts val="400"/>
              </a:spcAft>
            </a:pPr>
            <a:r>
              <a:rPr sz="1350" b="1">
                <a:solidFill>
                  <a:srgbClr val="FFFFFF"/>
                </a:solidFill>
                <a:latin typeface="Arial"/>
              </a:rPr>
              <a:t>HIERARCHICAL (upward)</a:t>
            </a:r>
          </a:p>
        </p:txBody>
      </p:sp>
      <p:sp>
        <p:nvSpPr>
          <p:cNvPr id="13" name="TextBox 12"/>
          <p:cNvSpPr txBox="1"/>
          <p:nvPr/>
        </p:nvSpPr>
        <p:spPr>
          <a:xfrm>
            <a:off x="1005840" y="2331720"/>
            <a:ext cx="4800600" cy="3246120"/>
          </a:xfrm>
          <a:prstGeom prst="rect">
            <a:avLst/>
          </a:prstGeom>
          <a:noFill/>
        </p:spPr>
        <p:txBody>
          <a:bodyPr wrap="square">
            <a:spAutoFit/>
          </a:bodyPr>
          <a:lstStyle/>
          <a:p>
            <a:pPr>
              <a:spcAft>
                <a:spcPts val="900"/>
              </a:spcAft>
            </a:pPr>
            <a:r>
              <a:rPr sz="1300" b="0">
                <a:solidFill>
                  <a:srgbClr val="161B26"/>
                </a:solidFill>
                <a:latin typeface="Arial"/>
              </a:rPr>
              <a:t>•  The issue needs EXPERTISE you do not have.</a:t>
            </a:r>
          </a:p>
          <a:p>
            <a:pPr>
              <a:spcAft>
                <a:spcPts val="900"/>
              </a:spcAft>
            </a:pPr>
            <a:r>
              <a:rPr sz="1300" b="0">
                <a:solidFill>
                  <a:srgbClr val="161B26"/>
                </a:solidFill>
                <a:latin typeface="Arial"/>
              </a:rPr>
              <a:t>•  Technical faults, billing calculations, specialist products.</a:t>
            </a:r>
          </a:p>
          <a:p>
            <a:pPr>
              <a:spcAft>
                <a:spcPts val="900"/>
              </a:spcAft>
            </a:pPr>
            <a:r>
              <a:rPr sz="1300" b="0">
                <a:solidFill>
                  <a:srgbClr val="161B26"/>
                </a:solidFill>
                <a:latin typeface="Arial"/>
              </a:rPr>
              <a:t>•  Goes to a specialist team, not up the hierarchy.</a:t>
            </a:r>
          </a:p>
          <a:p>
            <a:pPr>
              <a:spcAft>
                <a:spcPts val="900"/>
              </a:spcAft>
            </a:pPr>
            <a:r>
              <a:rPr sz="1300" b="0">
                <a:solidFill>
                  <a:srgbClr val="161B26"/>
                </a:solidFill>
                <a:latin typeface="Arial"/>
              </a:rPr>
              <a:t>•  The customer is reasonable — the problem is hard.</a:t>
            </a:r>
          </a:p>
          <a:p>
            <a:pPr>
              <a:spcAft>
                <a:spcPts val="900"/>
              </a:spcAft>
            </a:pPr>
            <a:r>
              <a:rPr sz="1300" b="0">
                <a:solidFill>
                  <a:srgbClr val="161B26"/>
                </a:solidFill>
                <a:latin typeface="Arial"/>
              </a:rPr>
              <a:t>•  Introduce the specialist and hand over the context.</a:t>
            </a:r>
          </a:p>
        </p:txBody>
      </p:sp>
      <p:sp>
        <p:nvSpPr>
          <p:cNvPr id="14" name="TextBox 13"/>
          <p:cNvSpPr txBox="1"/>
          <p:nvPr/>
        </p:nvSpPr>
        <p:spPr>
          <a:xfrm>
            <a:off x="6409944" y="2331720"/>
            <a:ext cx="4800600" cy="3246120"/>
          </a:xfrm>
          <a:prstGeom prst="rect">
            <a:avLst/>
          </a:prstGeom>
          <a:noFill/>
        </p:spPr>
        <p:txBody>
          <a:bodyPr wrap="square">
            <a:spAutoFit/>
          </a:bodyPr>
          <a:lstStyle/>
          <a:p>
            <a:pPr>
              <a:spcAft>
                <a:spcPts val="900"/>
              </a:spcAft>
            </a:pPr>
            <a:r>
              <a:rPr sz="1300" b="0">
                <a:solidFill>
                  <a:srgbClr val="161B26"/>
                </a:solidFill>
                <a:latin typeface="Arial"/>
              </a:rPr>
              <a:t>•  The issue needs AUTHORITY you do not have.</a:t>
            </a:r>
          </a:p>
          <a:p>
            <a:pPr>
              <a:spcAft>
                <a:spcPts val="900"/>
              </a:spcAft>
            </a:pPr>
            <a:r>
              <a:rPr sz="1300" b="0">
                <a:solidFill>
                  <a:srgbClr val="161B26"/>
                </a:solidFill>
                <a:latin typeface="Arial"/>
              </a:rPr>
              <a:t>•  Goodwill beyond your limit, policy exceptions, abuse.</a:t>
            </a:r>
          </a:p>
          <a:p>
            <a:pPr>
              <a:spcAft>
                <a:spcPts val="900"/>
              </a:spcAft>
            </a:pPr>
            <a:r>
              <a:rPr sz="1300" b="0">
                <a:solidFill>
                  <a:srgbClr val="161B26"/>
                </a:solidFill>
                <a:latin typeface="Arial"/>
              </a:rPr>
              <a:t>•  Goes to a supervisor or duty manager.</a:t>
            </a:r>
          </a:p>
          <a:p>
            <a:pPr>
              <a:spcAft>
                <a:spcPts val="900"/>
              </a:spcAft>
            </a:pPr>
            <a:r>
              <a:rPr sz="1300" b="0">
                <a:solidFill>
                  <a:srgbClr val="161B26"/>
                </a:solidFill>
                <a:latin typeface="Arial"/>
              </a:rPr>
              <a:t>•  The problem may be simple — your mandate is the constraint.</a:t>
            </a:r>
          </a:p>
          <a:p>
            <a:pPr>
              <a:spcAft>
                <a:spcPts val="900"/>
              </a:spcAft>
            </a:pPr>
            <a:r>
              <a:rPr sz="1300" b="0">
                <a:solidFill>
                  <a:srgbClr val="161B26"/>
                </a:solidFill>
                <a:latin typeface="Arial"/>
              </a:rPr>
              <a:t>•  Brief your supervisor before they meet the customer.</a:t>
            </a:r>
          </a:p>
        </p:txBody>
      </p:sp>
      <p:sp>
        <p:nvSpPr>
          <p:cNvPr id="15" name="Rectangle 14"/>
          <p:cNvSpPr/>
          <p:nvPr/>
        </p:nvSpPr>
        <p:spPr>
          <a:xfrm>
            <a:off x="777240" y="580644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806440"/>
            <a:ext cx="10195560" cy="566928"/>
          </a:xfrm>
          <a:prstGeom prst="rect">
            <a:avLst/>
          </a:prstGeom>
          <a:noFill/>
        </p:spPr>
        <p:txBody>
          <a:bodyPr wrap="square" anchor="ctr">
            <a:spAutoFit/>
          </a:bodyPr>
          <a:lstStyle/>
          <a:p>
            <a:pPr algn="l">
              <a:spcAft>
                <a:spcPts val="400"/>
              </a:spcAft>
            </a:pPr>
            <a:r>
              <a:rPr sz="1250" b="0">
                <a:solidFill>
                  <a:srgbClr val="161B26"/>
                </a:solidFill>
                <a:latin typeface="Arial"/>
              </a:rPr>
              <a:t>Same customer and same complaint can need either route — diagnose whether you are short of expertise or short of authority.</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626"/>
                </a:solidFill>
                <a:latin typeface="Arial"/>
              </a:rPr>
              <a:t>SETTING AND HOLDING THE BOUNDARY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Three-Strike Rule in Practice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24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624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24128" y="1866900"/>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186690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91640" y="1783080"/>
            <a:ext cx="9601200" cy="624840"/>
          </a:xfrm>
          <a:prstGeom prst="rect">
            <a:avLst/>
          </a:prstGeom>
          <a:noFill/>
        </p:spPr>
        <p:txBody>
          <a:bodyPr wrap="square" anchor="ctr">
            <a:spAutoFit/>
          </a:bodyPr>
          <a:lstStyle/>
          <a:p>
            <a:pPr algn="l">
              <a:spcAft>
                <a:spcPts val="200"/>
              </a:spcAft>
            </a:pPr>
            <a:r>
              <a:rPr sz="1400" b="1">
                <a:solidFill>
                  <a:srgbClr val="1F6FEB"/>
                </a:solidFill>
                <a:latin typeface="Arial"/>
              </a:rPr>
              <a:t>Warning one — name the behaviour</a:t>
            </a:r>
          </a:p>
          <a:p>
            <a:pPr algn="l">
              <a:spcAft>
                <a:spcPts val="200"/>
              </a:spcAft>
            </a:pPr>
            <a:r>
              <a:rPr sz="1150" b="0">
                <a:solidFill>
                  <a:srgbClr val="161B26"/>
                </a:solidFill>
                <a:latin typeface="Arial"/>
              </a:rPr>
              <a:t>'I want to help you with this, but I can't continue if you speak to me that way.' Calm, specific, never sarcastic.</a:t>
            </a:r>
          </a:p>
        </p:txBody>
      </p:sp>
      <p:sp>
        <p:nvSpPr>
          <p:cNvPr id="12" name="Rectangle 11"/>
          <p:cNvSpPr/>
          <p:nvPr/>
        </p:nvSpPr>
        <p:spPr>
          <a:xfrm>
            <a:off x="777240" y="2545080"/>
            <a:ext cx="10634472" cy="624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45080"/>
            <a:ext cx="82296" cy="624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4128" y="26289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262890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691640" y="2545080"/>
            <a:ext cx="9601200" cy="624840"/>
          </a:xfrm>
          <a:prstGeom prst="rect">
            <a:avLst/>
          </a:prstGeom>
          <a:noFill/>
        </p:spPr>
        <p:txBody>
          <a:bodyPr wrap="square" anchor="ctr">
            <a:spAutoFit/>
          </a:bodyPr>
          <a:lstStyle/>
          <a:p>
            <a:pPr algn="l">
              <a:spcAft>
                <a:spcPts val="200"/>
              </a:spcAft>
            </a:pPr>
            <a:r>
              <a:rPr sz="1400" b="1">
                <a:solidFill>
                  <a:srgbClr val="10B981"/>
                </a:solidFill>
                <a:latin typeface="Arial"/>
              </a:rPr>
              <a:t>Warning two — state the consequence</a:t>
            </a:r>
          </a:p>
          <a:p>
            <a:pPr algn="l">
              <a:spcAft>
                <a:spcPts val="200"/>
              </a:spcAft>
            </a:pPr>
            <a:r>
              <a:rPr sz="1150" b="0">
                <a:solidFill>
                  <a:srgbClr val="161B26"/>
                </a:solidFill>
                <a:latin typeface="Arial"/>
              </a:rPr>
              <a:t>'If that continues I'll need to hand this to my supervisor and end our conversation.'</a:t>
            </a:r>
          </a:p>
        </p:txBody>
      </p:sp>
      <p:sp>
        <p:nvSpPr>
          <p:cNvPr id="17" name="Rectangle 16"/>
          <p:cNvSpPr/>
          <p:nvPr/>
        </p:nvSpPr>
        <p:spPr>
          <a:xfrm>
            <a:off x="777240" y="3307080"/>
            <a:ext cx="10634472" cy="624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82296" cy="624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24128" y="33909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339090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691640" y="3307080"/>
            <a:ext cx="9601200" cy="624840"/>
          </a:xfrm>
          <a:prstGeom prst="rect">
            <a:avLst/>
          </a:prstGeom>
          <a:noFill/>
        </p:spPr>
        <p:txBody>
          <a:bodyPr wrap="square" anchor="ctr">
            <a:spAutoFit/>
          </a:bodyPr>
          <a:lstStyle/>
          <a:p>
            <a:pPr algn="l">
              <a:spcAft>
                <a:spcPts val="200"/>
              </a:spcAft>
            </a:pPr>
            <a:r>
              <a:rPr sz="1400" b="1">
                <a:solidFill>
                  <a:srgbClr val="7C3AED"/>
                </a:solidFill>
                <a:latin typeface="Arial"/>
              </a:rPr>
              <a:t>Act on it</a:t>
            </a:r>
          </a:p>
          <a:p>
            <a:pPr algn="l">
              <a:spcAft>
                <a:spcPts val="200"/>
              </a:spcAft>
            </a:pPr>
            <a:r>
              <a:rPr sz="1150" b="0">
                <a:solidFill>
                  <a:srgbClr val="161B26"/>
                </a:solidFill>
                <a:latin typeface="Arial"/>
              </a:rPr>
              <a:t>Escalate or end. A warning you do not act on teaches the customer that the boundary is fictional.</a:t>
            </a:r>
          </a:p>
        </p:txBody>
      </p:sp>
      <p:sp>
        <p:nvSpPr>
          <p:cNvPr id="22" name="Rectangle 21"/>
          <p:cNvSpPr/>
          <p:nvPr/>
        </p:nvSpPr>
        <p:spPr>
          <a:xfrm>
            <a:off x="777240" y="4069080"/>
            <a:ext cx="10634472" cy="624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69080"/>
            <a:ext cx="82296" cy="624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24128" y="41529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 y="415290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691640" y="4069080"/>
            <a:ext cx="9601200" cy="624840"/>
          </a:xfrm>
          <a:prstGeom prst="rect">
            <a:avLst/>
          </a:prstGeom>
          <a:noFill/>
        </p:spPr>
        <p:txBody>
          <a:bodyPr wrap="square" anchor="ctr">
            <a:spAutoFit/>
          </a:bodyPr>
          <a:lstStyle/>
          <a:p>
            <a:pPr algn="l">
              <a:spcAft>
                <a:spcPts val="200"/>
              </a:spcAft>
            </a:pPr>
            <a:r>
              <a:rPr sz="1400" b="1">
                <a:solidFill>
                  <a:srgbClr val="F59E0B"/>
                </a:solidFill>
                <a:latin typeface="Arial"/>
              </a:rPr>
              <a:t>Immediate escalation overrides</a:t>
            </a:r>
          </a:p>
          <a:p>
            <a:pPr algn="l">
              <a:spcAft>
                <a:spcPts val="200"/>
              </a:spcAft>
            </a:pPr>
            <a:r>
              <a:rPr sz="1150" b="0">
                <a:solidFill>
                  <a:srgbClr val="161B26"/>
                </a:solidFill>
                <a:latin typeface="Arial"/>
              </a:rPr>
              <a:t>Slurs, discriminatory abuse and any physical threat skip the warnings entirely.</a:t>
            </a:r>
          </a:p>
        </p:txBody>
      </p:sp>
      <p:sp>
        <p:nvSpPr>
          <p:cNvPr id="27" name="Rectangle 26"/>
          <p:cNvSpPr/>
          <p:nvPr/>
        </p:nvSpPr>
        <p:spPr>
          <a:xfrm>
            <a:off x="777240" y="4831080"/>
            <a:ext cx="10634472" cy="624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31080"/>
            <a:ext cx="82296" cy="624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24128" y="4914900"/>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4128" y="491490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691640" y="4831080"/>
            <a:ext cx="9601200" cy="624840"/>
          </a:xfrm>
          <a:prstGeom prst="rect">
            <a:avLst/>
          </a:prstGeom>
          <a:noFill/>
        </p:spPr>
        <p:txBody>
          <a:bodyPr wrap="square" anchor="ctr">
            <a:spAutoFit/>
          </a:bodyPr>
          <a:lstStyle/>
          <a:p>
            <a:pPr algn="l">
              <a:spcAft>
                <a:spcPts val="200"/>
              </a:spcAft>
            </a:pPr>
            <a:r>
              <a:rPr sz="1400" b="1">
                <a:solidFill>
                  <a:srgbClr val="1F6FEB"/>
                </a:solidFill>
                <a:latin typeface="Arial"/>
              </a:rPr>
              <a:t>Withdraw properly</a:t>
            </a:r>
          </a:p>
          <a:p>
            <a:pPr algn="l">
              <a:spcAft>
                <a:spcPts val="200"/>
              </a:spcAft>
            </a:pPr>
            <a:r>
              <a:rPr sz="1150" b="0">
                <a:solidFill>
                  <a:srgbClr val="161B26"/>
                </a:solidFill>
                <a:latin typeface="Arial"/>
              </a:rPr>
              <a:t>Hand over in front of the customer, then physically step away. Do not keep serving after escalating.</a:t>
            </a:r>
          </a:p>
        </p:txBody>
      </p:sp>
      <p:sp>
        <p:nvSpPr>
          <p:cNvPr id="32" name="Rectangle 31"/>
          <p:cNvSpPr/>
          <p:nvPr/>
        </p:nvSpPr>
        <p:spPr>
          <a:xfrm>
            <a:off x="777240" y="5593080"/>
            <a:ext cx="10634472" cy="624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593080"/>
            <a:ext cx="82296" cy="624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24128" y="56769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24128" y="567690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36" name="TextBox 35"/>
          <p:cNvSpPr txBox="1"/>
          <p:nvPr/>
        </p:nvSpPr>
        <p:spPr>
          <a:xfrm>
            <a:off x="1691640" y="5593080"/>
            <a:ext cx="9601200" cy="624840"/>
          </a:xfrm>
          <a:prstGeom prst="rect">
            <a:avLst/>
          </a:prstGeom>
          <a:noFill/>
        </p:spPr>
        <p:txBody>
          <a:bodyPr wrap="square" anchor="ctr">
            <a:spAutoFit/>
          </a:bodyPr>
          <a:lstStyle/>
          <a:p>
            <a:pPr algn="l">
              <a:spcAft>
                <a:spcPts val="200"/>
              </a:spcAft>
            </a:pPr>
            <a:r>
              <a:rPr sz="1400" b="1">
                <a:solidFill>
                  <a:srgbClr val="10B981"/>
                </a:solidFill>
                <a:latin typeface="Arial"/>
              </a:rPr>
              <a:t>Document verbatim</a:t>
            </a:r>
          </a:p>
          <a:p>
            <a:pPr algn="l">
              <a:spcAft>
                <a:spcPts val="200"/>
              </a:spcAft>
            </a:pPr>
            <a:r>
              <a:rPr sz="1150" b="0">
                <a:solidFill>
                  <a:srgbClr val="161B26"/>
                </a:solidFill>
                <a:latin typeface="Arial"/>
              </a:rPr>
              <a:t>Date, time, exact words, witnesses, CCTV reference. Paraphrase destroys the evidence.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 ARE NOT REQUIRED TO ABSORB ABUSE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Your Legal Protection in Singapore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1216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6959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695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POHA 2014</a:t>
            </a:r>
          </a:p>
          <a:p>
            <a:pPr algn="l">
              <a:spcAft>
                <a:spcPts val="300"/>
              </a:spcAft>
            </a:pPr>
            <a:r>
              <a:rPr sz="1100" b="0">
                <a:solidFill>
                  <a:srgbClr val="5B6372"/>
                </a:solidFill>
                <a:latin typeface="Arial"/>
              </a:rPr>
              <a:t>The Protection from Harassment Act criminalises harassment, including abuse of workers at work.</a:t>
            </a:r>
          </a:p>
        </p:txBody>
      </p:sp>
      <p:sp>
        <p:nvSpPr>
          <p:cNvPr id="12" name="Rectangle 11"/>
          <p:cNvSpPr/>
          <p:nvPr/>
        </p:nvSpPr>
        <p:spPr>
          <a:xfrm>
            <a:off x="6231636" y="1783080"/>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1216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06959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0695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TAFEP</a:t>
            </a:r>
          </a:p>
          <a:p>
            <a:pPr algn="l">
              <a:spcAft>
                <a:spcPts val="300"/>
              </a:spcAft>
            </a:pPr>
            <a:r>
              <a:rPr sz="1100" b="0">
                <a:solidFill>
                  <a:srgbClr val="5B6372"/>
                </a:solidFill>
                <a:latin typeface="Arial"/>
              </a:rPr>
              <a:t>The Tripartite Alliance for Fair &amp; Progressive Employment Practices takes workplace harassment reports.</a:t>
            </a:r>
          </a:p>
        </p:txBody>
      </p:sp>
      <p:sp>
        <p:nvSpPr>
          <p:cNvPr id="17" name="Rectangle 16"/>
          <p:cNvSpPr/>
          <p:nvPr/>
        </p:nvSpPr>
        <p:spPr>
          <a:xfrm>
            <a:off x="777240" y="3142488"/>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142488"/>
            <a:ext cx="91440" cy="11216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42900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42900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70504"/>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Police report</a:t>
            </a:r>
          </a:p>
          <a:p>
            <a:pPr algn="l">
              <a:spcAft>
                <a:spcPts val="300"/>
              </a:spcAft>
            </a:pPr>
            <a:r>
              <a:rPr sz="1100" b="0">
                <a:solidFill>
                  <a:srgbClr val="5B6372"/>
                </a:solidFill>
                <a:latin typeface="Arial"/>
              </a:rPr>
              <a:t>Threats of violence and serious harassment are criminal matters, not service problems.</a:t>
            </a:r>
          </a:p>
        </p:txBody>
      </p:sp>
      <p:sp>
        <p:nvSpPr>
          <p:cNvPr id="22" name="Rectangle 21"/>
          <p:cNvSpPr/>
          <p:nvPr/>
        </p:nvSpPr>
        <p:spPr>
          <a:xfrm>
            <a:off x="6231636" y="3142488"/>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142488"/>
            <a:ext cx="91440" cy="11216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42900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42900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270504"/>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Employer duty</a:t>
            </a:r>
          </a:p>
          <a:p>
            <a:pPr algn="l">
              <a:spcAft>
                <a:spcPts val="300"/>
              </a:spcAft>
            </a:pPr>
            <a:r>
              <a:rPr sz="1100" b="0">
                <a:solidFill>
                  <a:srgbClr val="5B6372"/>
                </a:solidFill>
                <a:latin typeface="Arial"/>
              </a:rPr>
              <a:t>Your employer is responsible for providing a workplace safe from harassment.</a:t>
            </a:r>
          </a:p>
        </p:txBody>
      </p:sp>
      <p:sp>
        <p:nvSpPr>
          <p:cNvPr id="27" name="Rectangle 26"/>
          <p:cNvSpPr/>
          <p:nvPr/>
        </p:nvSpPr>
        <p:spPr>
          <a:xfrm>
            <a:off x="777240" y="4501896"/>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501896"/>
            <a:ext cx="91440" cy="11216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78840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7884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629912"/>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Documentation is evidence</a:t>
            </a:r>
          </a:p>
          <a:p>
            <a:pPr algn="l">
              <a:spcAft>
                <a:spcPts val="300"/>
              </a:spcAft>
            </a:pPr>
            <a:r>
              <a:rPr sz="1100" b="0">
                <a:solidFill>
                  <a:srgbClr val="5B6372"/>
                </a:solidFill>
                <a:latin typeface="Arial"/>
              </a:rPr>
              <a:t>Verbatim wording, times and witnesses are what any report will turn on.</a:t>
            </a:r>
          </a:p>
        </p:txBody>
      </p:sp>
      <p:sp>
        <p:nvSpPr>
          <p:cNvPr id="32" name="Rectangle 31"/>
          <p:cNvSpPr/>
          <p:nvPr/>
        </p:nvSpPr>
        <p:spPr>
          <a:xfrm>
            <a:off x="6231636" y="4501896"/>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501896"/>
            <a:ext cx="91440" cy="11216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78840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7884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629912"/>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Aftercare is not optional</a:t>
            </a:r>
          </a:p>
          <a:p>
            <a:pPr algn="l">
              <a:spcAft>
                <a:spcPts val="300"/>
              </a:spcAft>
            </a:pPr>
            <a:r>
              <a:rPr sz="1100" b="0">
                <a:solidFill>
                  <a:srgbClr val="5B6372"/>
                </a:solidFill>
                <a:latin typeface="Arial"/>
              </a:rPr>
              <a:t>A break, a supervisor debrief and a next-day follow-up after an abusive incident.</a:t>
            </a:r>
          </a:p>
        </p:txBody>
      </p:sp>
      <p:sp>
        <p:nvSpPr>
          <p:cNvPr id="37" name="Rectangle 36"/>
          <p:cNvSpPr/>
          <p:nvPr/>
        </p:nvSpPr>
        <p:spPr>
          <a:xfrm>
            <a:off x="777240" y="5779008"/>
            <a:ext cx="10634472"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779008"/>
            <a:ext cx="10195560" cy="603504"/>
          </a:xfrm>
          <a:prstGeom prst="rect">
            <a:avLst/>
          </a:prstGeom>
          <a:noFill/>
        </p:spPr>
        <p:txBody>
          <a:bodyPr wrap="square" anchor="ctr">
            <a:spAutoFit/>
          </a:bodyPr>
          <a:lstStyle/>
          <a:p>
            <a:pPr algn="l">
              <a:spcAft>
                <a:spcPts val="400"/>
              </a:spcAft>
            </a:pPr>
            <a:r>
              <a:rPr sz="1250" b="0">
                <a:solidFill>
                  <a:srgbClr val="161B26"/>
                </a:solidFill>
                <a:latin typeface="Arial"/>
              </a:rPr>
              <a:t>'It's part of the job' is not the standard. Singapore law explicitly protects public-facing workers.</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09 · CASE STUDY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9 — Drawing the Line — Escalation and Abuse at a Service Counter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200" b="1">
                <a:solidFill>
                  <a:srgbClr val="FFFFFF"/>
                </a:solidFill>
                <a:latin typeface="Arial"/>
              </a:rPr>
              <a:t>ACTIVITY 9  ·  30 MIN</a:t>
            </a:r>
          </a:p>
        </p:txBody>
      </p:sp>
      <p:sp>
        <p:nvSpPr>
          <p:cNvPr id="9" name="Rectangle 8"/>
          <p:cNvSpPr/>
          <p:nvPr/>
        </p:nvSpPr>
        <p:spPr>
          <a:xfrm>
            <a:off x="777240" y="1783080"/>
            <a:ext cx="10634472" cy="3310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91440" cy="3310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1901952"/>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SCENARIO</a:t>
            </a:r>
          </a:p>
        </p:txBody>
      </p:sp>
      <p:sp>
        <p:nvSpPr>
          <p:cNvPr id="12" name="TextBox 11"/>
          <p:cNvSpPr txBox="1"/>
          <p:nvPr/>
        </p:nvSpPr>
        <p:spPr>
          <a:xfrm>
            <a:off x="1051560" y="2240280"/>
            <a:ext cx="10149840" cy="2743200"/>
          </a:xfrm>
          <a:prstGeom prst="rect">
            <a:avLst/>
          </a:prstGeom>
          <a:noFill/>
        </p:spPr>
        <p:txBody>
          <a:bodyPr wrap="square" anchor="t">
            <a:spAutoFit/>
          </a:bodyPr>
          <a:lstStyle/>
          <a:p>
            <a:pPr algn="l">
              <a:spcAft>
                <a:spcPts val="700"/>
              </a:spcAft>
            </a:pPr>
            <a:r>
              <a:rPr sz="1150" b="0">
                <a:solidFill>
                  <a:srgbClr val="161B26"/>
                </a:solidFill>
                <a:latin typeface="Arial"/>
              </a:rPr>
              <a:t>You are a service officer at a telco flagship store on Orchard Road. Mr Douglas Teo is disputing a S$680 roaming bill from a trip to Australia. He says he was never told data roaming was not included. The account notes show a confirmation SMS was sent and opened. The charge is valid under the contract.</a:t>
            </a:r>
          </a:p>
          <a:p>
            <a:pPr algn="l">
              <a:spcAft>
                <a:spcPts val="700"/>
              </a:spcAft>
            </a:pPr>
            <a:r>
              <a:rPr sz="1150" b="0">
                <a:solidFill>
                  <a:srgbClr val="161B26"/>
                </a:solidFill>
                <a:latin typeface="Arial"/>
              </a:rPr>
              <a:t>The interaction escalates over 8 minutes:
  0:00  He raises his voice: 'This is daylight robbery.'  
  2:00  'Are you stupid? Can you even read English?'  
  4:00  He calls you an offensive name related to your race.  
  5:30  'I'm going to CASE, and I'll have your job. What's your full name and NRIC?'  
  7:00  He steps behind the counter line, moves within arm's reach, and points a finger in your face.</a:t>
            </a:r>
          </a:p>
          <a:p>
            <a:pPr algn="l">
              <a:spcAft>
                <a:spcPts val="700"/>
              </a:spcAft>
            </a:pPr>
            <a:r>
              <a:rPr sz="1150" b="0">
                <a:solidFill>
                  <a:srgbClr val="161B26"/>
                </a:solidFill>
                <a:latin typeface="Arial"/>
              </a:rPr>
              <a:t>Other customers are present. Your supervisor is on the shop floor. There is a duress button under the counter and CCTV covering the area.</a:t>
            </a:r>
          </a:p>
        </p:txBody>
      </p:sp>
      <p:sp>
        <p:nvSpPr>
          <p:cNvPr id="13" name="Rectangle 12"/>
          <p:cNvSpPr/>
          <p:nvPr/>
        </p:nvSpPr>
        <p:spPr>
          <a:xfrm>
            <a:off x="777240" y="5230368"/>
            <a:ext cx="5230368" cy="676656"/>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230368"/>
            <a:ext cx="4846320" cy="676656"/>
          </a:xfrm>
          <a:prstGeom prst="rect">
            <a:avLst/>
          </a:prstGeom>
          <a:noFill/>
        </p:spPr>
        <p:txBody>
          <a:bodyPr wrap="square" anchor="ctr">
            <a:spAutoFit/>
          </a:bodyPr>
          <a:lstStyle/>
          <a:p>
            <a:pPr algn="l">
              <a:spcAft>
                <a:spcPts val="400"/>
              </a:spcAft>
            </a:pPr>
            <a:r>
              <a:rPr sz="1050" b="1">
                <a:solidFill>
                  <a:srgbClr val="1F6FEB"/>
                </a:solidFill>
                <a:latin typeface="Arial"/>
              </a:rPr>
              <a:t>FORMAT   </a:t>
            </a:r>
            <a:r>
              <a:rPr sz="1150" b="0">
                <a:solidFill>
                  <a:srgbClr val="161B26"/>
                </a:solidFill>
                <a:latin typeface="Arial"/>
              </a:rPr>
              <a:t>Role Play + Decision Exercise</a:t>
            </a:r>
          </a:p>
        </p:txBody>
      </p:sp>
      <p:sp>
        <p:nvSpPr>
          <p:cNvPr id="15" name="Rectangle 14"/>
          <p:cNvSpPr/>
          <p:nvPr/>
        </p:nvSpPr>
        <p:spPr>
          <a:xfrm>
            <a:off x="6181344" y="5230368"/>
            <a:ext cx="5230368" cy="676656"/>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9944" y="5230368"/>
            <a:ext cx="4846320" cy="676656"/>
          </a:xfrm>
          <a:prstGeom prst="rect">
            <a:avLst/>
          </a:prstGeom>
          <a:noFill/>
        </p:spPr>
        <p:txBody>
          <a:bodyPr wrap="square" anchor="ctr">
            <a:spAutoFit/>
          </a:bodyPr>
          <a:lstStyle/>
          <a:p>
            <a:pPr algn="l">
              <a:spcAft>
                <a:spcPts val="400"/>
              </a:spcAft>
            </a:pPr>
            <a:r>
              <a:rPr sz="1050" b="1">
                <a:solidFill>
                  <a:srgbClr val="16845B"/>
                </a:solidFill>
                <a:latin typeface="Arial"/>
              </a:rPr>
              <a:t>ROLES   </a:t>
            </a:r>
            <a:r>
              <a:rPr sz="1150" b="0">
                <a:solidFill>
                  <a:srgbClr val="161B26"/>
                </a:solidFill>
                <a:latin typeface="Arial"/>
              </a:rPr>
              <a:t>Trios. A = Service Officer, B = Mr Teo (trainer may play this role), C = supervisor/observer.</a:t>
            </a:r>
          </a:p>
        </p:txBody>
      </p:sp>
      <p:sp>
        <p:nvSpPr>
          <p:cNvPr id="17" name="TextBox 16"/>
          <p:cNvSpPr txBox="1"/>
          <p:nvPr/>
        </p:nvSpPr>
        <p:spPr>
          <a:xfrm>
            <a:off x="777240" y="5998464"/>
            <a:ext cx="10634472" cy="365760"/>
          </a:xfrm>
          <a:prstGeom prst="rect">
            <a:avLst/>
          </a:prstGeom>
          <a:noFill/>
        </p:spPr>
        <p:txBody>
          <a:bodyPr wrap="square" anchor="t">
            <a:spAutoFit/>
          </a:bodyPr>
          <a:lstStyle/>
          <a:p>
            <a:pPr algn="ctr">
              <a:spcAft>
                <a:spcPts val="400"/>
              </a:spcAft>
            </a:pPr>
            <a:r>
              <a:rPr sz="1100" b="0">
                <a:solidFill>
                  <a:srgbClr val="5B6372"/>
                </a:solidFill>
                <a:latin typeface="Arial"/>
              </a:rPr>
              <a:t>Full step-by-step instructions: Learner Guide, Activity 9  ·  Activities folder: activities/activity-09/</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09 · WORK IN YOUR GROUP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9 — Discussion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146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5146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848394"/>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84839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572768" y="1783080"/>
            <a:ext cx="9692640" cy="514676"/>
          </a:xfrm>
          <a:prstGeom prst="rect">
            <a:avLst/>
          </a:prstGeom>
          <a:noFill/>
        </p:spPr>
        <p:txBody>
          <a:bodyPr wrap="square" anchor="ctr">
            <a:spAutoFit/>
          </a:bodyPr>
          <a:lstStyle/>
          <a:p>
            <a:pPr algn="l">
              <a:spcAft>
                <a:spcPts val="400"/>
              </a:spcAft>
            </a:pPr>
            <a:r>
              <a:rPr sz="1250" b="0">
                <a:solidFill>
                  <a:srgbClr val="161B26"/>
                </a:solidFill>
                <a:latin typeface="Arial"/>
              </a:rPr>
              <a:t>Go through the timeline. At each timestamp, classify the behaviour as ANGRY or ABUSIVE. Where exactly is the line?</a:t>
            </a:r>
          </a:p>
        </p:txBody>
      </p:sp>
      <p:sp>
        <p:nvSpPr>
          <p:cNvPr id="12" name="Rectangle 11"/>
          <p:cNvSpPr/>
          <p:nvPr/>
        </p:nvSpPr>
        <p:spPr>
          <a:xfrm>
            <a:off x="777240" y="2425772"/>
            <a:ext cx="10634472" cy="5146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25772"/>
            <a:ext cx="82296" cy="5146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2491086"/>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249108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572768" y="2425772"/>
            <a:ext cx="9692640" cy="514676"/>
          </a:xfrm>
          <a:prstGeom prst="rect">
            <a:avLst/>
          </a:prstGeom>
          <a:noFill/>
        </p:spPr>
        <p:txBody>
          <a:bodyPr wrap="square" anchor="ctr">
            <a:spAutoFit/>
          </a:bodyPr>
          <a:lstStyle/>
          <a:p>
            <a:pPr algn="l">
              <a:spcAft>
                <a:spcPts val="400"/>
              </a:spcAft>
            </a:pPr>
            <a:r>
              <a:rPr sz="1250" b="0">
                <a:solidFill>
                  <a:srgbClr val="161B26"/>
                </a:solidFill>
                <a:latin typeface="Arial"/>
              </a:rPr>
              <a:t>Which timestamp is the point of no return — where continuing to serve is the wrong decision? Justify it.</a:t>
            </a:r>
          </a:p>
        </p:txBody>
      </p:sp>
      <p:sp>
        <p:nvSpPr>
          <p:cNvPr id="17" name="Rectangle 16"/>
          <p:cNvSpPr/>
          <p:nvPr/>
        </p:nvSpPr>
        <p:spPr>
          <a:xfrm>
            <a:off x="777240" y="3068464"/>
            <a:ext cx="10634472" cy="5146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68464"/>
            <a:ext cx="82296" cy="51467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40" y="3133778"/>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133778"/>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572768" y="3068464"/>
            <a:ext cx="9692640" cy="514676"/>
          </a:xfrm>
          <a:prstGeom prst="rect">
            <a:avLst/>
          </a:prstGeom>
          <a:noFill/>
        </p:spPr>
        <p:txBody>
          <a:bodyPr wrap="square" anchor="ctr">
            <a:spAutoFit/>
          </a:bodyPr>
          <a:lstStyle/>
          <a:p>
            <a:pPr algn="l">
              <a:spcAft>
                <a:spcPts val="400"/>
              </a:spcAft>
            </a:pPr>
            <a:r>
              <a:rPr sz="1250" b="0">
                <a:solidFill>
                  <a:srgbClr val="161B26"/>
                </a:solidFill>
                <a:latin typeface="Arial"/>
              </a:rPr>
              <a:t>Apply the three-strike rule to this timeline. What are your two warnings, word for word?</a:t>
            </a:r>
          </a:p>
        </p:txBody>
      </p:sp>
      <p:sp>
        <p:nvSpPr>
          <p:cNvPr id="22" name="Rectangle 21"/>
          <p:cNvSpPr/>
          <p:nvPr/>
        </p:nvSpPr>
        <p:spPr>
          <a:xfrm>
            <a:off x="777240" y="3711156"/>
            <a:ext cx="10634472" cy="5146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11156"/>
            <a:ext cx="82296" cy="5146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05840" y="3776470"/>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3776470"/>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572768" y="3711156"/>
            <a:ext cx="9692640" cy="514676"/>
          </a:xfrm>
          <a:prstGeom prst="rect">
            <a:avLst/>
          </a:prstGeom>
          <a:noFill/>
        </p:spPr>
        <p:txBody>
          <a:bodyPr wrap="square" anchor="ctr">
            <a:spAutoFit/>
          </a:bodyPr>
          <a:lstStyle/>
          <a:p>
            <a:pPr algn="l">
              <a:spcAft>
                <a:spcPts val="400"/>
              </a:spcAft>
            </a:pPr>
            <a:r>
              <a:rPr sz="1250" b="0">
                <a:solidFill>
                  <a:srgbClr val="161B26"/>
                </a:solidFill>
                <a:latin typeface="Arial"/>
              </a:rPr>
              <a:t>Is this functional escalation or hierarchical escalation? Would your answer change if the dispute were technical rather than behavioural?</a:t>
            </a:r>
          </a:p>
        </p:txBody>
      </p:sp>
      <p:sp>
        <p:nvSpPr>
          <p:cNvPr id="27" name="Rectangle 26"/>
          <p:cNvSpPr/>
          <p:nvPr/>
        </p:nvSpPr>
        <p:spPr>
          <a:xfrm>
            <a:off x="777240" y="4353848"/>
            <a:ext cx="10634472" cy="5146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353848"/>
            <a:ext cx="82296" cy="5146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5840" y="4419162"/>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4419162"/>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1" name="TextBox 30"/>
          <p:cNvSpPr txBox="1"/>
          <p:nvPr/>
        </p:nvSpPr>
        <p:spPr>
          <a:xfrm>
            <a:off x="1572768" y="4353848"/>
            <a:ext cx="9692640" cy="514676"/>
          </a:xfrm>
          <a:prstGeom prst="rect">
            <a:avLst/>
          </a:prstGeom>
          <a:noFill/>
        </p:spPr>
        <p:txBody>
          <a:bodyPr wrap="square" anchor="ctr">
            <a:spAutoFit/>
          </a:bodyPr>
          <a:lstStyle/>
          <a:p>
            <a:pPr algn="l">
              <a:spcAft>
                <a:spcPts val="400"/>
              </a:spcAft>
            </a:pPr>
            <a:r>
              <a:rPr sz="1250" b="0">
                <a:solidFill>
                  <a:srgbClr val="161B26"/>
                </a:solidFill>
                <a:latin typeface="Arial"/>
              </a:rPr>
              <a:t>He demands your full name and NRIC. What are you obliged to give, and what are you not?</a:t>
            </a:r>
          </a:p>
        </p:txBody>
      </p:sp>
      <p:sp>
        <p:nvSpPr>
          <p:cNvPr id="32" name="Rectangle 31"/>
          <p:cNvSpPr/>
          <p:nvPr/>
        </p:nvSpPr>
        <p:spPr>
          <a:xfrm>
            <a:off x="777240" y="4996540"/>
            <a:ext cx="10634472" cy="5146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4996540"/>
            <a:ext cx="82296" cy="5146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05840" y="5061854"/>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40" y="5061854"/>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36" name="TextBox 35"/>
          <p:cNvSpPr txBox="1"/>
          <p:nvPr/>
        </p:nvSpPr>
        <p:spPr>
          <a:xfrm>
            <a:off x="1572768" y="4996540"/>
            <a:ext cx="9692640" cy="514676"/>
          </a:xfrm>
          <a:prstGeom prst="rect">
            <a:avLst/>
          </a:prstGeom>
          <a:noFill/>
        </p:spPr>
        <p:txBody>
          <a:bodyPr wrap="square" anchor="ctr">
            <a:spAutoFit/>
          </a:bodyPr>
          <a:lstStyle/>
          <a:p>
            <a:pPr algn="l">
              <a:spcAft>
                <a:spcPts val="400"/>
              </a:spcAft>
            </a:pPr>
            <a:r>
              <a:rPr sz="1250" b="0">
                <a:solidFill>
                  <a:srgbClr val="161B26"/>
                </a:solidFill>
                <a:latin typeface="Arial"/>
              </a:rPr>
              <a:t>At 7:00 he is within arm's reach and pointing at your face. What do you do in the next 5 seconds, in order?</a:t>
            </a:r>
          </a:p>
        </p:txBody>
      </p:sp>
      <p:sp>
        <p:nvSpPr>
          <p:cNvPr id="37" name="Rectangle 36"/>
          <p:cNvSpPr/>
          <p:nvPr/>
        </p:nvSpPr>
        <p:spPr>
          <a:xfrm>
            <a:off x="777240" y="5639232"/>
            <a:ext cx="10634472" cy="5146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639232"/>
            <a:ext cx="82296" cy="51467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05840" y="5704546"/>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5704546"/>
            <a:ext cx="384048" cy="384048"/>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41" name="TextBox 40"/>
          <p:cNvSpPr txBox="1"/>
          <p:nvPr/>
        </p:nvSpPr>
        <p:spPr>
          <a:xfrm>
            <a:off x="1572768" y="5639232"/>
            <a:ext cx="9692640" cy="514676"/>
          </a:xfrm>
          <a:prstGeom prst="rect">
            <a:avLst/>
          </a:prstGeom>
          <a:noFill/>
        </p:spPr>
        <p:txBody>
          <a:bodyPr wrap="square" anchor="ctr">
            <a:spAutoFit/>
          </a:bodyPr>
          <a:lstStyle/>
          <a:p>
            <a:pPr algn="l">
              <a:spcAft>
                <a:spcPts val="400"/>
              </a:spcAft>
            </a:pPr>
            <a:r>
              <a:rPr sz="1250" b="0">
                <a:solidFill>
                  <a:srgbClr val="161B26"/>
                </a:solidFill>
                <a:latin typeface="Arial"/>
              </a:rPr>
              <a:t>What must go into the incident report, and why does the exact wording he used need to be recorded verbatim?</a:t>
            </a:r>
          </a:p>
        </p:txBody>
      </p:sp>
      <p:sp>
        <p:nvSpPr>
          <p:cNvPr id="42" name="TextBox 41"/>
          <p:cNvSpPr txBox="1"/>
          <p:nvPr/>
        </p:nvSpPr>
        <p:spPr>
          <a:xfrm>
            <a:off x="777240" y="6272784"/>
            <a:ext cx="10634472" cy="256032"/>
          </a:xfrm>
          <a:prstGeom prst="rect">
            <a:avLst/>
          </a:prstGeom>
          <a:noFill/>
        </p:spPr>
        <p:txBody>
          <a:bodyPr wrap="square" anchor="t">
            <a:spAutoFit/>
          </a:bodyPr>
          <a:lstStyle/>
          <a:p>
            <a:pPr algn="ctr">
              <a:spcAft>
                <a:spcPts val="400"/>
              </a:spcAft>
            </a:pPr>
            <a:r>
              <a:rPr sz="1050" b="0">
                <a:solidFill>
                  <a:srgbClr val="5B6372"/>
                </a:solidFill>
                <a:latin typeface="Arial"/>
              </a:rPr>
              <a:t>30 minutes  ·  Trios. A = Service Officer, B = Mr Teo (trainer may play this role), C = supervisor/observer.</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6845B"/>
                </a:solidFill>
                <a:latin typeface="Arial"/>
              </a:rPr>
              <a:t>TOPIC 09 · WHAT GOOD LOOKS LIKE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9 — Debrief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6111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46111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195560" cy="461118"/>
          </a:xfrm>
          <a:prstGeom prst="rect">
            <a:avLst/>
          </a:prstGeom>
          <a:noFill/>
        </p:spPr>
        <p:txBody>
          <a:bodyPr wrap="square" anchor="ctr">
            <a:spAutoFit/>
          </a:bodyPr>
          <a:lstStyle/>
          <a:p>
            <a:pPr algn="l">
              <a:spcAft>
                <a:spcPts val="400"/>
              </a:spcAft>
            </a:pPr>
            <a:r>
              <a:rPr sz="1150" b="0">
                <a:solidFill>
                  <a:srgbClr val="161B26"/>
                </a:solidFill>
                <a:latin typeface="Arial"/>
              </a:rPr>
              <a:t>The line: 0:00 and 2:00 are anger directed at the situation and then at your competence — unpleasant but serviceable. 4:00 is the crossing point: a racial slur is abuse of the PERSON and is a criminal matter under POHA, not a service problem.</a:t>
            </a:r>
          </a:p>
        </p:txBody>
      </p:sp>
      <p:sp>
        <p:nvSpPr>
          <p:cNvPr id="10" name="Rectangle 9"/>
          <p:cNvSpPr/>
          <p:nvPr/>
        </p:nvSpPr>
        <p:spPr>
          <a:xfrm>
            <a:off x="777240" y="2344782"/>
            <a:ext cx="10634472" cy="46111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344782"/>
            <a:ext cx="82296" cy="46111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344782"/>
            <a:ext cx="10195560" cy="461118"/>
          </a:xfrm>
          <a:prstGeom prst="rect">
            <a:avLst/>
          </a:prstGeom>
          <a:noFill/>
        </p:spPr>
        <p:txBody>
          <a:bodyPr wrap="square" anchor="ctr">
            <a:spAutoFit/>
          </a:bodyPr>
          <a:lstStyle/>
          <a:p>
            <a:pPr algn="l">
              <a:spcAft>
                <a:spcPts val="400"/>
              </a:spcAft>
            </a:pPr>
            <a:r>
              <a:rPr sz="1150" b="0">
                <a:solidFill>
                  <a:srgbClr val="161B26"/>
                </a:solidFill>
                <a:latin typeface="Arial"/>
              </a:rPr>
              <a:t>Point of no return is 4:00, not 7:00. Most learners wait for the physical proximity. Waiting until you feel physically unsafe means you served through the abuse — the threshold is the slur, and it is not negotiable or 'part of the job'.</a:t>
            </a:r>
          </a:p>
        </p:txBody>
      </p:sp>
      <p:sp>
        <p:nvSpPr>
          <p:cNvPr id="13" name="Rectangle 12"/>
          <p:cNvSpPr/>
          <p:nvPr/>
        </p:nvSpPr>
        <p:spPr>
          <a:xfrm>
            <a:off x="777240" y="2906484"/>
            <a:ext cx="10634472" cy="46111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2906484"/>
            <a:ext cx="82296" cy="46111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2906484"/>
            <a:ext cx="10195560" cy="461118"/>
          </a:xfrm>
          <a:prstGeom prst="rect">
            <a:avLst/>
          </a:prstGeom>
          <a:noFill/>
        </p:spPr>
        <p:txBody>
          <a:bodyPr wrap="square" anchor="ctr">
            <a:spAutoFit/>
          </a:bodyPr>
          <a:lstStyle/>
          <a:p>
            <a:pPr algn="l">
              <a:spcAft>
                <a:spcPts val="400"/>
              </a:spcAft>
            </a:pPr>
            <a:r>
              <a:rPr sz="1150" b="0">
                <a:solidFill>
                  <a:srgbClr val="161B26"/>
                </a:solidFill>
                <a:latin typeface="Arial"/>
              </a:rPr>
              <a:t>Warnings must be calm, specific and behavioural: 'Mr Teo, I want to help you with this bill, but I cannot continue if you speak to me that way.' Second: 'If that continues I will need to hand this to my supervisor and end our conversation.' Never sarcastic, never raised.</a:t>
            </a:r>
          </a:p>
        </p:txBody>
      </p:sp>
      <p:sp>
        <p:nvSpPr>
          <p:cNvPr id="16" name="Rectangle 15"/>
          <p:cNvSpPr/>
          <p:nvPr/>
        </p:nvSpPr>
        <p:spPr>
          <a:xfrm>
            <a:off x="777240" y="3468186"/>
            <a:ext cx="10634472" cy="46111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468186"/>
            <a:ext cx="82296" cy="46111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3468186"/>
            <a:ext cx="10195560" cy="461118"/>
          </a:xfrm>
          <a:prstGeom prst="rect">
            <a:avLst/>
          </a:prstGeom>
          <a:noFill/>
        </p:spPr>
        <p:txBody>
          <a:bodyPr wrap="square" anchor="ctr">
            <a:spAutoFit/>
          </a:bodyPr>
          <a:lstStyle/>
          <a:p>
            <a:pPr algn="l">
              <a:spcAft>
                <a:spcPts val="400"/>
              </a:spcAft>
            </a:pPr>
            <a:r>
              <a:rPr sz="1150" b="0">
                <a:solidFill>
                  <a:srgbClr val="161B26"/>
                </a:solidFill>
                <a:latin typeface="Arial"/>
              </a:rPr>
              <a:t>This is HIERARCHICAL escalation — it needs authority, not expertise. A technical roaming dispute would be FUNCTIONAL escalation to a billing specialist. Same customer, same bill, entirely different escalation path.</a:t>
            </a:r>
          </a:p>
        </p:txBody>
      </p:sp>
      <p:sp>
        <p:nvSpPr>
          <p:cNvPr id="19" name="Rectangle 18"/>
          <p:cNvSpPr/>
          <p:nvPr/>
        </p:nvSpPr>
        <p:spPr>
          <a:xfrm>
            <a:off x="777240" y="4029888"/>
            <a:ext cx="10634472" cy="46111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029888"/>
            <a:ext cx="82296" cy="46111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4029888"/>
            <a:ext cx="10195560" cy="461118"/>
          </a:xfrm>
          <a:prstGeom prst="rect">
            <a:avLst/>
          </a:prstGeom>
          <a:noFill/>
        </p:spPr>
        <p:txBody>
          <a:bodyPr wrap="square" anchor="ctr">
            <a:spAutoFit/>
          </a:bodyPr>
          <a:lstStyle/>
          <a:p>
            <a:pPr algn="l">
              <a:spcAft>
                <a:spcPts val="400"/>
              </a:spcAft>
            </a:pPr>
            <a:r>
              <a:rPr sz="1150" b="0">
                <a:solidFill>
                  <a:srgbClr val="161B26"/>
                </a:solidFill>
                <a:latin typeface="Arial"/>
              </a:rPr>
              <a:t>You give your first name or staff ID — that is standard and reasonable. You never give your NRIC or personal details. Deflect: 'my name is X and my staff ID is Y, and my supervisor will give you the complaint reference.'</a:t>
            </a:r>
          </a:p>
        </p:txBody>
      </p:sp>
      <p:sp>
        <p:nvSpPr>
          <p:cNvPr id="22" name="Rectangle 21"/>
          <p:cNvSpPr/>
          <p:nvPr/>
        </p:nvSpPr>
        <p:spPr>
          <a:xfrm>
            <a:off x="777240" y="4591590"/>
            <a:ext cx="10634472" cy="46111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91590"/>
            <a:ext cx="82296" cy="46111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4591590"/>
            <a:ext cx="10195560" cy="461118"/>
          </a:xfrm>
          <a:prstGeom prst="rect">
            <a:avLst/>
          </a:prstGeom>
          <a:noFill/>
        </p:spPr>
        <p:txBody>
          <a:bodyPr wrap="square" anchor="ctr">
            <a:spAutoFit/>
          </a:bodyPr>
          <a:lstStyle/>
          <a:p>
            <a:pPr algn="l">
              <a:spcAft>
                <a:spcPts val="400"/>
              </a:spcAft>
            </a:pPr>
            <a:r>
              <a:rPr sz="1150" b="0">
                <a:solidFill>
                  <a:srgbClr val="161B26"/>
                </a:solidFill>
                <a:latin typeface="Arial"/>
              </a:rPr>
              <a:t>At 7:00, in order: step back to restore distance, keep hands visible and open, do not turn your back, say clearly 'please step back behind the counter', signal or press for the supervisor, and press the duress button if he does not comply. Do not attempt to win the exchange.</a:t>
            </a:r>
          </a:p>
        </p:txBody>
      </p:sp>
      <p:sp>
        <p:nvSpPr>
          <p:cNvPr id="25" name="Rectangle 24"/>
          <p:cNvSpPr/>
          <p:nvPr/>
        </p:nvSpPr>
        <p:spPr>
          <a:xfrm>
            <a:off x="777240" y="5153292"/>
            <a:ext cx="10634472" cy="46111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153292"/>
            <a:ext cx="82296" cy="461118"/>
          </a:xfrm>
          <a:prstGeom prst="rect">
            <a:avLst/>
          </a:prstGeom>
          <a:solidFill>
            <a:srgbClr val="168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51560" y="5153292"/>
            <a:ext cx="10195560" cy="461118"/>
          </a:xfrm>
          <a:prstGeom prst="rect">
            <a:avLst/>
          </a:prstGeom>
          <a:noFill/>
        </p:spPr>
        <p:txBody>
          <a:bodyPr wrap="square" anchor="ctr">
            <a:spAutoFit/>
          </a:bodyPr>
          <a:lstStyle/>
          <a:p>
            <a:pPr algn="l">
              <a:spcAft>
                <a:spcPts val="400"/>
              </a:spcAft>
            </a:pPr>
            <a:r>
              <a:rPr sz="1150" b="0">
                <a:solidFill>
                  <a:srgbClr val="161B26"/>
                </a:solidFill>
                <a:latin typeface="Arial"/>
              </a:rPr>
              <a:t>The report needs date, time, location, the exact words used verbatim, witnesses present, CCTV reference, actions taken and who was notified. Verbatim matters because POHA and any police report turn on what was actually said — paraphrase destroys the evidence.</a:t>
            </a:r>
          </a:p>
        </p:txBody>
      </p:sp>
      <p:sp>
        <p:nvSpPr>
          <p:cNvPr id="28" name="Rectangle 27"/>
          <p:cNvSpPr/>
          <p:nvPr/>
        </p:nvSpPr>
        <p:spPr>
          <a:xfrm>
            <a:off x="777240" y="574243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5742432"/>
            <a:ext cx="10195560" cy="566928"/>
          </a:xfrm>
          <a:prstGeom prst="rect">
            <a:avLst/>
          </a:prstGeom>
          <a:noFill/>
        </p:spPr>
        <p:txBody>
          <a:bodyPr wrap="square" anchor="ctr">
            <a:spAutoFit/>
          </a:bodyPr>
          <a:lstStyle/>
          <a:p>
            <a:pPr algn="l">
              <a:spcAft>
                <a:spcPts val="400"/>
              </a:spcAft>
            </a:pPr>
            <a:r>
              <a:rPr sz="1100" b="1">
                <a:solidFill>
                  <a:srgbClr val="10B981"/>
                </a:solidFill>
                <a:latin typeface="Arial"/>
              </a:rPr>
              <a:t>TEST IT   </a:t>
            </a:r>
            <a:r>
              <a:rPr sz="1150" b="0">
                <a:solidFill>
                  <a:srgbClr val="161B26"/>
                </a:solidFill>
                <a:latin typeface="Arial"/>
              </a:rPr>
              <a:t>You identified 4:00 as the escalation threshold, delivered two calm behavioural warnings, handed over without continuing to serve, and produced an incident report containing the verbatim wording and a CCTV reference.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 DELIVERED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What You Achieved Today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347472"/>
          </a:xfrm>
          <a:prstGeom prst="rect">
            <a:avLst/>
          </a:prstGeom>
          <a:noFill/>
        </p:spPr>
        <p:txBody>
          <a:bodyPr wrap="square" anchor="ctr">
            <a:spAutoFit/>
          </a:bodyPr>
          <a:lstStyle/>
          <a:p>
            <a:pPr algn="l">
              <a:spcAft>
                <a:spcPts val="300"/>
              </a:spcAft>
            </a:pPr>
            <a:r>
              <a:rPr sz="1450" b="1">
                <a:solidFill>
                  <a:srgbClr val="161B26"/>
                </a:solidFill>
                <a:latin typeface="Arial"/>
              </a:rPr>
              <a:t>Understood the service chain</a:t>
            </a:r>
          </a:p>
          <a:p>
            <a:pPr algn="l">
              <a:spcAft>
                <a:spcPts val="300"/>
              </a:spcAft>
            </a:pPr>
            <a:r>
              <a:rPr sz="1050" b="0">
                <a:solidFill>
                  <a:srgbClr val="5B6372"/>
                </a:solidFill>
                <a:latin typeface="Arial"/>
              </a:rPr>
              <a:t>External and internal customers, and why service quality is a chain not a department. (LO1)</a:t>
            </a:r>
          </a:p>
        </p:txBody>
      </p:sp>
      <p:sp>
        <p:nvSpPr>
          <p:cNvPr id="12" name="Rectangle 11"/>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679192"/>
            <a:ext cx="9427464" cy="347472"/>
          </a:xfrm>
          <a:prstGeom prst="rect">
            <a:avLst/>
          </a:prstGeom>
          <a:noFill/>
        </p:spPr>
        <p:txBody>
          <a:bodyPr wrap="square" anchor="ctr">
            <a:spAutoFit/>
          </a:bodyPr>
          <a:lstStyle/>
          <a:p>
            <a:pPr algn="l">
              <a:spcAft>
                <a:spcPts val="300"/>
              </a:spcAft>
            </a:pPr>
            <a:r>
              <a:rPr sz="1450" b="1">
                <a:solidFill>
                  <a:srgbClr val="161B26"/>
                </a:solidFill>
                <a:latin typeface="Arial"/>
              </a:rPr>
              <a:t>Built a service attitude</a:t>
            </a:r>
          </a:p>
          <a:p>
            <a:pPr algn="l">
              <a:spcAft>
                <a:spcPts val="300"/>
              </a:spcAft>
            </a:pPr>
            <a:r>
              <a:rPr sz="1050" b="0">
                <a:solidFill>
                  <a:srgbClr val="5B6372"/>
                </a:solidFill>
                <a:latin typeface="Arial"/>
              </a:rPr>
              <a:t>Appearance, smile, energy, positivity and positive language under pressure. (LO1)</a:t>
            </a:r>
          </a:p>
        </p:txBody>
      </p:sp>
      <p:sp>
        <p:nvSpPr>
          <p:cNvPr id="17" name="Rectangle 16"/>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9427464" cy="347472"/>
          </a:xfrm>
          <a:prstGeom prst="rect">
            <a:avLst/>
          </a:prstGeom>
          <a:noFill/>
        </p:spPr>
        <p:txBody>
          <a:bodyPr wrap="square" anchor="ctr">
            <a:spAutoFit/>
          </a:bodyPr>
          <a:lstStyle/>
          <a:p>
            <a:pPr algn="l">
              <a:spcAft>
                <a:spcPts val="300"/>
              </a:spcAft>
            </a:pPr>
            <a:r>
              <a:rPr sz="1450" b="1">
                <a:solidFill>
                  <a:srgbClr val="161B26"/>
                </a:solidFill>
                <a:latin typeface="Arial"/>
              </a:rPr>
              <a:t>Identified customer needs</a:t>
            </a:r>
          </a:p>
          <a:p>
            <a:pPr algn="l">
              <a:spcAft>
                <a:spcPts val="300"/>
              </a:spcAft>
            </a:pPr>
            <a:r>
              <a:rPr sz="1050" b="0">
                <a:solidFill>
                  <a:srgbClr val="5B6372"/>
                </a:solidFill>
                <a:latin typeface="Arial"/>
              </a:rPr>
              <a:t>Active listening, open questioning, and the four levels of addressing needs. (LO1)</a:t>
            </a:r>
          </a:p>
        </p:txBody>
      </p:sp>
      <p:sp>
        <p:nvSpPr>
          <p:cNvPr id="22" name="Rectangle 21"/>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9427464" cy="347472"/>
          </a:xfrm>
          <a:prstGeom prst="rect">
            <a:avLst/>
          </a:prstGeom>
          <a:noFill/>
        </p:spPr>
        <p:txBody>
          <a:bodyPr wrap="square" anchor="ctr">
            <a:spAutoFit/>
          </a:bodyPr>
          <a:lstStyle/>
          <a:p>
            <a:pPr algn="l">
              <a:spcAft>
                <a:spcPts val="300"/>
              </a:spcAft>
            </a:pPr>
            <a:r>
              <a:rPr sz="1450" b="1">
                <a:solidFill>
                  <a:srgbClr val="161B26"/>
                </a:solidFill>
                <a:latin typeface="Arial"/>
              </a:rPr>
              <a:t>Served across every channel</a:t>
            </a:r>
          </a:p>
          <a:p>
            <a:pPr algn="l">
              <a:spcAft>
                <a:spcPts val="300"/>
              </a:spcAft>
            </a:pPr>
            <a:r>
              <a:rPr sz="1050" b="0">
                <a:solidFill>
                  <a:srgbClr val="5B6372"/>
                </a:solidFill>
                <a:latin typeface="Arial"/>
              </a:rPr>
              <a:t>In person, on the phone, and in writing — matching channel to issue. (LO1)</a:t>
            </a:r>
          </a:p>
        </p:txBody>
      </p:sp>
      <p:sp>
        <p:nvSpPr>
          <p:cNvPr id="27" name="Rectangle 26"/>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9427464" cy="347472"/>
          </a:xfrm>
          <a:prstGeom prst="rect">
            <a:avLst/>
          </a:prstGeom>
          <a:noFill/>
        </p:spPr>
        <p:txBody>
          <a:bodyPr wrap="square" anchor="ctr">
            <a:spAutoFit/>
          </a:bodyPr>
          <a:lstStyle/>
          <a:p>
            <a:pPr algn="l">
              <a:spcAft>
                <a:spcPts val="300"/>
              </a:spcAft>
            </a:pPr>
            <a:r>
              <a:rPr sz="1450" b="1">
                <a:solidFill>
                  <a:srgbClr val="161B26"/>
                </a:solidFill>
                <a:latin typeface="Arial"/>
              </a:rPr>
              <a:t>Turned feedback into improvement</a:t>
            </a:r>
          </a:p>
          <a:p>
            <a:pPr algn="l">
              <a:spcAft>
                <a:spcPts val="300"/>
              </a:spcAft>
            </a:pPr>
            <a:r>
              <a:rPr sz="1050" b="0">
                <a:solidFill>
                  <a:srgbClr val="5B6372"/>
                </a:solidFill>
                <a:latin typeface="Arial"/>
              </a:rPr>
              <a:t>Feedback channels, closing the loop, and root cause vs symptom. (LO2)</a:t>
            </a:r>
          </a:p>
        </p:txBody>
      </p:sp>
      <p:sp>
        <p:nvSpPr>
          <p:cNvPr id="32" name="Rectangle 31"/>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751576"/>
            <a:ext cx="9427464" cy="347472"/>
          </a:xfrm>
          <a:prstGeom prst="rect">
            <a:avLst/>
          </a:prstGeom>
          <a:noFill/>
        </p:spPr>
        <p:txBody>
          <a:bodyPr wrap="square" anchor="ctr">
            <a:spAutoFit/>
          </a:bodyPr>
          <a:lstStyle/>
          <a:p>
            <a:pPr algn="l">
              <a:spcAft>
                <a:spcPts val="300"/>
              </a:spcAft>
            </a:pPr>
            <a:r>
              <a:rPr sz="1450" b="1">
                <a:solidFill>
                  <a:srgbClr val="161B26"/>
                </a:solidFill>
                <a:latin typeface="Arial"/>
              </a:rPr>
              <a:t>Recovered and escalated safely</a:t>
            </a:r>
          </a:p>
          <a:p>
            <a:pPr algn="l">
              <a:spcAft>
                <a:spcPts val="300"/>
              </a:spcAft>
            </a:pPr>
            <a:r>
              <a:rPr sz="1050" b="0">
                <a:solidFill>
                  <a:srgbClr val="5B6372"/>
                </a:solidFill>
                <a:latin typeface="Arial"/>
              </a:rPr>
              <a:t>HEARD and LAST, perceived justice, the three-strike rule and POHA. (LO2)</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THE ONE THING TO REMEMBER</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absence of complaints is not evidence of satisfaction.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Go and look. Ask your customers, ask your frontline, and close the loop where it matters.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advClick="1">
    <p:push/>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Email</a:t>
            </a:r>
          </a:p>
          <a:p>
            <a:pPr algn="l">
              <a:spcAft>
                <a:spcPts val="300"/>
              </a:spcAft>
            </a:pPr>
            <a:r>
              <a:rPr sz="1100" b="0">
                <a:solidFill>
                  <a:srgbClr val="5B6372"/>
                </a:solidFill>
                <a:latin typeface="Arial"/>
              </a:rPr>
              <a:t>enquiry@tertiaryinfotech.com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Telephone</a:t>
            </a:r>
          </a:p>
          <a:p>
            <a:pPr algn="l">
              <a:spcAft>
                <a:spcPts val="300"/>
              </a:spcAft>
            </a:pPr>
            <a:r>
              <a:rPr sz="1100" b="0">
                <a:solidFill>
                  <a:srgbClr val="5B6372"/>
                </a:solidFill>
                <a:latin typeface="Arial"/>
              </a:rPr>
              <a:t>+65 6100 0613</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Website</a:t>
            </a:r>
          </a:p>
          <a:p>
            <a:pPr algn="l">
              <a:spcAft>
                <a:spcPts val="300"/>
              </a:spcAft>
            </a:pPr>
            <a:r>
              <a:rPr sz="1100" b="0">
                <a:solidFill>
                  <a:srgbClr val="5B6372"/>
                </a:solidFill>
                <a:latin typeface="Arial"/>
              </a:rPr>
              <a:t>www.tertiarycourses.com.sg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LMS / TMS portal</a:t>
            </a:r>
          </a:p>
          <a:p>
            <a:pPr algn="l">
              <a:spcAft>
                <a:spcPts val="300"/>
              </a:spcAft>
            </a:pPr>
            <a:r>
              <a:rPr sz="1100" b="0">
                <a:solidFill>
                  <a:srgbClr val="5B6372"/>
                </a:solidFill>
                <a:latin typeface="Arial"/>
              </a:rPr>
              <a:t>lms-tms.tertiaryinfotech.com — courseware, assessment and certificates.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During the course</a:t>
            </a:r>
          </a:p>
          <a:p>
            <a:pPr algn="l">
              <a:spcAft>
                <a:spcPts val="300"/>
              </a:spcAft>
            </a:pPr>
            <a:r>
              <a:rPr sz="1100" b="0">
                <a:solidFill>
                  <a:srgbClr val="5B6372"/>
                </a:solidFill>
                <a:latin typeface="Arial"/>
              </a:rPr>
              <a:t>Ask your trainer at any point — including during the activities.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After the course</a:t>
            </a:r>
          </a:p>
          <a:p>
            <a:pPr algn="l">
              <a:spcAft>
                <a:spcPts val="300"/>
              </a:spcAft>
            </a:pPr>
            <a:r>
              <a:rPr sz="1100" b="0">
                <a:solidFill>
                  <a:srgbClr val="5B6372"/>
                </a:solidFill>
                <a:latin typeface="Arial"/>
              </a:rPr>
              <a:t>Contact us any time; we support learners after the class ends.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ASSESSMENT · REMINDER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1216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6959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695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Oral Questioning (OQ) — 30 min</a:t>
            </a:r>
          </a:p>
          <a:p>
            <a:pPr algn="l">
              <a:spcAft>
                <a:spcPts val="300"/>
              </a:spcAft>
            </a:pPr>
            <a:r>
              <a:rPr sz="1100" b="0">
                <a:solidFill>
                  <a:srgbClr val="5B6372"/>
                </a:solidFill>
                <a:latin typeface="Arial"/>
              </a:rPr>
              <a:t>3 open-ended questions covering K1, K2 and K3. Individual, open book.</a:t>
            </a:r>
          </a:p>
        </p:txBody>
      </p:sp>
      <p:sp>
        <p:nvSpPr>
          <p:cNvPr id="12" name="Rectangle 11"/>
          <p:cNvSpPr/>
          <p:nvPr/>
        </p:nvSpPr>
        <p:spPr>
          <a:xfrm>
            <a:off x="6231636" y="1783080"/>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1216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06959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0695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Role Play (RP) — 30 min</a:t>
            </a:r>
          </a:p>
          <a:p>
            <a:pPr algn="l">
              <a:spcAft>
                <a:spcPts val="300"/>
              </a:spcAft>
            </a:pPr>
            <a:r>
              <a:rPr sz="1100" b="0">
                <a:solidFill>
                  <a:srgbClr val="5B6372"/>
                </a:solidFill>
                <a:latin typeface="Arial"/>
              </a:rPr>
              <a:t>2 simulated customer interactions covering A1, A2 and A3. Individual, open book.</a:t>
            </a:r>
          </a:p>
        </p:txBody>
      </p:sp>
      <p:sp>
        <p:nvSpPr>
          <p:cNvPr id="17" name="Rectangle 16"/>
          <p:cNvSpPr/>
          <p:nvPr/>
        </p:nvSpPr>
        <p:spPr>
          <a:xfrm>
            <a:off x="777240" y="3142488"/>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142488"/>
            <a:ext cx="91440" cy="11216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42900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42900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70504"/>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Open book</a:t>
            </a:r>
          </a:p>
          <a:p>
            <a:pPr algn="l">
              <a:spcAft>
                <a:spcPts val="300"/>
              </a:spcAft>
            </a:pPr>
            <a:r>
              <a:rPr sz="1100" b="0">
                <a:solidFill>
                  <a:srgbClr val="5B6372"/>
                </a:solidFill>
                <a:latin typeface="Arial"/>
              </a:rPr>
              <a:t>Slides, Learner Guide and approved materials only.</a:t>
            </a:r>
          </a:p>
        </p:txBody>
      </p:sp>
      <p:sp>
        <p:nvSpPr>
          <p:cNvPr id="22" name="Rectangle 21"/>
          <p:cNvSpPr/>
          <p:nvPr/>
        </p:nvSpPr>
        <p:spPr>
          <a:xfrm>
            <a:off x="6231636" y="3142488"/>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142488"/>
            <a:ext cx="91440" cy="11216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42900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42900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270504"/>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Both must be Competent</a:t>
            </a:r>
          </a:p>
          <a:p>
            <a:pPr algn="l">
              <a:spcAft>
                <a:spcPts val="300"/>
              </a:spcAft>
            </a:pPr>
            <a:r>
              <a:rPr sz="1100" b="0">
                <a:solidFill>
                  <a:srgbClr val="5B6372"/>
                </a:solidFill>
                <a:latin typeface="Arial"/>
              </a:rPr>
              <a:t>You must be assessed Competent in BOTH instruments to pass.</a:t>
            </a:r>
          </a:p>
        </p:txBody>
      </p:sp>
      <p:sp>
        <p:nvSpPr>
          <p:cNvPr id="27" name="Rectangle 26"/>
          <p:cNvSpPr/>
          <p:nvPr/>
        </p:nvSpPr>
        <p:spPr>
          <a:xfrm>
            <a:off x="777240" y="4501896"/>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501896"/>
            <a:ext cx="91440" cy="11216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78840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7884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629912"/>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75% attendance required</a:t>
            </a:r>
          </a:p>
          <a:p>
            <a:pPr algn="l">
              <a:spcAft>
                <a:spcPts val="300"/>
              </a:spcAft>
            </a:pPr>
            <a:r>
              <a:rPr sz="1100" b="0">
                <a:solidFill>
                  <a:srgbClr val="5B6372"/>
                </a:solidFill>
                <a:latin typeface="Arial"/>
              </a:rPr>
              <a:t>Attendance and a Competent result are both needed for funding.</a:t>
            </a:r>
          </a:p>
        </p:txBody>
      </p:sp>
      <p:sp>
        <p:nvSpPr>
          <p:cNvPr id="32" name="Rectangle 31"/>
          <p:cNvSpPr/>
          <p:nvPr/>
        </p:nvSpPr>
        <p:spPr>
          <a:xfrm>
            <a:off x="6231636" y="4501896"/>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501896"/>
            <a:ext cx="91440" cy="11216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78840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7884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629912"/>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Appeals available</a:t>
            </a:r>
          </a:p>
          <a:p>
            <a:pPr algn="l">
              <a:spcAft>
                <a:spcPts val="300"/>
              </a:spcAft>
            </a:pPr>
            <a:r>
              <a:rPr sz="1100" b="0">
                <a:solidFill>
                  <a:srgbClr val="5B6372"/>
                </a:solidFill>
                <a:latin typeface="Arial"/>
              </a:rPr>
              <a:t>You may appeal if you disagree with the assessment outcome.</a:t>
            </a:r>
          </a:p>
        </p:txBody>
      </p:sp>
      <p:sp>
        <p:nvSpPr>
          <p:cNvPr id="37" name="Rectangle 36"/>
          <p:cNvSpPr/>
          <p:nvPr/>
        </p:nvSpPr>
        <p:spPr>
          <a:xfrm>
            <a:off x="777240" y="5779008"/>
            <a:ext cx="10634472"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779008"/>
            <a:ext cx="10195560" cy="603504"/>
          </a:xfrm>
          <a:prstGeom prst="rect">
            <a:avLst/>
          </a:prstGeom>
          <a:noFill/>
        </p:spPr>
        <p:txBody>
          <a:bodyPr wrap="square" anchor="ctr">
            <a:spAutoFit/>
          </a:bodyPr>
          <a:lstStyle/>
          <a:p>
            <a:pPr algn="l">
              <a:spcAft>
                <a:spcPts val="400"/>
              </a:spcAft>
            </a:pPr>
            <a:r>
              <a:rPr sz="1250" b="0">
                <a:solidFill>
                  <a:srgbClr val="161B26"/>
                </a:solidFill>
                <a:latin typeface="Arial"/>
              </a:rPr>
              <a:t>Oral Clarification of up to 10 minutes may be conducted 1:1 to close minor performance gaps — this is not counted in the assessment duration.</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TRAQOM Survey</a:t>
            </a:r>
          </a:p>
        </p:txBody>
      </p:sp>
      <p:sp>
        <p:nvSpPr>
          <p:cNvPr id="12" name="TextBox 11"/>
          <p:cNvSpPr txBox="1"/>
          <p:nvPr/>
        </p:nvSpPr>
        <p:spPr>
          <a:xfrm>
            <a:off x="2618841"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a:t>
            </a:r>
          </a:p>
        </p:txBody>
      </p:sp>
      <p:sp>
        <p:nvSpPr>
          <p:cNvPr id="18" name="TextBox 17"/>
          <p:cNvSpPr txBox="1"/>
          <p:nvPr/>
        </p:nvSpPr>
        <p:spPr>
          <a:xfrm>
            <a:off x="4807914"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Assessment (OQ then RP)</a:t>
            </a:r>
          </a:p>
        </p:txBody>
      </p:sp>
      <p:sp>
        <p:nvSpPr>
          <p:cNvPr id="24" name="TextBox 23"/>
          <p:cNvSpPr txBox="1"/>
          <p:nvPr/>
        </p:nvSpPr>
        <p:spPr>
          <a:xfrm>
            <a:off x="6996987"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Submit on the LMS</a:t>
            </a:r>
          </a:p>
        </p:txBody>
      </p:sp>
      <p:sp>
        <p:nvSpPr>
          <p:cNvPr id="30" name="TextBox 29"/>
          <p:cNvSpPr txBox="1"/>
          <p:nvPr/>
        </p:nvSpPr>
        <p:spPr>
          <a:xfrm>
            <a:off x="9186060"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fast"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1216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6959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695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Three scans, every course day</a:t>
            </a:r>
          </a:p>
          <a:p>
            <a:pPr algn="l">
              <a:spcAft>
                <a:spcPts val="300"/>
              </a:spcAft>
            </a:pPr>
            <a:r>
              <a:rPr sz="1100" b="0">
                <a:solidFill>
                  <a:srgbClr val="5B6372"/>
                </a:solidFill>
                <a:latin typeface="Arial"/>
              </a:rPr>
              <a:t>AM at the start, PM after lunch, and again before the assessment.</a:t>
            </a:r>
          </a:p>
        </p:txBody>
      </p:sp>
      <p:sp>
        <p:nvSpPr>
          <p:cNvPr id="12" name="Rectangle 11"/>
          <p:cNvSpPr/>
          <p:nvPr/>
        </p:nvSpPr>
        <p:spPr>
          <a:xfrm>
            <a:off x="6231636" y="1783080"/>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1216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06959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0695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The trainer shows the QR</a:t>
            </a:r>
          </a:p>
          <a:p>
            <a:pPr algn="l">
              <a:spcAft>
                <a:spcPts val="300"/>
              </a:spcAft>
            </a:pPr>
            <a:r>
              <a:rPr sz="1100" b="0">
                <a:solidFill>
                  <a:srgbClr val="5B6372"/>
                </a:solidFill>
                <a:latin typeface="Arial"/>
              </a:rPr>
              <a:t>Generated live from the SSG TRAQOM portal — it changes each session.</a:t>
            </a:r>
          </a:p>
        </p:txBody>
      </p:sp>
      <p:sp>
        <p:nvSpPr>
          <p:cNvPr id="17" name="Rectangle 16"/>
          <p:cNvSpPr/>
          <p:nvPr/>
        </p:nvSpPr>
        <p:spPr>
          <a:xfrm>
            <a:off x="777240" y="3142488"/>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142488"/>
            <a:ext cx="91440" cy="11216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42900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42900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70504"/>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Scan with your phone camera</a:t>
            </a:r>
          </a:p>
          <a:p>
            <a:pPr algn="l">
              <a:spcAft>
                <a:spcPts val="300"/>
              </a:spcAft>
            </a:pPr>
            <a:r>
              <a:rPr sz="1100" b="0">
                <a:solidFill>
                  <a:srgbClr val="5B6372"/>
                </a:solidFill>
                <a:latin typeface="Arial"/>
              </a:rPr>
              <a:t>Open the camera, point at the QR, tap the link and submit.</a:t>
            </a:r>
          </a:p>
        </p:txBody>
      </p:sp>
      <p:sp>
        <p:nvSpPr>
          <p:cNvPr id="22" name="Rectangle 21"/>
          <p:cNvSpPr/>
          <p:nvPr/>
        </p:nvSpPr>
        <p:spPr>
          <a:xfrm>
            <a:off x="6231636" y="3142488"/>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142488"/>
            <a:ext cx="91440" cy="11216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42900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42900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270504"/>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Use your registered details</a:t>
            </a:r>
          </a:p>
          <a:p>
            <a:pPr algn="l">
              <a:spcAft>
                <a:spcPts val="300"/>
              </a:spcAft>
            </a:pPr>
            <a:r>
              <a:rPr sz="1100" b="0">
                <a:solidFill>
                  <a:srgbClr val="5B6372"/>
                </a:solidFill>
                <a:latin typeface="Arial"/>
              </a:rPr>
              <a:t>The NRIC/FIN you enrolled with, or the record will not match.</a:t>
            </a:r>
          </a:p>
        </p:txBody>
      </p:sp>
      <p:sp>
        <p:nvSpPr>
          <p:cNvPr id="27" name="Rectangle 26"/>
          <p:cNvSpPr/>
          <p:nvPr/>
        </p:nvSpPr>
        <p:spPr>
          <a:xfrm>
            <a:off x="777240" y="4501896"/>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501896"/>
            <a:ext cx="91440" cy="11216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78840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7884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629912"/>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75% attendance minimum</a:t>
            </a:r>
          </a:p>
          <a:p>
            <a:pPr algn="l">
              <a:spcAft>
                <a:spcPts val="300"/>
              </a:spcAft>
            </a:pPr>
            <a:r>
              <a:rPr sz="1100" b="0">
                <a:solidFill>
                  <a:srgbClr val="5B6372"/>
                </a:solidFill>
                <a:latin typeface="Arial"/>
              </a:rPr>
              <a:t>Below this you are not eligible for the assessment or for funding.</a:t>
            </a:r>
          </a:p>
        </p:txBody>
      </p:sp>
      <p:sp>
        <p:nvSpPr>
          <p:cNvPr id="32" name="Rectangle 31"/>
          <p:cNvSpPr/>
          <p:nvPr/>
        </p:nvSpPr>
        <p:spPr>
          <a:xfrm>
            <a:off x="6231636" y="4501896"/>
            <a:ext cx="5180076" cy="1121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501896"/>
            <a:ext cx="91440" cy="11216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78840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7884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629912"/>
            <a:ext cx="3973068" cy="938784"/>
          </a:xfrm>
          <a:prstGeom prst="rect">
            <a:avLst/>
          </a:prstGeom>
          <a:noFill/>
        </p:spPr>
        <p:txBody>
          <a:bodyPr wrap="square" anchor="ctr">
            <a:spAutoFit/>
          </a:bodyPr>
          <a:lstStyle/>
          <a:p>
            <a:pPr algn="l">
              <a:spcAft>
                <a:spcPts val="300"/>
              </a:spcAft>
            </a:pPr>
            <a:r>
              <a:rPr sz="1500" b="1">
                <a:solidFill>
                  <a:srgbClr val="161B26"/>
                </a:solidFill>
                <a:latin typeface="Arial"/>
              </a:rPr>
              <a:t>Tell the trainer immediately</a:t>
            </a:r>
          </a:p>
          <a:p>
            <a:pPr algn="l">
              <a:spcAft>
                <a:spcPts val="300"/>
              </a:spcAft>
            </a:pPr>
            <a:r>
              <a:rPr sz="1100" b="0">
                <a:solidFill>
                  <a:srgbClr val="5B6372"/>
                </a:solidFill>
                <a:latin typeface="Arial"/>
              </a:rPr>
              <a:t>If your scan fails or you arrive late — it cannot be fixed after the day.</a:t>
            </a:r>
          </a:p>
        </p:txBody>
      </p:sp>
      <p:sp>
        <p:nvSpPr>
          <p:cNvPr id="37" name="Rectangle 36"/>
          <p:cNvSpPr/>
          <p:nvPr/>
        </p:nvSpPr>
        <p:spPr>
          <a:xfrm>
            <a:off x="777240" y="5779008"/>
            <a:ext cx="10634472"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779008"/>
            <a:ext cx="10195560" cy="603504"/>
          </a:xfrm>
          <a:prstGeom prst="rect">
            <a:avLst/>
          </a:prstGeom>
          <a:noFill/>
        </p:spPr>
        <p:txBody>
          <a:bodyPr wrap="square" anchor="ctr">
            <a:spAutoFit/>
          </a:bodyPr>
          <a:lstStyle/>
          <a:p>
            <a:pPr algn="l">
              <a:spcAft>
                <a:spcPts val="400"/>
              </a:spcAft>
            </a:pPr>
            <a:r>
              <a:rPr sz="1250" b="0">
                <a:solidFill>
                  <a:srgbClr val="161B26"/>
                </a:solidFill>
                <a:latin typeface="Arial"/>
              </a:rPr>
              <a:t>Digital attendance is a mandatory SSG funding requirement — it is not the same thing as the TRAQOM feedback survey.</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SEE YOU AT THE COUNTER</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collect customer feedback, read what it actually says, and turn it into service that keeps customers.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Improve Your Business with Excellent Customer Service  ·  TGS-2025056191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advClick="1">
    <p:push/>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